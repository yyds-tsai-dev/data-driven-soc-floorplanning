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Data-Driven SoC Floorplanning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6606A"/>
                </a:solidFill>
              </a:defRPr>
            </a:pPr>
            <a:r>
              <a:t>ICCAD 2026 FloorSet Problem C | Physical Design Automation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2100">
                <a:solidFill>
                  <a:srgbClr val="1C2128"/>
                </a:solidFill>
                <a:latin typeface="Aptos"/>
              </a:defRPr>
            </a:pPr>
            <a:r>
              <a:t>Architecture v5 solver for contest-style SoC floorplanning</a:t>
            </a:r>
          </a:p>
          <a:p>
            <a:pPr marL="280000" indent="-180000">
              <a:spcAft>
                <a:spcPts val="800"/>
              </a:spcAft>
              <a:defRPr sz="2100">
                <a:solidFill>
                  <a:srgbClr val="1C2128"/>
                </a:solidFill>
                <a:latin typeface="Aptos"/>
              </a:defRPr>
            </a:pPr>
            <a:r>
              <a:t>Anchor-GNN guidance as geometric prior</a:t>
            </a:r>
          </a:p>
          <a:p>
            <a:pPr marL="280000" indent="-180000">
              <a:spcAft>
                <a:spcPts val="800"/>
              </a:spcAft>
              <a:defRPr sz="2100">
                <a:solidFill>
                  <a:srgbClr val="1C2128"/>
                </a:solidFill>
                <a:latin typeface="Aptos"/>
              </a:defRPr>
            </a:pPr>
            <a:r>
              <a:t>Deterministic decoder, repair, diagnostics, and v10 ranking</a:t>
            </a:r>
          </a:p>
          <a:p>
            <a:pPr marL="280000" indent="-180000">
              <a:spcAft>
                <a:spcPts val="800"/>
              </a:spcAft>
              <a:defRPr sz="2100">
                <a:solidFill>
                  <a:srgbClr val="1C2128"/>
                </a:solidFill>
                <a:latin typeface="Aptos"/>
              </a:defRPr>
            </a:pPr>
            <a:r>
              <a:t>Promotion by full-validation no-runtime evidence with runtime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Problem and Scoring Pressure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Input: blocks, target areas, b2b/p2b connectivity, pins, and constraints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Output: one (x, y, width, height) rectangle for every block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Hard constraints: no overlap, area tolerance, fixed-shape, preplaced geometry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Soft constraints: boundary, grouping connectivity, and MIB shape consistency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v10 case weights grow approximately as exp(n/12), so large and dense cases dominate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Core Design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Learned priors should guide placement, not replace the floorplanner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Anchor-GNN predicts geometry, priority, aspect ratio, and pairwise orientation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Production Solver Path remains deterministic and legality-aware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Encoder experiments do not change decoder, repair, or ranking contracts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Architecture decisions are promoted by total_score_no_runtime, then checked by runtime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57800"/>
            <a:ext cx="10332720" cy="731520"/>
          </a:xfrm>
          <a:prstGeom prst="roundRect">
            <a:avLst/>
          </a:prstGeom>
          <a:solidFill>
            <a:srgbClr val="E6F4F9"/>
          </a:solidFill>
          <a:ln>
            <a:solidFill>
              <a:srgbClr val="00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073A0"/>
                </a:solidFill>
              </a:defRPr>
            </a:pPr>
            <a:r>
              <a:t>ML prior + physical-design legality + evaluator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Architecture Evolution: What Changed and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842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54880"/>
                <a:gridCol w="4617720"/>
              </a:tblGrid>
              <a:tr h="8763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Main attempt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Reason for change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arch-v1/v2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Initial learned path, wrappers, hetero graph, relative-order decoder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GNN guidance still needed deterministic repair and stable solver contracts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arch-v3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Pairwise heads, training/checkpoint experiments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Validation loss was not enough; evaluator evidence became promotion signal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arch-v4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No-runtime score and runtime diagnostics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Local runtime-aware score could distort architecture tuning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v5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Graph Transformer and selectable encoder contract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Richer constraint context without changing downstream solver path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v10 branch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Proxy-first ranking, conditional budget, narrow grouping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Soft-first and broad knobs regressed quality or runtime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Architecture v5 Production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520440" cy="566928"/>
          </a:xfrm>
          <a:prstGeom prst="roundRect">
            <a:avLst/>
          </a:prstGeom>
          <a:solidFill>
            <a:srgbClr val="EEF6F9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Evaluator tensors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234440"/>
            <a:ext cx="3520440" cy="566928"/>
          </a:xfrm>
          <a:prstGeom prst="roundRect">
            <a:avLst/>
          </a:prstGeom>
          <a:solidFill>
            <a:srgbClr val="F0F7F1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parse_instance()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34440"/>
            <a:ext cx="3520440" cy="566928"/>
          </a:xfrm>
          <a:prstGeom prst="roundRect">
            <a:avLst/>
          </a:prstGeom>
          <a:solidFill>
            <a:srgbClr val="EEF6F9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Instance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93976"/>
            <a:ext cx="3520440" cy="566928"/>
          </a:xfrm>
          <a:prstGeom prst="roundRect">
            <a:avLst/>
          </a:prstGeom>
          <a:solidFill>
            <a:srgbClr val="F0F7F1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_try_anchor_guidance()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93976"/>
            <a:ext cx="3520440" cy="566928"/>
          </a:xfrm>
          <a:prstGeom prst="roundRect">
            <a:avLst/>
          </a:prstGeom>
          <a:solidFill>
            <a:srgbClr val="EEF6F9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AnchorGuidance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093976"/>
            <a:ext cx="3520440" cy="566928"/>
          </a:xfrm>
          <a:prstGeom prst="roundRect">
            <a:avLst/>
          </a:prstGeom>
          <a:solidFill>
            <a:srgbClr val="F0F7F1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candidate specs +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53512"/>
            <a:ext cx="3520440" cy="566928"/>
          </a:xfrm>
          <a:prstGeom prst="roundRect">
            <a:avLst/>
          </a:prstGeom>
          <a:solidFill>
            <a:srgbClr val="EEF6F9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relative_order / opt-in beam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953512"/>
            <a:ext cx="3520440" cy="566928"/>
          </a:xfrm>
          <a:prstGeom prst="roundRect">
            <a:avLst/>
          </a:prstGeom>
          <a:solidFill>
            <a:srgbClr val="F0F7F1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repair_placement()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953512"/>
            <a:ext cx="3520440" cy="566928"/>
          </a:xfrm>
          <a:prstGeom prst="roundRect">
            <a:avLst/>
          </a:prstGeom>
          <a:solidFill>
            <a:srgbClr val="EEF6F9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placement_metrics()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13048"/>
            <a:ext cx="3520440" cy="566928"/>
          </a:xfrm>
          <a:prstGeom prst="roundRect">
            <a:avLst/>
          </a:prstGeom>
          <a:solidFill>
            <a:srgbClr val="F0F7F1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v10_proxy_rank()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813048"/>
            <a:ext cx="3520440" cy="566928"/>
          </a:xfrm>
          <a:prstGeom prst="roundRect">
            <a:avLst/>
          </a:prstGeom>
          <a:solidFill>
            <a:srgbClr val="EEF6F9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1C2128"/>
                </a:solidFill>
              </a:defRPr>
            </a:pPr>
            <a:r>
              <a:t>best Placement -&gt; evaluator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3A0"/>
                </a:solidFill>
              </a:defRPr>
            </a:pPr>
            <a:r>
              <a:t>Stable contracts: Instance and Placement move through every stage.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Selectable Anchor-GNN Encoder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MPNN: block features plus weighted block-to-block edges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Graph Transformer: block graph plus pin, cluster, MIB, and boundary context edges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Local HGT: typed block, pin, cluster, MIB, and boundary nodes with relation-specific attention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All encoders emit the same heads: anchor, priority, log_aspect, pair_logits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Runtime adapter converts shared heads into AnchorGuidance(rect_priors, priority, log_aspect, pairwise_axis)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Constraint-Aware Decoding and Repair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relative_order.construct_relative_order_placement() is the main constructive decoder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Decoder uses anchor priors, connectivity, constraint statistics, and profile-specific ordering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pairwise_axis biases ambiguous horizontal/vertical pair relations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Narrow grouping pair bias applies only to ambiguous same-cluster pairs under pressure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Repair fixes hard geometry first, then boundary, grouping, and MIB soft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V10 Ranking and Evidence-Gated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10698480" cy="685800"/>
          </a:xfrm>
          <a:prstGeom prst="roundRect">
            <a:avLst/>
          </a:prstGeom>
          <a:solidFill>
            <a:srgbClr val="EEF6F9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C2128"/>
                </a:solidFill>
              </a:defRPr>
            </a:pPr>
            <a:r>
              <a:t>hard legality 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13432"/>
            <a:ext cx="10698480" cy="685800"/>
          </a:xfrm>
          <a:prstGeom prst="roundRect">
            <a:avLst/>
          </a:prstGeom>
          <a:solidFill>
            <a:srgbClr val="F0F7F1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C2128"/>
                </a:solidFill>
              </a:defRPr>
            </a:pPr>
            <a:r>
              <a:t>v10 no-runtime proxy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63824"/>
            <a:ext cx="10698480" cy="685800"/>
          </a:xfrm>
          <a:prstGeom prst="roundRect">
            <a:avLst/>
          </a:prstGeom>
          <a:solidFill>
            <a:srgbClr val="EEF6F9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C2128"/>
                </a:solidFill>
              </a:defRPr>
            </a:pPr>
            <a:r>
              <a:t>soft-constraint 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14216"/>
            <a:ext cx="10698480" cy="685800"/>
          </a:xfrm>
          <a:prstGeom prst="roundRect">
            <a:avLst/>
          </a:prstGeom>
          <a:solidFill>
            <a:srgbClr val="F0F7F1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C2128"/>
                </a:solidFill>
              </a:defRPr>
            </a:pPr>
            <a:r>
              <a:t>HPWL / bbox quality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1700">
                <a:solidFill>
                  <a:srgbClr val="1C2128"/>
                </a:solidFill>
                <a:latin typeface="Aptos"/>
              </a:defRPr>
            </a:pPr>
            <a:r>
              <a:t>Risk features: score_share, constraint_density, net_density</a:t>
            </a:r>
          </a:p>
          <a:p>
            <a:pPr marL="280000" indent="-180000">
              <a:spcAft>
                <a:spcPts val="800"/>
              </a:spcAft>
              <a:defRPr sz="1700">
                <a:solidFill>
                  <a:srgbClr val="1C2128"/>
                </a:solidFill>
                <a:latin typeface="Aptos"/>
              </a:defRPr>
            </a:pPr>
            <a:r>
              <a:t>Budget tiers: NONE, LIGHT, MEDIUM, HEAVY</a:t>
            </a:r>
          </a:p>
          <a:p>
            <a:pPr marL="280000" indent="-180000">
              <a:spcAft>
                <a:spcPts val="800"/>
              </a:spcAft>
              <a:defRPr sz="1700">
                <a:solidFill>
                  <a:srgbClr val="1C2128"/>
                </a:solidFill>
                <a:latin typeface="Aptos"/>
              </a:defRPr>
            </a:pPr>
            <a:r>
              <a:t>Extra candidates, soft repair, and quality portfolio pass through the budget layer</a:t>
            </a:r>
          </a:p>
          <a:p>
            <a:pPr marL="280000" indent="-180000">
              <a:spcAft>
                <a:spcPts val="800"/>
              </a:spcAft>
              <a:defRPr sz="1700">
                <a:solidFill>
                  <a:srgbClr val="1C2128"/>
                </a:solidFill>
                <a:latin typeface="Aptos"/>
              </a:defRPr>
            </a:pPr>
            <a:r>
              <a:t>Conditional runtime budget stops only extra work after rejected attempts or elapsed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Training and Checkpoint Promotion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Dataset samples and fp_sol are parsed into Instance objects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Pseudo-target logic separates clean, dirty, and repaired targets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Shared heads are trained with anchor, aspect, priority, and pairwise relation losses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Dirty samples are weighted so soft-violating golden answers do not become constraint oracles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Promotion priority: total_score_no_runtime -&gt; tail no-runtime -&gt; soft violations -&gt; avg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Current Evaluation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02870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43000"/>
                <a:gridCol w="1097280"/>
                <a:gridCol w="1051560"/>
                <a:gridCol w="1828800"/>
                <a:gridCol w="2240280"/>
              </a:tblGrid>
              <a:tr h="8763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No-runtime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Feasible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Avg / P90 / Max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Merge-base baseline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2.2184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2.7762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100/100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1.25 / 2.27 / 7.01s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Phase 1 v10 proxy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2.1634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2.7471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100/100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1.24 / 2.12 / 7.42s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keep default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Phase 1 + narrow grouping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2.1538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2.6993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100/100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1.23 / 2.24 / 6.58s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promote default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Phase 1 + soft repair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2.1446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2.8314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100/100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1.40 / 2.46 / 9.64s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opt-in only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Soft repair + conditional budget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2.1670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2.7207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100/100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1.22 / 2.56 / 5.70s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runtime useful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Takeaways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Learned geometry is a prior; deterministic solver logic preserves legality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Instance and Placement are stable contracts across decoder, repair, diagnostics, and ranking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Selectable encoders are compared through the same AnchorGuidance interface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v10 changes are promoted only when full-validation evidence and runtime gates agree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Next: tighter soft-repair gates and quality-first HGT retraining with evaluator-backed promotion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Backup: Prior Attempts and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842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54880"/>
                <a:gridCol w="4617720"/>
              </a:tblGrid>
              <a:tr h="75111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Attempt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Observed result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 marL="54864" marR="54864" marT="27432" marB="27432">
                    <a:solidFill>
                      <a:srgbClr val="0073A0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Large-case matrix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No-runtime tied default at 1.9560; tail deltas were zero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opt-in 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No-checkpoint mode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Feasible but much worse no-runtime: 4.6289 vs 2.0326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repair diagnostic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Quality portfolio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HPWL headroom but runtime-aware and later no-runtime regressions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opt-in 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V10 soft repair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Small no-runtime gain but runtime tail risk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opt-in with budget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Hard runtime clamp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Reduced tail runtime but over-clamped quality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removed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51116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Broad grouping bias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Regressed no-runtime and total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128"/>
                          </a:solidFill>
                        </a:defRPr>
                      </a:pPr>
                      <a:r>
                        <a:t>removed</a:t>
                      </a:r>
                    </a:p>
                  </a:txBody>
                  <a:tcPr marL="54864" marR="54864" marT="27432" marB="27432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900">
                <a:solidFill>
                  <a:srgbClr val="24292F"/>
                </a:solidFill>
              </a:defRPr>
            </a:pPr>
            <a:r>
              <a:t>Backup: Evidence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828800" cy="50292"/>
          </a:xfrm>
          <a:prstGeom prst="rect">
            <a:avLst/>
          </a:prstGeom>
          <a:solidFill>
            <a:srgbClr val="00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Do not promote from single-case wins or validation IDs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Do not promote checkpoints from supervised validation loss alone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Use total_score_no_runtime for architecture comparison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Use raw runtime, P90, max runtime, and runtime-aware total as submission gates</a:t>
            </a:r>
          </a:p>
          <a:p>
            <a:pPr marL="280000" indent="-180000">
              <a:spcAft>
                <a:spcPts val="800"/>
              </a:spcAft>
              <a:defRPr sz="2000">
                <a:solidFill>
                  <a:srgbClr val="1C2128"/>
                </a:solidFill>
                <a:latin typeface="Aptos"/>
              </a:defRPr>
            </a:pPr>
            <a:r>
              <a:t>Keep mixed-evidence controls as explicit ablations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06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