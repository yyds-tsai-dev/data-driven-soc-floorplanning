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4" r:id="rId4"/>
    <p:sldId id="258" r:id="rId5"/>
    <p:sldId id="265" r:id="rId6"/>
    <p:sldId id="266" r:id="rId7"/>
    <p:sldId id="269" r:id="rId8"/>
    <p:sldId id="267" r:id="rId9"/>
    <p:sldId id="261" r:id="rId10"/>
    <p:sldId id="270" r:id="rId11"/>
    <p:sldId id="268" r:id="rId12"/>
    <p:sldId id="262" r:id="rId13"/>
    <p:sldId id="272" r:id="rId14"/>
    <p:sldId id="274" r:id="rId15"/>
    <p:sldId id="273" r:id="rId16"/>
    <p:sldId id="276" r:id="rId17"/>
    <p:sldId id="271" r:id="rId18"/>
    <p:sldId id="275" r:id="rId19"/>
  </p:sldIdLst>
  <p:sldSz cx="9906000" cy="6858000" type="A4"/>
  <p:notesSz cx="9874250" cy="6797675"/>
  <p:embeddedFontLst>
    <p:embeddedFont>
      <p:font typeface="DFKai-SB" panose="03000509000000000000" pitchFamily="65" charset="-120"/>
      <p:regular r:id="rId21"/>
    </p:embeddedFont>
    <p:embeddedFont>
      <p:font typeface="Overlock" panose="02020500000000000000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399" autoAdjust="0"/>
  </p:normalViewPr>
  <p:slideViewPr>
    <p:cSldViewPr snapToGrid="0">
      <p:cViewPr varScale="1">
        <p:scale>
          <a:sx n="74" d="100"/>
          <a:sy n="74" d="100"/>
        </p:scale>
        <p:origin x="134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4278842" cy="3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93125" y="0"/>
            <a:ext cx="4278842" cy="3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456613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93125" y="6456613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802BB4F-E676-D0E8-C0EA-E5C7276D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DF05E2C6-0A2E-5CD8-CD41-194A6CD4E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491173E6-52C1-DB64-E47A-2FD6556580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4782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91D66538-3D37-5C2B-E4FE-4F4D20E0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9F9DF39-D20A-B0E0-68E7-3F10F1831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B3442CE9-6D1E-2DA9-61F2-DA4D32526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4752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5A7A9EF-E9F8-B454-EB72-3E6594C0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F4E47BCD-8B3E-D5B0-DD7D-16D14CC09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98B26679-81F9-6202-E4EF-A956F74B4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5574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9E248071-FF69-B470-C376-84C9A4C8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B577ECBE-6B23-E1F3-B8E3-58CFD6CAF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因為權重是 </a:t>
            </a:r>
            <a:r>
              <a:rPr lang="en-US" altLang="zh-TW" dirty="0"/>
              <a:t>exponential</a:t>
            </a:r>
            <a:r>
              <a:rPr lang="zh-TW" altLang="en-US" dirty="0"/>
              <a:t>，所以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120-block case</a:t>
            </a:r>
            <a:r>
              <a:rPr lang="en-US" altLang="zh-TW" dirty="0"/>
              <a:t> </a:t>
            </a:r>
            <a:r>
              <a:rPr lang="zh-TW" altLang="en-US" dirty="0"/>
              <a:t>的權重最大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如果剛好每個 </a:t>
            </a:r>
            <a:r>
              <a:rPr lang="en-US" altLang="zh-TW" dirty="0"/>
              <a:t>size 21 </a:t>
            </a:r>
            <a:r>
              <a:rPr lang="zh-TW" altLang="en-US" dirty="0"/>
              <a:t>到 </a:t>
            </a:r>
            <a:r>
              <a:rPr lang="en-US" altLang="zh-TW" dirty="0"/>
              <a:t>120</a:t>
            </a:r>
            <a:r>
              <a:rPr lang="zh-TW" altLang="en-US" dirty="0"/>
              <a:t>各一個 </a:t>
            </a:r>
            <a:r>
              <a:rPr lang="en-US" altLang="zh-TW" dirty="0"/>
              <a:t>case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120-block case weight ≈ 63.2%</a:t>
            </a:r>
            <a:br>
              <a:rPr lang="en-US" altLang="zh-TW" dirty="0"/>
            </a:br>
            <a:r>
              <a:rPr lang="en-US" altLang="zh-TW" dirty="0"/>
              <a:t>119-block case weight ≈ 23.3%</a:t>
            </a:r>
            <a:br>
              <a:rPr lang="en-US" altLang="zh-TW" dirty="0"/>
            </a:br>
            <a:r>
              <a:rPr lang="en-US" altLang="zh-TW" dirty="0"/>
              <a:t>118-block case weight ≈ 8.6%</a:t>
            </a:r>
            <a:br>
              <a:rPr lang="en-US" altLang="zh-TW" dirty="0"/>
            </a:br>
            <a:r>
              <a:rPr lang="en-US" altLang="zh-TW" dirty="0"/>
              <a:t>Top 5 largest cases together ≈ 99.3%</a:t>
            </a:r>
            <a:r>
              <a:rPr lang="zh-TW" altLang="en-US" dirty="0"/>
              <a:t>個 </a:t>
            </a:r>
            <a:r>
              <a:rPr lang="en-US" altLang="zh-TW" dirty="0"/>
              <a:t>case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A7A9EBA5-9173-8AEF-4177-14A026DFD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7565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509C65C-262E-FBC9-21E3-3D6F7405B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8C4413E4-D71C-0BA0-664E-942EA0F06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E7941F65-4665-0FDD-86BC-5AA3FFFDD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461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68948B6-8EC9-59FF-58D1-81E78B58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A1521B66-03DE-C154-EF3F-A5A7D94A4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044C3188-EE18-406B-A6B9-8274E54FC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5268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203B22A-787E-C67E-1766-BEF1A7BA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F9497A14-2370-C8F9-6179-00C4350A5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4E8558C3-B42D-A0A6-9A90-5AC828F16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4756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74B6C978-D9AE-969D-7A16-BE9F472B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EC46A6B6-5542-54C3-EA68-01385E62D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D3EE6139-EEE9-B7C2-1023-A9141C1C6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0569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2DE1B04-141A-232A-7C20-E71A6D89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9AAA644-59CA-36E1-3040-07C47AB97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DE7EF889-B42A-5E71-C0B0-B8E840DCB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6792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22F82B96-A9FF-D9C4-33CF-AB01763A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12923CD5-E496-D63A-B0A2-E1415F14F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Heterogeneous graph</a:t>
            </a:r>
            <a:r>
              <a:rPr lang="zh-TW" altLang="en-US" dirty="0"/>
              <a:t> 異質圖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8F811725-FEF5-DE35-8BAF-D8A2FFA95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6975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CBB48884-E301-4C43-139F-7D4266EE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638945D-F0D9-4B41-DA0B-26896B631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634B044D-0CC3-8B14-7F7D-48E880E73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7154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986170D-329F-B823-EBB6-E8655578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20C719EF-6FF5-3467-40AE-015DF24E4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Skyline-style representation:</a:t>
            </a:r>
            <a:r>
              <a:rPr lang="zh-TW" altLang="en-US" dirty="0"/>
              <a:t>已放好的 </a:t>
            </a:r>
            <a:r>
              <a:rPr lang="en-US" altLang="zh-TW" dirty="0"/>
              <a:t>block </a:t>
            </a:r>
            <a:r>
              <a:rPr lang="zh-TW" altLang="en-US" dirty="0"/>
              <a:t>形成了一條外輪廓 </a:t>
            </a:r>
            <a:r>
              <a:rPr lang="en-US" altLang="zh-TW" dirty="0"/>
              <a:t>/ frontier</a:t>
            </a:r>
            <a:r>
              <a:rPr lang="zh-TW" altLang="en-US" dirty="0"/>
              <a:t>，下一個 </a:t>
            </a:r>
            <a:r>
              <a:rPr lang="en-US" altLang="zh-TW" dirty="0"/>
              <a:t>block </a:t>
            </a:r>
            <a:r>
              <a:rPr lang="zh-TW" altLang="en-US" dirty="0"/>
              <a:t>只能放在這條 </a:t>
            </a:r>
            <a:r>
              <a:rPr lang="en-US" altLang="zh-TW" dirty="0"/>
              <a:t>frontier </a:t>
            </a:r>
            <a:r>
              <a:rPr lang="zh-TW" altLang="en-US" dirty="0"/>
              <a:t>上的合法位置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BE945528-3AF9-76C5-2F95-CCB83C7D7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6930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29015F8C-ED1A-AE8C-FA0B-7F5F80F8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D9616094-E734-5A0C-503A-66B924CF5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D7977F79-088B-1540-9E30-7228305F1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5542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C00C8E6D-AA9C-E5D2-277D-EC314427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99E56A73-3422-B8AD-98C7-1E5EFE62D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90AD522A-AF08-D8A7-CF60-A63388095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6708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2417F28-5728-4B44-6331-0EF88736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566E37CF-D915-24C5-97CF-9FF0F0D25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04D7D19F-2B27-FF60-2CE5-927D1F5A5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502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B3285C29-86E8-5386-A641-565474A3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56DBC795-ECE5-CD23-F8E8-4E93D08B8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85167265-CFAA-7BC9-DA4A-1BAAC8703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461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742950" y="205739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485900" y="3992202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888888"/>
              </a:buClr>
              <a:buSzPts val="170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888888"/>
              </a:buClr>
              <a:buSzPts val="1462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0070C0"/>
              </a:buClr>
              <a:buSzPts val="1462"/>
              <a:buFont typeface="Noto Sans Symbols"/>
              <a:buChar char="●"/>
              <a:defRPr sz="2400" b="0">
                <a:solidFill>
                  <a:schemeClr val="dk1"/>
                </a:solidFill>
              </a:defRPr>
            </a:lvl1pPr>
            <a:lvl2pPr marL="914400" lvl="1" indent="-282766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FF0000"/>
              </a:buClr>
              <a:buSzPts val="853"/>
              <a:buFont typeface="Noto Sans Symbols"/>
              <a:buChar char="■"/>
              <a:defRPr sz="1219"/>
            </a:lvl2pPr>
            <a:lvl3pPr marL="1371600" lvl="2" indent="-284353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35DB80"/>
              </a:buClr>
              <a:buSzPts val="878"/>
              <a:buFont typeface="Noto Sans Symbols"/>
              <a:buChar char="◆"/>
              <a:defRPr sz="1097"/>
            </a:lvl3pPr>
            <a:lvl4pPr marL="1828800" lvl="3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–"/>
              <a:defRPr sz="975"/>
            </a:lvl4pPr>
            <a:lvl5pPr marL="2286000" lvl="4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»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1766659" y="379413"/>
            <a:ext cx="7644043" cy="87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1"/>
          </p:nvPr>
        </p:nvSpPr>
        <p:spPr>
          <a:xfrm>
            <a:off x="495300" y="1669214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260"/>
              <a:buFont typeface="Noto Sans Symbols"/>
              <a:buChar char="■"/>
              <a:defRPr sz="1800"/>
            </a:lvl2pPr>
            <a:lvl3pPr marL="1371600" lvl="2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5DB80"/>
              </a:buClr>
              <a:buSzPts val="1280"/>
              <a:buFont typeface="Noto Sans Symbols"/>
              <a:buChar char="◆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1515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1515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2"/>
          </p:nvPr>
        </p:nvSpPr>
        <p:spPr>
          <a:xfrm>
            <a:off x="1766659" y="1140595"/>
            <a:ext cx="7644043" cy="44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1515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2" name="Google Shape;52;p4"/>
          <p:cNvCxnSpPr/>
          <p:nvPr/>
        </p:nvCxnSpPr>
        <p:spPr>
          <a:xfrm>
            <a:off x="1766659" y="1140595"/>
            <a:ext cx="7644043" cy="0"/>
          </a:xfrm>
          <a:prstGeom prst="straightConnector1">
            <a:avLst/>
          </a:prstGeom>
          <a:noFill/>
          <a:ln w="57150" cap="flat" cmpd="tri">
            <a:solidFill>
              <a:srgbClr val="F4F8F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782506" y="4406907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37"/>
              <a:buFont typeface="Arial"/>
              <a:buNone/>
              <a:defRPr sz="2437" b="1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 sz="1219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888888"/>
              </a:buClr>
              <a:buSzPts val="1097"/>
              <a:buNone/>
              <a:defRPr sz="109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888888"/>
              </a:buClr>
              <a:buSzPts val="975"/>
              <a:buNone/>
              <a:defRPr sz="975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•"/>
              <a:defRPr sz="1706"/>
            </a:lvl1pPr>
            <a:lvl2pPr marL="914400" lvl="1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–"/>
              <a:defRPr sz="1462"/>
            </a:lvl2pPr>
            <a:lvl3pPr marL="1371600" lvl="2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•"/>
              <a:defRPr sz="1219"/>
            </a:lvl3pPr>
            <a:lvl4pPr marL="1828800" lvl="3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–"/>
              <a:defRPr sz="1097"/>
            </a:lvl4pPr>
            <a:lvl5pPr marL="2286000" lvl="4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»"/>
              <a:defRPr sz="1097"/>
            </a:lvl5pPr>
            <a:lvl6pPr marL="2743200" lvl="5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6pPr>
            <a:lvl7pPr marL="3200400" lvl="6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7pPr>
            <a:lvl8pPr marL="3657600" lvl="7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8pPr>
            <a:lvl9pPr marL="4114800" lvl="8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2"/>
          </p:nvPr>
        </p:nvSpPr>
        <p:spPr>
          <a:xfrm>
            <a:off x="5035550" y="1600206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•"/>
              <a:defRPr sz="1706"/>
            </a:lvl1pPr>
            <a:lvl2pPr marL="914400" lvl="1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–"/>
              <a:defRPr sz="1462"/>
            </a:lvl2pPr>
            <a:lvl3pPr marL="1371600" lvl="2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•"/>
              <a:defRPr sz="1219"/>
            </a:lvl3pPr>
            <a:lvl4pPr marL="1828800" lvl="3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–"/>
              <a:defRPr sz="1097"/>
            </a:lvl4pPr>
            <a:lvl5pPr marL="2286000" lvl="4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»"/>
              <a:defRPr sz="1097"/>
            </a:lvl5pPr>
            <a:lvl6pPr marL="2743200" lvl="5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6pPr>
            <a:lvl7pPr marL="3200400" lvl="6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7pPr>
            <a:lvl8pPr marL="3657600" lvl="7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8pPr>
            <a:lvl9pPr marL="4114800" lvl="8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1766659" y="274641"/>
            <a:ext cx="7644043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None/>
              <a:defRPr sz="1462" b="1"/>
            </a:lvl1pPr>
            <a:lvl2pPr marL="914400" lvl="1" indent="-22860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None/>
              <a:defRPr sz="1219" b="1"/>
            </a:lvl2pPr>
            <a:lvl3pPr marL="1371600" lvl="2" indent="-22860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None/>
              <a:defRPr sz="1097" b="1"/>
            </a:lvl3pPr>
            <a:lvl4pPr marL="1828800" lvl="3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4pPr>
            <a:lvl5pPr marL="2286000" lvl="4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5pPr>
            <a:lvl6pPr marL="2743200" lvl="5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6pPr>
            <a:lvl7pPr marL="3200400" lvl="6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7pPr>
            <a:lvl8pPr marL="3657600" lvl="7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8pPr>
            <a:lvl9pPr marL="4114800" lvl="8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 sz="1462"/>
            </a:lvl1pPr>
            <a:lvl2pPr marL="914400" lvl="1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 sz="1219"/>
            </a:lvl2pPr>
            <a:lvl3pPr marL="1371600" lvl="2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•"/>
              <a:defRPr sz="1097"/>
            </a:lvl3pPr>
            <a:lvl4pPr marL="1828800" lvl="3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–"/>
              <a:defRPr sz="975"/>
            </a:lvl4pPr>
            <a:lvl5pPr marL="2286000" lvl="4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»"/>
              <a:defRPr sz="975"/>
            </a:lvl5pPr>
            <a:lvl6pPr marL="2743200" lvl="5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6pPr>
            <a:lvl7pPr marL="3200400" lvl="6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7pPr>
            <a:lvl8pPr marL="3657600" lvl="7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8pPr>
            <a:lvl9pPr marL="4114800" lvl="8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3"/>
          </p:nvPr>
        </p:nvSpPr>
        <p:spPr>
          <a:xfrm>
            <a:off x="5032114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None/>
              <a:defRPr sz="1462" b="1"/>
            </a:lvl1pPr>
            <a:lvl2pPr marL="914400" lvl="1" indent="-22860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None/>
              <a:defRPr sz="1219" b="1"/>
            </a:lvl2pPr>
            <a:lvl3pPr marL="1371600" lvl="2" indent="-22860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None/>
              <a:defRPr sz="1097" b="1"/>
            </a:lvl3pPr>
            <a:lvl4pPr marL="1828800" lvl="3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4pPr>
            <a:lvl5pPr marL="2286000" lvl="4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5pPr>
            <a:lvl6pPr marL="2743200" lvl="5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6pPr>
            <a:lvl7pPr marL="3200400" lvl="6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7pPr>
            <a:lvl8pPr marL="3657600" lvl="7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8pPr>
            <a:lvl9pPr marL="4114800" lvl="8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4"/>
          </p:nvPr>
        </p:nvSpPr>
        <p:spPr>
          <a:xfrm>
            <a:off x="5032114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 sz="1462"/>
            </a:lvl1pPr>
            <a:lvl2pPr marL="914400" lvl="1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 sz="1219"/>
            </a:lvl2pPr>
            <a:lvl3pPr marL="1371600" lvl="2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•"/>
              <a:defRPr sz="1097"/>
            </a:lvl3pPr>
            <a:lvl4pPr marL="1828800" lvl="3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–"/>
              <a:defRPr sz="975"/>
            </a:lvl4pPr>
            <a:lvl5pPr marL="2286000" lvl="4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»"/>
              <a:defRPr sz="975"/>
            </a:lvl5pPr>
            <a:lvl6pPr marL="2743200" lvl="5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6pPr>
            <a:lvl7pPr marL="3200400" lvl="6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7pPr>
            <a:lvl8pPr marL="3657600" lvl="7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8pPr>
            <a:lvl9pPr marL="4114800" lvl="8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495304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19"/>
              <a:buFont typeface="Arial"/>
              <a:buNone/>
              <a:defRPr sz="1219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body" idx="1"/>
          </p:nvPr>
        </p:nvSpPr>
        <p:spPr>
          <a:xfrm>
            <a:off x="3872972" y="273057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515151"/>
              </a:buClr>
              <a:buSzPts val="1950"/>
              <a:buChar char="•"/>
              <a:defRPr sz="1950"/>
            </a:lvl1pPr>
            <a:lvl2pPr marL="914400" lvl="1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–"/>
              <a:defRPr sz="1706"/>
            </a:lvl2pPr>
            <a:lvl3pPr marL="1371600" lvl="2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 sz="1462"/>
            </a:lvl3pPr>
            <a:lvl4pPr marL="1828800" lvl="3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 sz="1219"/>
            </a:lvl4pPr>
            <a:lvl5pPr marL="2286000" lvl="4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»"/>
              <a:defRPr sz="1219"/>
            </a:lvl5pPr>
            <a:lvl6pPr marL="2743200" lvl="5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6pPr>
            <a:lvl7pPr marL="3200400" lvl="6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7pPr>
            <a:lvl8pPr marL="3657600" lvl="7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8pPr>
            <a:lvl9pPr marL="4114800" lvl="8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2"/>
          </p:nvPr>
        </p:nvSpPr>
        <p:spPr>
          <a:xfrm>
            <a:off x="495304" y="1435103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515151"/>
              </a:buClr>
              <a:buSzPts val="854"/>
              <a:buNone/>
              <a:defRPr sz="854"/>
            </a:lvl1pPr>
            <a:lvl2pPr marL="914400" lvl="1" indent="-228600" algn="l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>
                <a:srgbClr val="515151"/>
              </a:buClr>
              <a:buSzPts val="731"/>
              <a:buNone/>
              <a:defRPr sz="731"/>
            </a:lvl2pPr>
            <a:lvl3pPr marL="1371600" lvl="2" indent="-228600" algn="l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>
                <a:srgbClr val="515151"/>
              </a:buClr>
              <a:buSzPts val="610"/>
              <a:buNone/>
              <a:defRPr sz="610"/>
            </a:lvl3pPr>
            <a:lvl4pPr marL="1828800" lvl="3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4pPr>
            <a:lvl5pPr marL="2286000" lvl="4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5pPr>
            <a:lvl6pPr marL="2743200" lvl="5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6pPr>
            <a:lvl7pPr marL="3200400" lvl="6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7pPr>
            <a:lvl8pPr marL="3657600" lvl="7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8pPr>
            <a:lvl9pPr marL="4114800" lvl="8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19"/>
              <a:buFont typeface="DFKai-SB"/>
              <a:buNone/>
              <a:defRPr sz="1219" b="1"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515151"/>
              </a:buClr>
              <a:buSzPts val="854"/>
              <a:buNone/>
              <a:defRPr sz="854"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228600" algn="l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>
                <a:srgbClr val="515151"/>
              </a:buClr>
              <a:buSzPts val="731"/>
              <a:buNone/>
              <a:defRPr sz="731"/>
            </a:lvl2pPr>
            <a:lvl3pPr marL="1371600" lvl="2" indent="-228600" algn="l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>
                <a:srgbClr val="515151"/>
              </a:buClr>
              <a:buSzPts val="610"/>
              <a:buNone/>
              <a:defRPr sz="610"/>
            </a:lvl3pPr>
            <a:lvl4pPr marL="1828800" lvl="3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4pPr>
            <a:lvl5pPr marL="2286000" lvl="4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5pPr>
            <a:lvl6pPr marL="2743200" lvl="5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6pPr>
            <a:lvl7pPr marL="3200400" lvl="6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7pPr>
            <a:lvl8pPr marL="3657600" lvl="7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8pPr>
            <a:lvl9pPr marL="4114800" lvl="8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1766659" y="274637"/>
            <a:ext cx="7644043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DFKai-SB"/>
              <a:buNone/>
              <a:defRPr sz="3400" b="1"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 rot="5400000">
            <a:off x="2690018" y="-503443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515151"/>
              </a:buClr>
              <a:buSzPts val="1950"/>
              <a:buChar char="•"/>
              <a:defRPr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–"/>
              <a:defRPr>
                <a:latin typeface="DFKai-SB"/>
                <a:ea typeface="DFKai-SB"/>
                <a:cs typeface="DFKai-SB"/>
                <a:sym typeface="DFKai-SB"/>
              </a:defRPr>
            </a:lvl2pPr>
            <a:lvl3pPr marL="1371600" lvl="2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>
                <a:latin typeface="DFKai-SB"/>
                <a:ea typeface="DFKai-SB"/>
                <a:cs typeface="DFKai-SB"/>
                <a:sym typeface="DFKai-SB"/>
              </a:defRPr>
            </a:lvl3pPr>
            <a:lvl4pPr marL="1828800" lvl="3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>
                <a:latin typeface="DFKai-SB"/>
                <a:ea typeface="DFKai-SB"/>
                <a:cs typeface="DFKai-SB"/>
                <a:sym typeface="DFKai-SB"/>
              </a:defRPr>
            </a:lvl4pPr>
            <a:lvl5pPr marL="2286000" lvl="4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»"/>
              <a:defRPr>
                <a:latin typeface="DFKai-SB"/>
                <a:ea typeface="DFKai-SB"/>
                <a:cs typeface="DFKai-SB"/>
                <a:sym typeface="DFKai-SB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 rot="5400000">
            <a:off x="5370513" y="2085983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DFKai-SB"/>
              <a:buNone/>
              <a:defRPr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 rot="5400000">
            <a:off x="830263" y="-60317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2" y="6572272"/>
            <a:ext cx="9906000" cy="285728"/>
            <a:chOff x="0" y="6572272"/>
            <a:chExt cx="9144001" cy="285728"/>
          </a:xfrm>
        </p:grpSpPr>
        <p:sp>
          <p:nvSpPr>
            <p:cNvPr id="11" name="Google Shape;11;p1"/>
            <p:cNvSpPr/>
            <p:nvPr/>
          </p:nvSpPr>
          <p:spPr>
            <a:xfrm rot="-5400000" flipH="1">
              <a:off x="4524750" y="2142021"/>
              <a:ext cx="94499" cy="9144000"/>
            </a:xfrm>
            <a:prstGeom prst="rect">
              <a:avLst/>
            </a:prstGeom>
            <a:gradFill>
              <a:gsLst>
                <a:gs pos="0">
                  <a:srgbClr val="E33959">
                    <a:alpha val="29411"/>
                  </a:srgbClr>
                </a:gs>
                <a:gs pos="50000">
                  <a:srgbClr val="E33959">
                    <a:alpha val="29411"/>
                  </a:srgbClr>
                </a:gs>
                <a:gs pos="100000">
                  <a:srgbClr val="F2D2D2">
                    <a:alpha val="2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7"/>
                <a:buFont typeface="Arial"/>
                <a:buNone/>
              </a:pPr>
              <a:endParaRPr sz="109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0" y="6761268"/>
              <a:ext cx="9144000" cy="96732"/>
            </a:xfrm>
            <a:prstGeom prst="rect">
              <a:avLst/>
            </a:prstGeom>
            <a:gradFill>
              <a:gsLst>
                <a:gs pos="0">
                  <a:srgbClr val="35DB80">
                    <a:alpha val="29411"/>
                  </a:srgbClr>
                </a:gs>
                <a:gs pos="100000">
                  <a:srgbClr val="9EFCC9">
                    <a:alpha val="29411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7"/>
                <a:buFont typeface="Arial"/>
                <a:buNone/>
              </a:pPr>
              <a:endParaRPr sz="109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>
              <a:off x="34" y="6572272"/>
              <a:ext cx="9143966" cy="94497"/>
            </a:xfrm>
            <a:prstGeom prst="rect">
              <a:avLst/>
            </a:prstGeom>
            <a:gradFill>
              <a:gsLst>
                <a:gs pos="0">
                  <a:srgbClr val="6CB7EA">
                    <a:alpha val="28235"/>
                  </a:srgbClr>
                </a:gs>
                <a:gs pos="100000">
                  <a:srgbClr val="9BE5FF">
                    <a:alpha val="28235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7"/>
                <a:buFont typeface="Arial"/>
                <a:buNone/>
              </a:pPr>
              <a:endParaRPr sz="109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body" idx="1"/>
          </p:nvPr>
        </p:nvSpPr>
        <p:spPr>
          <a:xfrm>
            <a:off x="495300" y="169127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2425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515151"/>
              </a:buClr>
              <a:buSzPts val="1950"/>
              <a:buFont typeface="Arial"/>
              <a:buChar char="•"/>
              <a:defRPr sz="1950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931" algn="l" rtl="0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Font typeface="Arial"/>
              <a:buChar char="–"/>
              <a:defRPr sz="1706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1437" algn="l" rtl="0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Font typeface="Arial"/>
              <a:buChar char="•"/>
              <a:defRPr sz="1462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Font typeface="Arial"/>
              <a:buChar char="–"/>
              <a:defRPr sz="1219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Font typeface="Arial"/>
              <a:buChar char="»"/>
              <a:defRPr sz="1219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3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399092" y="6663587"/>
            <a:ext cx="5107817" cy="9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</a:pPr>
            <a:r>
              <a:rPr lang="zh-TW" sz="7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Institute of Electronics, National Yang Ming Chiao Tung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10392" y="6669462"/>
            <a:ext cx="2691473" cy="7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</a:pPr>
            <a:r>
              <a:rPr lang="zh-TW" sz="7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VLSI Design Automation LAB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40450" y="1389592"/>
            <a:ext cx="6120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   </a:t>
            </a:r>
            <a:endParaRPr/>
          </a:p>
        </p:txBody>
      </p:sp>
      <p:grpSp>
        <p:nvGrpSpPr>
          <p:cNvPr id="22" name="Google Shape;22;p1"/>
          <p:cNvGrpSpPr/>
          <p:nvPr/>
        </p:nvGrpSpPr>
        <p:grpSpPr>
          <a:xfrm>
            <a:off x="123902" y="110407"/>
            <a:ext cx="1457095" cy="1460719"/>
            <a:chOff x="232141" y="214292"/>
            <a:chExt cx="1457095" cy="1460719"/>
          </a:xfrm>
        </p:grpSpPr>
        <p:pic>
          <p:nvPicPr>
            <p:cNvPr id="23" name="Google Shape;23;p1" descr="logo2拷貝.jpg"/>
            <p:cNvPicPr preferRelativeResize="0"/>
            <p:nvPr/>
          </p:nvPicPr>
          <p:blipFill rotWithShape="1">
            <a:blip r:embed="rId14">
              <a:alphaModFix amt="85000"/>
            </a:blip>
            <a:srcRect/>
            <a:stretch/>
          </p:blipFill>
          <p:spPr>
            <a:xfrm>
              <a:off x="232141" y="214292"/>
              <a:ext cx="1457095" cy="14607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1"/>
            <p:cNvSpPr/>
            <p:nvPr/>
          </p:nvSpPr>
          <p:spPr>
            <a:xfrm>
              <a:off x="240450" y="1389592"/>
              <a:ext cx="612000" cy="1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Overlock"/>
                  <a:ea typeface="Overlock"/>
                  <a:cs typeface="Overlock"/>
                  <a:sym typeface="Overlock"/>
                </a:rPr>
                <a:t>   </a:t>
              </a:r>
              <a:endParaRPr/>
            </a:p>
          </p:txBody>
        </p:sp>
      </p:grpSp>
      <p:sp>
        <p:nvSpPr>
          <p:cNvPr id="25" name="Google Shape;25;p1"/>
          <p:cNvSpPr/>
          <p:nvPr/>
        </p:nvSpPr>
        <p:spPr>
          <a:xfrm>
            <a:off x="77356" y="1225010"/>
            <a:ext cx="6800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NYCU</a:t>
            </a:r>
            <a:endParaRPr sz="1400" b="1" i="0" u="none" strike="noStrike" cap="none">
              <a:solidFill>
                <a:srgbClr val="FFFFFF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6" name="Google Shape;26;p1"/>
          <p:cNvGrpSpPr/>
          <p:nvPr/>
        </p:nvGrpSpPr>
        <p:grpSpPr>
          <a:xfrm>
            <a:off x="7981949" y="5580626"/>
            <a:ext cx="1812154" cy="888591"/>
            <a:chOff x="7810383" y="5522742"/>
            <a:chExt cx="1953676" cy="957987"/>
          </a:xfrm>
        </p:grpSpPr>
        <p:grpSp>
          <p:nvGrpSpPr>
            <p:cNvPr id="27" name="Google Shape;27;p1"/>
            <p:cNvGrpSpPr/>
            <p:nvPr/>
          </p:nvGrpSpPr>
          <p:grpSpPr>
            <a:xfrm>
              <a:off x="7810383" y="5568680"/>
              <a:ext cx="1953676" cy="912049"/>
              <a:chOff x="5583412" y="4210558"/>
              <a:chExt cx="4366646" cy="1933093"/>
            </a:xfrm>
          </p:grpSpPr>
          <p:pic>
            <p:nvPicPr>
              <p:cNvPr id="28" name="Google Shape;28;p1" descr="V.eps"/>
              <p:cNvPicPr preferRelativeResize="0"/>
              <p:nvPr/>
            </p:nvPicPr>
            <p:blipFill rotWithShape="1">
              <a:blip r:embed="rId15">
                <a:alphaModFix/>
              </a:blip>
              <a:srcRect l="1553" t="2167" r="-1" b="1"/>
              <a:stretch/>
            </p:blipFill>
            <p:spPr>
              <a:xfrm>
                <a:off x="5583412" y="4210558"/>
                <a:ext cx="1915356" cy="19234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29;p1" descr="D.eps"/>
              <p:cNvPicPr preferRelativeResize="0"/>
              <p:nvPr/>
            </p:nvPicPr>
            <p:blipFill rotWithShape="1">
              <a:blip r:embed="rId16">
                <a:alphaModFix/>
              </a:blip>
              <a:srcRect l="470" t="481" r="-200" b="697"/>
              <a:stretch/>
            </p:blipFill>
            <p:spPr>
              <a:xfrm>
                <a:off x="6781889" y="4362195"/>
                <a:ext cx="1915359" cy="17814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1" descr="A.eps"/>
              <p:cNvPicPr preferRelativeResize="0"/>
              <p:nvPr/>
            </p:nvPicPr>
            <p:blipFill rotWithShape="1">
              <a:blip r:embed="rId17">
                <a:alphaModFix/>
              </a:blip>
              <a:srcRect l="1304" t="1300" r="-1"/>
              <a:stretch/>
            </p:blipFill>
            <p:spPr>
              <a:xfrm>
                <a:off x="7993357" y="4235232"/>
                <a:ext cx="1956701" cy="18730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" name="Google Shape;31;p1"/>
            <p:cNvSpPr/>
            <p:nvPr/>
          </p:nvSpPr>
          <p:spPr>
            <a:xfrm>
              <a:off x="7810383" y="5522742"/>
              <a:ext cx="1920280" cy="957987"/>
            </a:xfrm>
            <a:prstGeom prst="rect">
              <a:avLst/>
            </a:prstGeom>
            <a:solidFill>
              <a:srgbClr val="FFFFFF">
                <a:alpha val="3294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" name="Google Shape;32;p1" descr="三筒掰了！陽明交大新校徽「蛇+鐵槌」反應兩極醫驚內行才懂| 大學研究所| 文教| 聯合新聞網"/>
          <p:cNvPicPr preferRelativeResize="0"/>
          <p:nvPr/>
        </p:nvPicPr>
        <p:blipFill rotWithShape="1">
          <a:blip r:embed="rId18">
            <a:alphaModFix amt="10000"/>
          </a:blip>
          <a:srcRect l="25989" t="10580" r="26826" b="31327"/>
          <a:stretch/>
        </p:blipFill>
        <p:spPr>
          <a:xfrm>
            <a:off x="3296816" y="1864025"/>
            <a:ext cx="3312368" cy="33277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ctrTitle"/>
          </p:nvPr>
        </p:nvSpPr>
        <p:spPr>
          <a:xfrm>
            <a:off x="742950" y="205739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altLang="zh-TW" dirty="0"/>
              <a:t>The </a:t>
            </a:r>
            <a:r>
              <a:rPr lang="en-US" altLang="zh-TW" dirty="0" err="1"/>
              <a:t>FloorSet</a:t>
            </a:r>
            <a:r>
              <a:rPr lang="en-US" altLang="zh-TW" dirty="0"/>
              <a:t> Challenge</a:t>
            </a:r>
            <a:br>
              <a:rPr lang="en-US" altLang="zh-TW" dirty="0"/>
            </a:br>
            <a:r>
              <a:rPr lang="en-US" altLang="zh-TW" dirty="0"/>
              <a:t>Data-Driven-SoC-Floorplanning</a:t>
            </a:r>
            <a:endParaRPr dirty="0"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1"/>
          </p:nvPr>
        </p:nvSpPr>
        <p:spPr>
          <a:xfrm>
            <a:off x="1485900" y="3992202"/>
            <a:ext cx="6934200" cy="80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altLang="zh-CN" dirty="0"/>
              <a:t>ICCAD 2026 Contest Problem C</a:t>
            </a:r>
            <a:endParaRPr dirty="0"/>
          </a:p>
        </p:txBody>
      </p:sp>
      <p:sp>
        <p:nvSpPr>
          <p:cNvPr id="116" name="Google Shape;116;p14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9712432-2251-05BD-7276-37D85D6D1342}"/>
              </a:ext>
            </a:extLst>
          </p:cNvPr>
          <p:cNvSpPr txBox="1">
            <a:spLocks/>
          </p:cNvSpPr>
          <p:nvPr/>
        </p:nvSpPr>
        <p:spPr>
          <a:xfrm>
            <a:off x="1752600" y="4839295"/>
            <a:ext cx="6400800" cy="145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242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931" algn="ctr" rtl="0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888888"/>
              </a:buClr>
              <a:buSzPts val="1706"/>
              <a:buFont typeface="Arial"/>
              <a:buNone/>
              <a:defRPr sz="1706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1437" algn="ctr" rtl="0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888888"/>
              </a:buClr>
              <a:buSzPts val="1462"/>
              <a:buFont typeface="Arial"/>
              <a:buNone/>
              <a:defRPr sz="1462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Presenter:</a:t>
            </a:r>
            <a:b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</a:br>
            <a:r>
              <a:rPr lang="en-US" altLang="zh-CN" sz="2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Cheng-An Tsai</a:t>
            </a:r>
            <a:endParaRPr lang="en-US" altLang="zh-TW" sz="2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Advisor:</a:t>
            </a:r>
            <a:b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</a:br>
            <a:r>
              <a:rPr lang="en-US" altLang="zh-TW" sz="2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Hung-Ming Chen</a:t>
            </a:r>
            <a:endParaRPr lang="zh-TW" altLang="en-US" sz="2200" dirty="0">
              <a:solidFill>
                <a:schemeClr val="tx1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/>
              <a:t>Problem Statement</a:t>
            </a:r>
          </a:p>
          <a:p>
            <a:pPr marL="1028700" lvl="1" indent="-342900"/>
            <a:r>
              <a:rPr lang="en-US" altLang="zh-TW" sz="2000" dirty="0"/>
              <a:t>Inputs </a:t>
            </a:r>
            <a:r>
              <a:rPr lang="en-US" altLang="zh-CN" sz="2000" dirty="0"/>
              <a:t>and </a:t>
            </a:r>
            <a:r>
              <a:rPr lang="en-US" altLang="zh-TW" sz="2000" dirty="0"/>
              <a:t>Outputs</a:t>
            </a:r>
          </a:p>
          <a:p>
            <a:pPr marL="1028700" lvl="1" indent="-342900"/>
            <a:r>
              <a:rPr lang="en-US" altLang="zh-TW" sz="2000" dirty="0"/>
              <a:t>Hard and Soft Constraints</a:t>
            </a:r>
          </a:p>
          <a:p>
            <a:pPr marL="1028700" lvl="1" indent="-342900"/>
            <a:r>
              <a:rPr lang="en-US" altLang="zh-TW" sz="2000" dirty="0"/>
              <a:t>Evaluation Metrics</a:t>
            </a:r>
          </a:p>
          <a:p>
            <a:pPr marL="571500" indent="-342900"/>
            <a:r>
              <a:rPr lang="en-US" altLang="zh-TW" dirty="0"/>
              <a:t>Related Work</a:t>
            </a:r>
          </a:p>
          <a:p>
            <a:pPr marL="571500" indent="-342900"/>
            <a:r>
              <a:rPr lang="en-US" altLang="zh-TW" dirty="0"/>
              <a:t>Proposed Methodology</a:t>
            </a:r>
          </a:p>
          <a:p>
            <a:pPr marL="571500" indent="-342900"/>
            <a:r>
              <a:rPr lang="en-US" altLang="zh-TW" dirty="0"/>
              <a:t>Planned Tasks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E7923E3-DD0A-3375-DD08-BBAF85A72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7844F92-0ED8-390B-34F1-6D45DEFB3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/>
              <a:t>Problem Statement</a:t>
            </a:r>
          </a:p>
          <a:p>
            <a:pPr marL="1028700" lvl="1" indent="-342900"/>
            <a:r>
              <a:rPr lang="en-US" altLang="zh-TW" sz="2000" dirty="0"/>
              <a:t>Inputs </a:t>
            </a:r>
            <a:r>
              <a:rPr lang="en-US" altLang="zh-CN" sz="2000" dirty="0"/>
              <a:t>and </a:t>
            </a:r>
            <a:r>
              <a:rPr lang="en-US" altLang="zh-TW" sz="2000" dirty="0"/>
              <a:t>Outputs</a:t>
            </a:r>
          </a:p>
          <a:p>
            <a:pPr marL="1028700" lvl="1" indent="-342900"/>
            <a:r>
              <a:rPr lang="en-US" altLang="zh-TW" sz="2000" dirty="0"/>
              <a:t>Hard and Soft Constraints</a:t>
            </a:r>
          </a:p>
          <a:p>
            <a:pPr marL="1028700" lvl="1" indent="-342900"/>
            <a:r>
              <a:rPr lang="en-US" altLang="zh-TW" sz="2000" dirty="0"/>
              <a:t>Evaluation Metrics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Planned Tasks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51AA8A8B-6E05-4AE8-6605-7138029BC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3672FBE8-78EC-95CA-B085-5F9081DF64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638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78429C1-DA59-C5B4-EEB2-1304E0EBC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F38A12D2-B51A-056E-CF4C-049255679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71500" indent="-342900"/>
            <a:r>
              <a:rPr lang="en-US" altLang="zh-TW" dirty="0"/>
              <a:t>Inputs:</a:t>
            </a:r>
          </a:p>
          <a:p>
            <a:pPr marL="1028700" lvl="1" indent="-342900"/>
            <a:r>
              <a:rPr lang="en-US" altLang="zh-TW" sz="2000" b="0" i="1" dirty="0" err="1"/>
              <a:t>block_count</a:t>
            </a:r>
            <a:endParaRPr lang="en-US" altLang="zh-TW" sz="2000" b="0" i="1" dirty="0"/>
          </a:p>
          <a:p>
            <a:pPr marL="1028700" lvl="1" indent="-342900"/>
            <a:r>
              <a:rPr lang="en-US" altLang="zh-TW" sz="2000" b="0" i="1" dirty="0" err="1"/>
              <a:t>area_targets</a:t>
            </a:r>
            <a:r>
              <a:rPr lang="en-US" altLang="zh-TW" sz="2000" b="0" dirty="0"/>
              <a:t>: target area of each block</a:t>
            </a:r>
          </a:p>
          <a:p>
            <a:pPr marL="1028700" lvl="1" indent="-342900"/>
            <a:r>
              <a:rPr lang="en-US" altLang="zh-TW" sz="2000" b="0" i="1" dirty="0"/>
              <a:t>b2b_connectivity</a:t>
            </a:r>
            <a:r>
              <a:rPr lang="en-US" altLang="zh-TW" sz="2000" b="0" dirty="0"/>
              <a:t>: weighted block-to-block connections</a:t>
            </a:r>
          </a:p>
          <a:p>
            <a:pPr marL="1028700" lvl="1" indent="-342900"/>
            <a:r>
              <a:rPr lang="en-US" altLang="zh-TW" sz="2000" b="0" i="1" dirty="0"/>
              <a:t>p2b_connectivity</a:t>
            </a:r>
            <a:r>
              <a:rPr lang="en-US" altLang="zh-TW" sz="2000" b="0" dirty="0"/>
              <a:t>: weighted pin-to-block connections</a:t>
            </a:r>
          </a:p>
          <a:p>
            <a:pPr marL="1028700" lvl="1" indent="-342900"/>
            <a:r>
              <a:rPr lang="en-US" altLang="zh-TW" sz="2000" b="0" i="1" dirty="0" err="1"/>
              <a:t>pins_pos</a:t>
            </a:r>
            <a:r>
              <a:rPr lang="en-US" altLang="zh-TW" sz="2000" b="0" dirty="0"/>
              <a:t>: fixed pin coordinates</a:t>
            </a:r>
          </a:p>
          <a:p>
            <a:pPr marL="1028700" lvl="1" indent="-342900"/>
            <a:r>
              <a:rPr lang="en-US" altLang="zh-TW" sz="2000" i="1" dirty="0"/>
              <a:t>constraints</a:t>
            </a:r>
            <a:r>
              <a:rPr lang="en-US" altLang="zh-TW" sz="2000" dirty="0"/>
              <a:t>: </a:t>
            </a:r>
            <a:r>
              <a:rPr lang="en-US" altLang="zh-TW" sz="2000" i="1" dirty="0"/>
              <a:t>[fixed, preplaced, MIB ID, cluster ID, boundary code]</a:t>
            </a:r>
          </a:p>
          <a:p>
            <a:pPr marL="1028700" lvl="1" indent="-342900"/>
            <a:r>
              <a:rPr lang="en-US" altLang="zh-TW" sz="2000" i="1" dirty="0" err="1"/>
              <a:t>target_positions</a:t>
            </a:r>
            <a:r>
              <a:rPr lang="en-US" altLang="zh-TW" sz="2000" dirty="0"/>
              <a:t>: target </a:t>
            </a:r>
            <a:r>
              <a:rPr lang="en-US" altLang="zh-TW" sz="2000" i="1" dirty="0"/>
              <a:t>(x, y, w, h) </a:t>
            </a:r>
            <a:r>
              <a:rPr lang="en-US" altLang="zh-TW" sz="2000" dirty="0"/>
              <a:t>for fixed-shape and preplaced blocks</a:t>
            </a:r>
          </a:p>
          <a:p>
            <a:pPr marL="571500" indent="-342900"/>
            <a:r>
              <a:rPr lang="en-US" altLang="zh-TW" dirty="0"/>
              <a:t>Outputs:</a:t>
            </a:r>
          </a:p>
          <a:p>
            <a:pPr marL="1028700" lvl="1" indent="-342900"/>
            <a:r>
              <a:rPr lang="en-US" altLang="zh-TW" sz="2000" b="0" dirty="0"/>
              <a:t>A list of block placements: </a:t>
            </a:r>
            <a:r>
              <a:rPr lang="en-US" altLang="zh-TW" sz="2000" b="0" i="1" dirty="0"/>
              <a:t>[(</a:t>
            </a:r>
            <a:r>
              <a:rPr lang="en-US" altLang="zh-TW" sz="2000" b="0" i="1" dirty="0" err="1"/>
              <a:t>x_i</a:t>
            </a:r>
            <a:r>
              <a:rPr lang="en-US" altLang="zh-TW" sz="2000" b="0" i="1" dirty="0"/>
              <a:t>, </a:t>
            </a:r>
            <a:r>
              <a:rPr lang="en-US" altLang="zh-TW" sz="2000" b="0" i="1" dirty="0" err="1"/>
              <a:t>y_i</a:t>
            </a:r>
            <a:r>
              <a:rPr lang="en-US" altLang="zh-TW" sz="2000" b="0" i="1" dirty="0"/>
              <a:t>, </a:t>
            </a:r>
            <a:r>
              <a:rPr lang="en-US" altLang="zh-TW" sz="2000" b="0" i="1" dirty="0" err="1"/>
              <a:t>w_i</a:t>
            </a:r>
            <a:r>
              <a:rPr lang="en-US" altLang="zh-TW" sz="2000" b="0" i="1" dirty="0"/>
              <a:t>, </a:t>
            </a:r>
            <a:r>
              <a:rPr lang="en-US" altLang="zh-TW" sz="2000" b="0" i="1" dirty="0" err="1"/>
              <a:t>h_i</a:t>
            </a:r>
            <a:r>
              <a:rPr lang="en-US" altLang="zh-TW" sz="2000" b="0" i="1" dirty="0"/>
              <a:t>)]</a:t>
            </a:r>
            <a:r>
              <a:rPr lang="en-US" altLang="zh-TW" sz="2000" b="0" dirty="0"/>
              <a:t> for all blocks</a:t>
            </a:r>
          </a:p>
          <a:p>
            <a:pPr marL="1028700" lvl="1" indent="-342900"/>
            <a:r>
              <a:rPr lang="en-US" altLang="zh-TW" sz="2000" b="0" dirty="0"/>
              <a:t>Floating-point coordinates are allowed.</a:t>
            </a:r>
          </a:p>
          <a:p>
            <a:pPr marL="1028700" lvl="1" indent="-342900"/>
            <a:r>
              <a:rPr lang="en-US" altLang="zh-TW" sz="2000" b="0" dirty="0"/>
              <a:t>Any aspect ratio is allowed, as long as the area and hard constraints are satisfied.</a:t>
            </a:r>
            <a:endParaRPr sz="2000"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8686B608-A2FF-D67E-6C8A-3F9533E7D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Inputs </a:t>
            </a:r>
            <a:r>
              <a:rPr lang="en-US" altLang="zh-CN" sz="2000" b="0" dirty="0"/>
              <a:t>and </a:t>
            </a:r>
            <a:r>
              <a:rPr lang="en-US" altLang="zh-TW" sz="2000" b="0" dirty="0"/>
              <a:t>Outputs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4998303D-1ECD-E891-4AA9-FAB3E5C219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855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EADDDE2-E53F-EDFE-A95A-63D204D2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A968543-1F39-CCA4-F59C-1E6767FAB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66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71500" indent="-342900"/>
            <a:r>
              <a:rPr lang="en-US" altLang="zh-TW" sz="2600" b="1" dirty="0"/>
              <a:t>Hard Constraints</a:t>
            </a:r>
            <a:r>
              <a:rPr lang="en-US" altLang="zh-TW" sz="2600" dirty="0"/>
              <a:t>:</a:t>
            </a:r>
          </a:p>
          <a:p>
            <a:pPr marL="1028700" lvl="1" indent="-342900"/>
            <a:r>
              <a:rPr lang="en-US" altLang="zh-TW" sz="2200" b="0" dirty="0"/>
              <a:t>No overlap between any two blocks.</a:t>
            </a:r>
          </a:p>
          <a:p>
            <a:pPr marL="1028700" lvl="1" indent="-342900"/>
            <a:r>
              <a:rPr lang="en-US" altLang="zh-TW" sz="2200" b="0" dirty="0"/>
              <a:t>Soft-block area must be within 1% of the target area.</a:t>
            </a:r>
          </a:p>
          <a:p>
            <a:pPr marL="1028700" lvl="1" indent="-342900"/>
            <a:r>
              <a:rPr lang="en-US" altLang="zh-TW" sz="2200" dirty="0"/>
              <a:t>Fixed-shape blocks must preserve exact target dimensions.</a:t>
            </a:r>
          </a:p>
          <a:p>
            <a:pPr marL="1028700" lvl="1" indent="-342900"/>
            <a:r>
              <a:rPr lang="en-US" altLang="zh-TW" sz="2200" dirty="0"/>
              <a:t>Preplaced blocks must preserve exact target position and dimensions.</a:t>
            </a:r>
          </a:p>
          <a:p>
            <a:pPr marL="1028700" lvl="1" indent="-342900"/>
            <a:r>
              <a:rPr lang="en-US" altLang="zh-TW" sz="2200" b="0" dirty="0"/>
              <a:t>Any hard-constraint violation makes the solution infeasible with cost = 10.</a:t>
            </a:r>
            <a:endParaRPr lang="en-US" altLang="zh-TW" sz="2200" b="0" i="1" dirty="0"/>
          </a:p>
          <a:p>
            <a:pPr marL="571500" indent="-342900"/>
            <a:r>
              <a:rPr lang="en-US" altLang="zh-TW" sz="2600" b="1" dirty="0"/>
              <a:t>Soft Constraints</a:t>
            </a:r>
            <a:r>
              <a:rPr lang="en-US" altLang="zh-TW" sz="2600" dirty="0"/>
              <a:t>:</a:t>
            </a:r>
          </a:p>
          <a:p>
            <a:pPr marL="1028700" lvl="1" indent="-342900"/>
            <a:r>
              <a:rPr lang="en-US" altLang="zh-TW" sz="2200" b="0" dirty="0"/>
              <a:t>Grouping: blocks in the same group should abut and form one connected component.</a:t>
            </a:r>
          </a:p>
          <a:p>
            <a:pPr marL="1028700" lvl="1" indent="-342900"/>
            <a:r>
              <a:rPr lang="en-US" altLang="zh-TW" sz="2200" b="0" dirty="0"/>
              <a:t>MIB(Multi-Instantiation Blocks): blocks in the same MIB group should have identical dimensions.</a:t>
            </a:r>
          </a:p>
          <a:p>
            <a:pPr marL="1028700" lvl="1" indent="-342900"/>
            <a:r>
              <a:rPr lang="en-US" altLang="zh-TW" sz="2200" b="0" dirty="0"/>
              <a:t>Boundary: specified blocks should touch the required bounding-box edge or corner.</a:t>
            </a:r>
            <a:endParaRPr sz="2200"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D53FD14-1F6A-B71D-3E8C-C7B0CA0A1D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Hard and Soft Constraints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765E690-8D25-3893-DB4C-4C43172CED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58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6CBB1D8A-2636-817C-1060-97341897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944C052E-F933-8940-7C0F-F534505D3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71500" indent="-342900"/>
            <a:endParaRPr lang="en-US" altLang="zh-TW" dirty="0"/>
          </a:p>
          <a:p>
            <a:pPr marL="571500" indent="-342900"/>
            <a:endParaRPr lang="en-US" altLang="zh-TW" dirty="0"/>
          </a:p>
          <a:p>
            <a:pPr marL="228600" indent="0">
              <a:buNone/>
            </a:pPr>
            <a:endParaRPr lang="en-US" altLang="zh-TW" dirty="0"/>
          </a:p>
          <a:p>
            <a:pPr marL="571500" indent="-342900"/>
            <a:r>
              <a:rPr lang="en-US" altLang="zh-TW" i="1" dirty="0"/>
              <a:t>Cost = (1 + 0.5 × (</a:t>
            </a:r>
            <a:r>
              <a:rPr lang="en-US" altLang="zh-TW" i="1" dirty="0" err="1"/>
              <a:t>HPWL_gap</a:t>
            </a:r>
            <a:r>
              <a:rPr lang="en-US" altLang="zh-TW" i="1" dirty="0"/>
              <a:t> + </a:t>
            </a:r>
            <a:r>
              <a:rPr lang="en-US" altLang="zh-TW" i="1" dirty="0" err="1"/>
              <a:t>Area_gap</a:t>
            </a:r>
            <a:r>
              <a:rPr lang="en-US" altLang="zh-TW" i="1" dirty="0"/>
              <a:t>))</a:t>
            </a:r>
            <a:br>
              <a:rPr lang="en-US" altLang="zh-TW" i="1" dirty="0"/>
            </a:br>
            <a:r>
              <a:rPr lang="en-US" altLang="zh-TW" i="1" dirty="0"/>
              <a:t>× exp(2.0 × </a:t>
            </a:r>
            <a:r>
              <a:rPr lang="en-US" altLang="zh-TW" i="1" dirty="0" err="1"/>
              <a:t>V_relative</a:t>
            </a:r>
            <a:r>
              <a:rPr lang="en-US" altLang="zh-TW" i="1" dirty="0"/>
              <a:t>)</a:t>
            </a:r>
            <a:br>
              <a:rPr lang="en-US" altLang="zh-TW" i="1" dirty="0"/>
            </a:br>
            <a:r>
              <a:rPr lang="en-US" altLang="zh-TW" i="1" dirty="0"/>
              <a:t>× max(0.7, RuntimeFactor^0.3)</a:t>
            </a:r>
          </a:p>
          <a:p>
            <a:pPr marL="571500" indent="-342900"/>
            <a:r>
              <a:rPr lang="en-US" altLang="zh-TW" dirty="0"/>
              <a:t>If infeasible: </a:t>
            </a:r>
            <a:r>
              <a:rPr lang="en-US" altLang="zh-TW" i="1" dirty="0"/>
              <a:t>Cost = 10</a:t>
            </a:r>
          </a:p>
          <a:p>
            <a:pPr marL="1028700" lvl="1" indent="-342900"/>
            <a:r>
              <a:rPr lang="en-US" altLang="zh-TW" sz="2000" b="0" dirty="0"/>
              <a:t>Higher than any reasonable feasible solution</a:t>
            </a:r>
          </a:p>
          <a:p>
            <a:pPr marL="1028700" lvl="1" indent="-342900"/>
            <a:r>
              <a:rPr lang="en-US" altLang="zh-TW" sz="2000" b="0" dirty="0"/>
              <a:t>But not so extreme that a single failure dominates the entire score</a:t>
            </a:r>
          </a:p>
          <a:p>
            <a:pPr marL="571500" indent="-342900"/>
            <a:r>
              <a:rPr lang="en-US" altLang="zh-TW" dirty="0"/>
              <a:t>Total Score: </a:t>
            </a:r>
            <a:r>
              <a:rPr lang="nn-NO" altLang="zh-TW" dirty="0"/>
              <a:t>Σ_i softmax(n_i) × Cost_i</a:t>
            </a:r>
            <a:endParaRPr lang="en-US" altLang="zh-TW" dirty="0"/>
          </a:p>
          <a:p>
            <a:pPr marL="1028700" lvl="1" indent="-342900"/>
            <a:r>
              <a:rPr lang="en-US" altLang="zh-TW" sz="2000" dirty="0"/>
              <a:t>Large-case</a:t>
            </a:r>
            <a:r>
              <a:rPr lang="en-US" altLang="zh-TW" sz="2000" b="0" dirty="0"/>
              <a:t> feasibility is more </a:t>
            </a:r>
            <a:r>
              <a:rPr lang="en-US" altLang="zh-TW" sz="2000" dirty="0"/>
              <a:t>important</a:t>
            </a:r>
            <a:r>
              <a:rPr lang="en-US" altLang="zh-TW" sz="2000" b="0" dirty="0"/>
              <a:t> than small-case average performance.</a:t>
            </a:r>
          </a:p>
          <a:p>
            <a:pPr marL="1028700" lvl="1" indent="-342900"/>
            <a:r>
              <a:rPr lang="en-US" altLang="zh-TW" sz="2000" dirty="0"/>
              <a:t>Feasibility first</a:t>
            </a:r>
            <a:r>
              <a:rPr lang="en-US" altLang="zh-TW" sz="2000" b="0" dirty="0"/>
              <a:t>, then quality and runtime.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23093CB2-3B3C-A880-A69A-D7B8009B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Evaluation Metrics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93298C63-324B-F21D-A35E-7EA3239F14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1F56644-09A5-AA0E-B7D4-6B7C688A4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11"/>
          <a:stretch>
            <a:fillRect/>
          </a:stretch>
        </p:blipFill>
        <p:spPr>
          <a:xfrm>
            <a:off x="375551" y="1887450"/>
            <a:ext cx="9453093" cy="89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1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88B2877-30D1-E43B-F242-D8D6F288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BEBA2D8-CDD6-3D88-2EF0-C95F83C50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r>
              <a:rPr lang="en-US" altLang="zh-TW" b="1" dirty="0"/>
              <a:t>Official Evaluation Framework</a:t>
            </a:r>
          </a:p>
          <a:p>
            <a:pPr marL="571500" indent="-342900"/>
            <a:r>
              <a:rPr lang="en-US" altLang="zh-TW" i="1" dirty="0"/>
              <a:t>iccad2026_evaluate.py</a:t>
            </a:r>
            <a:br>
              <a:rPr lang="en-US" altLang="zh-TW" dirty="0"/>
            </a:br>
            <a:r>
              <a:rPr lang="en-US" altLang="zh-TW" sz="2000" dirty="0">
                <a:solidFill>
                  <a:srgbClr val="515151"/>
                </a:solidFill>
              </a:rPr>
              <a:t>evaluator, validator, scoring, visualization, and data loaders</a:t>
            </a:r>
          </a:p>
          <a:p>
            <a:pPr marL="571500" indent="-342900"/>
            <a:r>
              <a:rPr lang="en-US" altLang="zh-TW" i="1" dirty="0"/>
              <a:t>optimizer_template.py</a:t>
            </a:r>
            <a:br>
              <a:rPr lang="en-US" altLang="zh-TW" dirty="0"/>
            </a:br>
            <a:r>
              <a:rPr lang="en-US" altLang="zh-TW" sz="2000" dirty="0">
                <a:solidFill>
                  <a:srgbClr val="515151"/>
                </a:solidFill>
              </a:rPr>
              <a:t>B*-Tree Simulated Annealing baseline</a:t>
            </a:r>
          </a:p>
          <a:p>
            <a:pPr marL="571500" indent="-342900"/>
            <a:r>
              <a:rPr lang="en-US" altLang="zh-TW" i="1" dirty="0"/>
              <a:t>training_example.py</a:t>
            </a:r>
            <a:br>
              <a:rPr lang="en-US" altLang="zh-TW" dirty="0"/>
            </a:br>
            <a:r>
              <a:rPr lang="en-US" altLang="zh-TW" sz="2000" dirty="0">
                <a:solidFill>
                  <a:srgbClr val="515151"/>
                </a:solidFill>
              </a:rPr>
              <a:t>example of differentiable contest-cost training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50576F1-D609-A7D3-63DC-2AB2EBBD2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Evaluation Metrics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8C2553B-CCF8-C4ED-0FC0-10F99F0628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07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DF86ECA-4266-F71B-135A-14D64A66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72F55AC7-344E-D92E-3FD2-F0E872245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tx1"/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Planned Tasks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D6A7FC4E-7FD3-1F05-B110-448FB50C8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59EA750-7BB5-E89E-126A-0EC05ABF07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641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0B4EEF6-7CD2-76D6-F5D0-21FA0389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C3308A32-E3CF-0B04-39E5-995BECCC6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/>
            <a:r>
              <a:rPr lang="en-US" altLang="zh-TW" dirty="0"/>
              <a:t>Classical </a:t>
            </a:r>
            <a:r>
              <a:rPr lang="en-US" altLang="zh-TW" dirty="0" err="1"/>
              <a:t>Floorplanning</a:t>
            </a:r>
            <a:r>
              <a:rPr lang="en-US" altLang="zh-TW" dirty="0"/>
              <a:t>:</a:t>
            </a:r>
          </a:p>
          <a:p>
            <a:pPr marL="1028700" lvl="1" indent="-342900"/>
            <a:r>
              <a:rPr lang="en-US" altLang="zh-TW" sz="2000" b="0" dirty="0"/>
              <a:t>Sequence Pair, B*-Tree, and Corner Block List represent legal floorplan structures.</a:t>
            </a:r>
          </a:p>
          <a:p>
            <a:pPr marL="1028700" lvl="1" indent="-342900"/>
            <a:r>
              <a:rPr lang="en-US" altLang="zh-TW" sz="2000" b="0" dirty="0"/>
              <a:t>Simulated Annealing and other metaheuristics are robust but often slow on large constrained cases.</a:t>
            </a:r>
          </a:p>
          <a:p>
            <a:pPr marL="571500" indent="-342900"/>
            <a:r>
              <a:rPr lang="en-US" altLang="zh-TW" dirty="0"/>
              <a:t>Graph-Based Learning:</a:t>
            </a:r>
          </a:p>
          <a:p>
            <a:pPr marL="1028700" lvl="1" indent="-342900"/>
            <a:r>
              <a:rPr lang="en-US" altLang="zh-TW" sz="2000" b="0" dirty="0" err="1"/>
              <a:t>GraphPlanner</a:t>
            </a:r>
            <a:r>
              <a:rPr lang="en-US" altLang="zh-TW" sz="2000" b="0" dirty="0"/>
              <a:t> and GNN-based approaches learn structural information from netlists.</a:t>
            </a:r>
          </a:p>
          <a:p>
            <a:pPr marL="1028700" lvl="1" indent="-342900"/>
            <a:r>
              <a:rPr lang="en-US" altLang="zh-TW" sz="2000" b="0" dirty="0"/>
              <a:t>They are useful for predicting placement relationships but usually require legalization.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7CF03F5-8284-AFC4-4B94-E58804191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indent="-342900"/>
            <a:r>
              <a:rPr lang="en-US" altLang="zh-TW" dirty="0"/>
              <a:t>Related Work</a:t>
            </a: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AB1F2C56-17D3-3718-6CFE-504CD4AFD0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559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C48581F-5391-673C-924F-EBA0190B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E095EBB-BEAD-B98F-6D28-26A163DB8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/>
            <a:r>
              <a:rPr lang="en-US" altLang="zh-TW" dirty="0"/>
              <a:t>RL-Based </a:t>
            </a:r>
            <a:r>
              <a:rPr lang="en-US" altLang="zh-TW" dirty="0" err="1"/>
              <a:t>Floorplanning</a:t>
            </a:r>
            <a:r>
              <a:rPr lang="en-US" altLang="zh-TW" dirty="0"/>
              <a:t>:</a:t>
            </a:r>
          </a:p>
          <a:p>
            <a:pPr marL="1028700" lvl="1" indent="-342900"/>
            <a:r>
              <a:rPr lang="en-US" altLang="zh-TW" sz="2000" b="0" dirty="0" err="1"/>
              <a:t>GoodFloorplan</a:t>
            </a:r>
            <a:r>
              <a:rPr lang="en-US" altLang="zh-TW" sz="2000" b="0" dirty="0"/>
              <a:t> and other RL methods formulate </a:t>
            </a:r>
            <a:r>
              <a:rPr lang="en-US" altLang="zh-TW" sz="2000" b="0" dirty="0" err="1"/>
              <a:t>floorplanning</a:t>
            </a:r>
            <a:r>
              <a:rPr lang="en-US" altLang="zh-TW" sz="2000" b="0" dirty="0"/>
              <a:t> as a sequential decision problem.</a:t>
            </a:r>
          </a:p>
          <a:p>
            <a:pPr marL="1028700" lvl="1" indent="-342900"/>
            <a:r>
              <a:rPr lang="en-US" altLang="zh-TW" sz="2000" b="0" dirty="0"/>
              <a:t>They can learn placement strategies but may suffer from training instability and sequential error accumulation.</a:t>
            </a:r>
          </a:p>
          <a:p>
            <a:pPr marL="571500" indent="-342900"/>
            <a:r>
              <a:rPr lang="en-US" altLang="zh-TW" dirty="0"/>
              <a:t>Generative Models:</a:t>
            </a:r>
          </a:p>
          <a:p>
            <a:pPr marL="1028700" lvl="1" indent="-342900"/>
            <a:r>
              <a:rPr lang="en-US" altLang="zh-TW" sz="2000" b="0" dirty="0"/>
              <a:t>Diffusion-based placement can generate high-quality layouts quickly.</a:t>
            </a:r>
          </a:p>
          <a:p>
            <a:pPr marL="1028700" lvl="1" indent="-342900"/>
            <a:r>
              <a:rPr lang="en-US" altLang="zh-TW" sz="2000" b="0" dirty="0"/>
              <a:t>However, strict legality still requires guidance or repair.</a:t>
            </a:r>
            <a:endParaRPr sz="2000"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926A050-6E6E-2493-F36B-9EDC63E2A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indent="-342900"/>
            <a:r>
              <a:rPr lang="en-US" altLang="zh-TW" dirty="0"/>
              <a:t>Related Work</a:t>
            </a: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9CBE1AF1-FD95-6410-3740-F03B0F83F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812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32C170D-B086-3896-E761-3CC0F670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02DD5A81-F115-3D77-1336-102FD593D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tx1"/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Planned Tasks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1CCDE6F-2205-5B8F-48FD-EDD8132F5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9D9EF4B-9150-4A1C-F611-BC0469E4CB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016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DE3D7B3-AEBC-A106-74BB-C128D28D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A37522AB-280F-108B-1A2E-E2049D417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1513" lvl="0" indent="-192913">
              <a:buNone/>
            </a:pPr>
            <a:r>
              <a:rPr lang="en-US" altLang="zh-TW" dirty="0"/>
              <a:t>Core Idea:</a:t>
            </a:r>
          </a:p>
          <a:p>
            <a:pPr marL="571500" indent="-342900"/>
            <a:r>
              <a:rPr lang="en-US" altLang="zh-TW" dirty="0"/>
              <a:t>Convert the instance into a </a:t>
            </a:r>
            <a:r>
              <a:rPr lang="en-US" altLang="zh-TW" b="1" dirty="0"/>
              <a:t>heterogeneous graph</a:t>
            </a:r>
            <a:r>
              <a:rPr lang="en-US" altLang="zh-TW" dirty="0"/>
              <a:t>.</a:t>
            </a:r>
          </a:p>
          <a:p>
            <a:pPr marL="571500" indent="-342900"/>
            <a:r>
              <a:rPr lang="en-US" altLang="zh-TW" dirty="0"/>
              <a:t>Use a</a:t>
            </a:r>
            <a:r>
              <a:rPr lang="en-US" altLang="zh-TW" b="1" dirty="0"/>
              <a:t> graph encoder </a:t>
            </a:r>
            <a:r>
              <a:rPr lang="en-US" altLang="zh-TW" dirty="0"/>
              <a:t>to learn connectivity and constraint-aware block features.</a:t>
            </a:r>
          </a:p>
          <a:p>
            <a:pPr marL="571500" indent="-342900"/>
            <a:r>
              <a:rPr lang="en-US" altLang="zh-TW" dirty="0"/>
              <a:t>Use a </a:t>
            </a:r>
            <a:r>
              <a:rPr lang="en-US" altLang="zh-TW" b="1" dirty="0"/>
              <a:t>constructive decoder </a:t>
            </a:r>
            <a:r>
              <a:rPr lang="en-US" altLang="zh-TW" dirty="0"/>
              <a:t>to place blocks step by step.</a:t>
            </a:r>
          </a:p>
          <a:p>
            <a:pPr marL="571500" indent="-342900"/>
            <a:r>
              <a:rPr lang="en-US" altLang="zh-TW" dirty="0"/>
              <a:t>Use legality masks to prevent invalid placements.</a:t>
            </a:r>
          </a:p>
          <a:p>
            <a:pPr marL="571500" indent="-342900"/>
            <a:r>
              <a:rPr lang="en-US" altLang="zh-TW" dirty="0"/>
              <a:t>Use exact repair and local search to improve soft constraints, HPWL, and area.</a:t>
            </a:r>
            <a:endParaRPr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078F76B-EC2A-39B9-56C1-6014F105B9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indent="-342900"/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Constraint-Aware Graph-Based Constructive </a:t>
            </a:r>
            <a:r>
              <a:rPr lang="en-US" altLang="zh-TW" sz="2000" b="0" dirty="0" err="1"/>
              <a:t>Floorplanner</a:t>
            </a:r>
            <a:endParaRPr lang="en-US" altLang="zh-TW"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BDF70ED4-EB1E-5625-CD36-FA2D86824C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9110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1F328D3-AEC9-0EBD-3947-2417D21B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7BB018A-4A60-F1F3-4DD3-D26A789BCB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>
              <a:buNone/>
            </a:pPr>
            <a:endParaRPr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3B98CABC-76AB-9CA6-166F-859EC0BA2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indent="-342900"/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Architecture</a:t>
            </a: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A7760065-C1F0-1EA7-5275-68FF206F8F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E6A3115-1F04-C1AB-7049-F9DB979BE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102" y="1548712"/>
            <a:ext cx="6015796" cy="46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9EDD8A4-C1F5-A939-3AA0-781F3345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B308697-B047-ED72-51CE-FFCC6FBC1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299" y="1600206"/>
            <a:ext cx="9067263" cy="4965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457200">
              <a:buFont typeface="+mj-lt"/>
              <a:buAutoNum type="arabicPeriod"/>
            </a:pPr>
            <a:r>
              <a:rPr lang="en-US" altLang="zh-TW" dirty="0"/>
              <a:t>Input Parsing</a:t>
            </a:r>
          </a:p>
          <a:p>
            <a:pPr marL="685800" lvl="0" indent="-457200">
              <a:buFont typeface="+mj-lt"/>
              <a:buAutoNum type="arabicPeriod"/>
            </a:pPr>
            <a:r>
              <a:rPr lang="en-US" altLang="zh-TW" dirty="0"/>
              <a:t>Graph Construction</a:t>
            </a:r>
            <a:br>
              <a:rPr lang="en-US" altLang="zh-TW" dirty="0"/>
            </a:br>
            <a:r>
              <a:rPr lang="en-US" altLang="zh-TW" sz="1800" dirty="0">
                <a:solidFill>
                  <a:srgbClr val="515151"/>
                </a:solidFill>
              </a:rPr>
              <a:t>• Block nodes: area, fixed/preplaced flags, MIB ID, cluster ID, boundary code.</a:t>
            </a:r>
            <a:br>
              <a:rPr lang="en-US" altLang="zh-TW" sz="1800" dirty="0"/>
            </a:br>
            <a:r>
              <a:rPr lang="en-US" altLang="zh-TW" sz="1800" dirty="0">
                <a:solidFill>
                  <a:srgbClr val="515151"/>
                </a:solidFill>
              </a:rPr>
              <a:t>• Pin nodes: fixed coordinates.</a:t>
            </a:r>
            <a:br>
              <a:rPr lang="en-US" altLang="zh-TW" sz="1800" dirty="0">
                <a:solidFill>
                  <a:srgbClr val="515151"/>
                </a:solidFill>
              </a:rPr>
            </a:br>
            <a:r>
              <a:rPr lang="en-US" altLang="zh-TW" sz="1800" dirty="0">
                <a:solidFill>
                  <a:srgbClr val="515151"/>
                </a:solidFill>
              </a:rPr>
              <a:t>• Edges: block-to-block, pin-to-block, group membership, and MIB membership.</a:t>
            </a:r>
          </a:p>
          <a:p>
            <a:pPr marL="685800" lvl="0" indent="-457200">
              <a:buFont typeface="+mj-lt"/>
              <a:buAutoNum type="arabicPeriod"/>
            </a:pPr>
            <a:r>
              <a:rPr lang="en-US" altLang="zh-TW" dirty="0"/>
              <a:t>Graph Encoder</a:t>
            </a:r>
            <a:br>
              <a:rPr lang="en-US" altLang="zh-TW" dirty="0"/>
            </a:br>
            <a:r>
              <a:rPr lang="en-US" altLang="zh-TW" sz="1800" dirty="0">
                <a:solidFill>
                  <a:srgbClr val="515151"/>
                </a:solidFill>
              </a:rPr>
              <a:t>• Extract structural embeddings from netlist and constraint relations.</a:t>
            </a:r>
          </a:p>
          <a:p>
            <a:pPr marL="685800" lvl="0" indent="-457200">
              <a:buFont typeface="+mj-lt"/>
              <a:buAutoNum type="arabicPeriod"/>
            </a:pPr>
            <a:r>
              <a:rPr lang="en-US" altLang="zh-TW" dirty="0"/>
              <a:t>Constructive Decoder</a:t>
            </a:r>
            <a:br>
              <a:rPr lang="en-US" altLang="zh-TW" dirty="0"/>
            </a:br>
            <a:r>
              <a:rPr lang="en-US" altLang="zh-TW" sz="1800" dirty="0">
                <a:solidFill>
                  <a:srgbClr val="515151"/>
                </a:solidFill>
              </a:rPr>
              <a:t>• Predict placement order, block shape, and candidate slot.</a:t>
            </a:r>
          </a:p>
          <a:p>
            <a:pPr marL="685800" lvl="0" indent="-457200">
              <a:buFont typeface="+mj-lt"/>
              <a:buAutoNum type="arabicPeriod"/>
            </a:pPr>
            <a:r>
              <a:rPr lang="en-US" altLang="zh-TW" dirty="0"/>
              <a:t>Legal Placement Engine</a:t>
            </a:r>
            <a:br>
              <a:rPr lang="en-US" altLang="zh-TW" dirty="0"/>
            </a:br>
            <a:r>
              <a:rPr lang="en-US" altLang="zh-TW" sz="1800" dirty="0">
                <a:solidFill>
                  <a:srgbClr val="515151"/>
                </a:solidFill>
              </a:rPr>
              <a:t>• Use B*-Tree / MER / skyline-style representation to avoid overlap.</a:t>
            </a:r>
          </a:p>
          <a:p>
            <a:pPr marL="685800" lvl="0" indent="-457200">
              <a:buFont typeface="+mj-lt"/>
              <a:buAutoNum type="arabicPeriod"/>
            </a:pPr>
            <a:r>
              <a:rPr lang="en-US" altLang="zh-TW" dirty="0"/>
              <a:t>Repair and Local Search</a:t>
            </a:r>
            <a:br>
              <a:rPr lang="en-US" altLang="zh-TW" dirty="0"/>
            </a:br>
            <a:r>
              <a:rPr lang="en-US" altLang="zh-TW" sz="1800" dirty="0">
                <a:solidFill>
                  <a:srgbClr val="515151"/>
                </a:solidFill>
              </a:rPr>
              <a:t>• Fix hard constraints first.</a:t>
            </a:r>
            <a:br>
              <a:rPr lang="en-US" altLang="zh-TW" sz="1800" dirty="0">
                <a:solidFill>
                  <a:srgbClr val="515151"/>
                </a:solidFill>
              </a:rPr>
            </a:br>
            <a:r>
              <a:rPr lang="en-US" altLang="zh-TW" sz="1800" dirty="0">
                <a:solidFill>
                  <a:srgbClr val="515151"/>
                </a:solidFill>
              </a:rPr>
              <a:t>• Then reduce MIB, grouping, and boundary violations.</a:t>
            </a:r>
            <a:br>
              <a:rPr lang="en-US" altLang="zh-TW" sz="1800" dirty="0">
                <a:solidFill>
                  <a:srgbClr val="515151"/>
                </a:solidFill>
              </a:rPr>
            </a:br>
            <a:r>
              <a:rPr lang="en-US" altLang="zh-TW" sz="1800" dirty="0">
                <a:solidFill>
                  <a:srgbClr val="515151"/>
                </a:solidFill>
              </a:rPr>
              <a:t>• Finally optimize HPWL and bounding-box area.</a:t>
            </a:r>
            <a:endParaRPr sz="1800" dirty="0">
              <a:solidFill>
                <a:srgbClr val="515151"/>
              </a:solidFill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6482B47-BA36-8823-E8A5-D155BD7C9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indent="-342900"/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Architecture</a:t>
            </a: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11D10A94-F1C8-15AF-7E11-651A9402BE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5452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66BB84AC-FF55-FAD4-C968-A88733A0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338F346A-335D-A95F-24EE-672693462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/>
              <a:t>Hard-Constraint Handling:</a:t>
            </a:r>
          </a:p>
          <a:p>
            <a:pPr marL="1028700" lvl="1" indent="-342900"/>
            <a:r>
              <a:rPr lang="en-US" altLang="zh-TW" sz="2000" dirty="0"/>
              <a:t>Preplaced blocks are locked to target (x, y, w, h).</a:t>
            </a:r>
          </a:p>
          <a:p>
            <a:pPr marL="1028700" lvl="1" indent="-342900"/>
            <a:r>
              <a:rPr lang="en-US" altLang="zh-TW" sz="2000" dirty="0"/>
              <a:t>Fixed-shape blocks use target (w, h).</a:t>
            </a:r>
          </a:p>
          <a:p>
            <a:pPr marL="1028700" lvl="1" indent="-342900"/>
            <a:r>
              <a:rPr lang="en-US" altLang="zh-TW" sz="2000" dirty="0"/>
              <a:t>Soft blocks use area-preserving shape parameterization.</a:t>
            </a:r>
          </a:p>
          <a:p>
            <a:pPr marL="1028700" lvl="1" indent="-342900"/>
            <a:r>
              <a:rPr lang="en-US" altLang="zh-TW" sz="2000" dirty="0"/>
              <a:t>Candidate placements that cause overlap are masked out.</a:t>
            </a:r>
          </a:p>
          <a:p>
            <a:pPr marL="571500" indent="-342900"/>
            <a:r>
              <a:rPr lang="en-US" altLang="zh-TW" dirty="0"/>
              <a:t>Soft-Constraint Handling:</a:t>
            </a:r>
          </a:p>
          <a:p>
            <a:pPr marL="1028700" lvl="1" indent="-342900"/>
            <a:r>
              <a:rPr lang="en-US" altLang="zh-TW" sz="2000" dirty="0"/>
              <a:t>MIB groups share a common shape parameter.</a:t>
            </a:r>
          </a:p>
          <a:p>
            <a:pPr marL="1028700" lvl="1" indent="-342900"/>
            <a:r>
              <a:rPr lang="en-US" altLang="zh-TW" sz="2000" dirty="0"/>
              <a:t>Grouping constraints are handled by group-aware placement priority and repair.</a:t>
            </a:r>
          </a:p>
          <a:p>
            <a:pPr marL="1028700" lvl="1" indent="-342900"/>
            <a:r>
              <a:rPr lang="en-US" altLang="zh-TW" sz="2000" dirty="0"/>
              <a:t>Boundary constraints are handled by boundary-aware slot selection and final edge-push repair.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F4A8E319-369C-75C1-1BAB-7CEC77205F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indent="-342900"/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Constraint-Aware Graph-Based Constructive </a:t>
            </a:r>
            <a:r>
              <a:rPr lang="en-US" altLang="zh-TW" sz="2000" b="0" dirty="0" err="1"/>
              <a:t>Floorplanner</a:t>
            </a:r>
            <a:endParaRPr lang="en-US" altLang="zh-TW"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BE8BDAA0-F31D-606A-3A45-336F98FBF8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2643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BFD9E85-8285-B853-CD1C-17DDDB92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E6223B04-772C-E7AC-ABA1-CD1ACD437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81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71500" indent="-342900"/>
            <a:r>
              <a:rPr lang="en-US" altLang="zh-TW" dirty="0"/>
              <a:t>Supervised / Imitation Learning:</a:t>
            </a:r>
          </a:p>
          <a:p>
            <a:pPr marL="1028700" lvl="1" indent="-342900"/>
            <a:r>
              <a:rPr lang="en-US" altLang="zh-TW" sz="1900" dirty="0"/>
              <a:t>Learn from the 1M optimal-by-construction training samples.</a:t>
            </a:r>
          </a:p>
          <a:p>
            <a:pPr marL="1028700" lvl="1" indent="-342900"/>
            <a:r>
              <a:rPr lang="en-US" altLang="zh-TW" sz="1900" dirty="0"/>
              <a:t>Predict placement order, shape parameters, and candidate slots.</a:t>
            </a:r>
          </a:p>
          <a:p>
            <a:pPr marL="571500" indent="-342900"/>
            <a:r>
              <a:rPr lang="en-US" altLang="zh-TW" dirty="0"/>
              <a:t>Differentiable Proxy Loss:</a:t>
            </a:r>
          </a:p>
          <a:p>
            <a:pPr marL="1028700" lvl="1" indent="-342900"/>
            <a:r>
              <a:rPr lang="en-US" altLang="zh-TW" sz="1900" dirty="0"/>
              <a:t>Use the official differentiable cost for HPWL, area, overlap, and area tolerance.</a:t>
            </a:r>
          </a:p>
          <a:p>
            <a:pPr marL="571500" indent="-342900"/>
            <a:r>
              <a:rPr lang="en-US" altLang="zh-TW" dirty="0"/>
              <a:t>Additional Constraint-Aware Losses:</a:t>
            </a:r>
          </a:p>
          <a:p>
            <a:pPr marL="1028700" lvl="1" indent="-342900"/>
            <a:r>
              <a:rPr lang="en-US" altLang="zh-TW" sz="1900" dirty="0"/>
              <a:t>Fixed/preplaced exactness loss</a:t>
            </a:r>
          </a:p>
          <a:p>
            <a:pPr marL="1028700" lvl="1" indent="-342900"/>
            <a:r>
              <a:rPr lang="en-US" altLang="zh-TW" sz="1900" dirty="0"/>
              <a:t>MIB shape consistency loss</a:t>
            </a:r>
          </a:p>
          <a:p>
            <a:pPr marL="1028700" lvl="1" indent="-342900"/>
            <a:r>
              <a:rPr lang="en-US" altLang="zh-TW" sz="1900" dirty="0"/>
              <a:t>Group connectivity surrogate loss</a:t>
            </a:r>
          </a:p>
          <a:p>
            <a:pPr marL="1028700" lvl="1" indent="-342900"/>
            <a:r>
              <a:rPr lang="en-US" altLang="zh-TW" sz="1900" dirty="0"/>
              <a:t>Boundary distance loss</a:t>
            </a:r>
          </a:p>
          <a:p>
            <a:pPr marL="1028700" lvl="1" indent="-342900"/>
            <a:r>
              <a:rPr lang="en-US" altLang="zh-TW" sz="1900" dirty="0"/>
              <a:t>Candidate ranking loss</a:t>
            </a:r>
          </a:p>
          <a:p>
            <a:pPr marL="571500" indent="-342900"/>
            <a:r>
              <a:rPr lang="en-US" altLang="zh-TW" dirty="0"/>
              <a:t>Evaluator-in-the-Loop:</a:t>
            </a:r>
          </a:p>
          <a:p>
            <a:pPr marL="1028700" lvl="1" indent="-342900"/>
            <a:r>
              <a:rPr lang="en-US" altLang="zh-TW" sz="1900" dirty="0"/>
              <a:t>Regularly export validation solutions.</a:t>
            </a:r>
          </a:p>
          <a:p>
            <a:pPr marL="1028700" lvl="1" indent="-342900"/>
            <a:r>
              <a:rPr lang="en-US" altLang="zh-TW" sz="1900" dirty="0"/>
              <a:t>Re-score them using the official evaluator.</a:t>
            </a:r>
          </a:p>
          <a:p>
            <a:pPr marL="1028700" lvl="1" indent="-342900"/>
            <a:r>
              <a:rPr lang="en-US" altLang="zh-TW" sz="1900" dirty="0"/>
              <a:t>Use feasible rate and large-case score for model selection.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29509B4-B7CE-550B-A242-7FEC5DAE74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indent="-342900"/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Training Strategy</a:t>
            </a: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C28F1DFF-E6FA-F0F1-A9B2-FB6C5685EC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977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C4AC4B3-B6B5-6648-0DB2-7796812D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0320702F-8CCD-DC39-1C41-1C496BA52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tx1"/>
                </a:solidFill>
              </a:rPr>
              <a:t>Planned Tasks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4D9EE596-0B48-FE58-4A85-562A71155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CB38245F-9C74-A910-58B9-ED2C06A2C6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971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C80876C-B88F-1537-A429-978F1665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92B63829-517D-9690-0813-8D2BFFBBD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1513" lvl="0" indent="-192913" algn="ctr">
              <a:buNone/>
            </a:pPr>
            <a:endParaRPr lang="en-US" altLang="zh-TW" sz="3200" dirty="0"/>
          </a:p>
          <a:p>
            <a:pPr marL="421513" lvl="0" indent="-192913" algn="ctr">
              <a:buNone/>
            </a:pPr>
            <a:endParaRPr lang="en-US" altLang="zh-TW" sz="3200" dirty="0"/>
          </a:p>
          <a:p>
            <a:pPr marL="421513" lvl="0" indent="-192913" algn="ctr">
              <a:buNone/>
            </a:pPr>
            <a:r>
              <a:rPr lang="en-US" altLang="zh-TW" sz="3200" dirty="0"/>
              <a:t>Thanks for listening.</a:t>
            </a:r>
            <a:endParaRPr sz="320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219EDA6-E35E-5627-4FBA-4A12854CAE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F727CD7-6EDB-C5A8-D256-643CC2FD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870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1069</Words>
  <Application>Microsoft Office PowerPoint</Application>
  <PresentationFormat>A4 紙張 (210x297 公釐)</PresentationFormat>
  <Paragraphs>156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Arial</vt:lpstr>
      <vt:lpstr>DFKai-SB</vt:lpstr>
      <vt:lpstr>Times New Roman</vt:lpstr>
      <vt:lpstr>Overlock</vt:lpstr>
      <vt:lpstr>Calibri</vt:lpstr>
      <vt:lpstr>Noto Sans Symbols</vt:lpstr>
      <vt:lpstr>Office 佈景主題</vt:lpstr>
      <vt:lpstr>The FloorSet Challenge Data-Driven-SoC-Floorplanning</vt:lpstr>
      <vt:lpstr>Outline</vt:lpstr>
      <vt:lpstr>Outline</vt:lpstr>
      <vt:lpstr>Problem Statement Inputs and Outputs</vt:lpstr>
      <vt:lpstr>Problem Statement Hard and Soft Constraints</vt:lpstr>
      <vt:lpstr>Problem Statement Evaluation Metrics</vt:lpstr>
      <vt:lpstr>Problem Statement Evaluation Metrics</vt:lpstr>
      <vt:lpstr>Outline</vt:lpstr>
      <vt:lpstr>Related Work</vt:lpstr>
      <vt:lpstr>Related Work</vt:lpstr>
      <vt:lpstr>Outline</vt:lpstr>
      <vt:lpstr>Proposed Methodology Constraint-Aware Graph-Based Constructive Floorplanner</vt:lpstr>
      <vt:lpstr>Proposed Methodology Architecture</vt:lpstr>
      <vt:lpstr>Proposed Methodology Architecture</vt:lpstr>
      <vt:lpstr>Proposed Methodology Constraint-Aware Graph-Based Constructive Floorplanner</vt:lpstr>
      <vt:lpstr>Proposed Methodology Training Strategy</vt:lpstr>
      <vt:lpstr>Outline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程安 蔡</cp:lastModifiedBy>
  <cp:revision>13</cp:revision>
  <dcterms:modified xsi:type="dcterms:W3CDTF">2026-05-06T07:28:21Z</dcterms:modified>
</cp:coreProperties>
</file>