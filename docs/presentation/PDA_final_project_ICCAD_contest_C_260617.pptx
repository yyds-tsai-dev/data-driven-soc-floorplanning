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34"/>
  </p:notesMasterIdLst>
  <p:sldIdLst>
    <p:sldId id="256" r:id="rId2"/>
    <p:sldId id="257" r:id="rId3"/>
    <p:sldId id="283" r:id="rId4"/>
    <p:sldId id="258" r:id="rId5"/>
    <p:sldId id="265" r:id="rId6"/>
    <p:sldId id="266" r:id="rId7"/>
    <p:sldId id="269" r:id="rId8"/>
    <p:sldId id="296" r:id="rId9"/>
    <p:sldId id="279" r:id="rId10"/>
    <p:sldId id="277" r:id="rId11"/>
    <p:sldId id="297" r:id="rId12"/>
    <p:sldId id="280" r:id="rId13"/>
    <p:sldId id="290" r:id="rId14"/>
    <p:sldId id="298" r:id="rId15"/>
    <p:sldId id="291" r:id="rId16"/>
    <p:sldId id="285" r:id="rId17"/>
    <p:sldId id="281" r:id="rId18"/>
    <p:sldId id="292" r:id="rId19"/>
    <p:sldId id="282" r:id="rId20"/>
    <p:sldId id="299" r:id="rId21"/>
    <p:sldId id="286" r:id="rId22"/>
    <p:sldId id="293" r:id="rId23"/>
    <p:sldId id="300" r:id="rId24"/>
    <p:sldId id="301" r:id="rId25"/>
    <p:sldId id="302" r:id="rId26"/>
    <p:sldId id="303" r:id="rId27"/>
    <p:sldId id="304" r:id="rId28"/>
    <p:sldId id="287" r:id="rId29"/>
    <p:sldId id="294" r:id="rId30"/>
    <p:sldId id="289" r:id="rId31"/>
    <p:sldId id="295" r:id="rId32"/>
    <p:sldId id="275" r:id="rId33"/>
  </p:sldIdLst>
  <p:sldSz cx="9906000" cy="6858000" type="A4"/>
  <p:notesSz cx="9874250" cy="6797675"/>
  <p:embeddedFontLst>
    <p:embeddedFont>
      <p:font typeface="DFKai-SB" panose="03000509000000000000" pitchFamily="65" charset="-120"/>
      <p:regular r:id="rId35"/>
    </p:embeddedFont>
    <p:embeddedFont>
      <p:font typeface="Overlock" panose="02020500000000000000" charset="0"/>
      <p:regular r:id="rId36"/>
      <p:bold r:id="rId37"/>
      <p:italic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2399" autoAdjust="0"/>
  </p:normalViewPr>
  <p:slideViewPr>
    <p:cSldViewPr snapToGrid="0">
      <p:cViewPr varScale="1">
        <p:scale>
          <a:sx n="74" d="100"/>
          <a:sy n="74" d="100"/>
        </p:scale>
        <p:origin x="1341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5.fntdata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3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0"/>
            <a:ext cx="4278842" cy="341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593125" y="0"/>
            <a:ext cx="4278842" cy="341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281363" y="849313"/>
            <a:ext cx="3311525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87425" y="3271382"/>
            <a:ext cx="7899400" cy="2676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6456613"/>
            <a:ext cx="4278842" cy="34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593125" y="6456613"/>
            <a:ext cx="4278842" cy="34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zh-TW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:notes"/>
          <p:cNvSpPr txBox="1">
            <a:spLocks noGrp="1"/>
          </p:cNvSpPr>
          <p:nvPr>
            <p:ph type="body" idx="1"/>
          </p:nvPr>
        </p:nvSpPr>
        <p:spPr>
          <a:xfrm>
            <a:off x="987425" y="3271382"/>
            <a:ext cx="7899400" cy="2676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12" name="Google Shape;1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81363" y="849313"/>
            <a:ext cx="3311525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:notes"/>
          <p:cNvSpPr txBox="1">
            <a:spLocks noGrp="1"/>
          </p:cNvSpPr>
          <p:nvPr>
            <p:ph type="body" idx="1"/>
          </p:nvPr>
        </p:nvSpPr>
        <p:spPr>
          <a:xfrm>
            <a:off x="987425" y="3271382"/>
            <a:ext cx="7899400" cy="267658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119" name="Google Shape;11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81363" y="849313"/>
            <a:ext cx="3311525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598640DF-389C-32CA-7EA0-B46E6CDC4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:notes">
            <a:extLst>
              <a:ext uri="{FF2B5EF4-FFF2-40B4-BE49-F238E27FC236}">
                <a16:creationId xmlns:a16="http://schemas.microsoft.com/office/drawing/2014/main" id="{7CAF08B6-BD06-D9A5-9346-460E226DFB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87425" y="3271382"/>
            <a:ext cx="7899400" cy="267658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119" name="Google Shape;119;p2:notes">
            <a:extLst>
              <a:ext uri="{FF2B5EF4-FFF2-40B4-BE49-F238E27FC236}">
                <a16:creationId xmlns:a16="http://schemas.microsoft.com/office/drawing/2014/main" id="{78634431-0694-6535-38B2-B215F861E9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281363" y="849313"/>
            <a:ext cx="3311525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080283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91D66538-3D37-5C2B-E4FE-4F4D20E06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:notes">
            <a:extLst>
              <a:ext uri="{FF2B5EF4-FFF2-40B4-BE49-F238E27FC236}">
                <a16:creationId xmlns:a16="http://schemas.microsoft.com/office/drawing/2014/main" id="{49F9DF39-D20A-B0E0-68E7-3F10F18310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87425" y="3271382"/>
            <a:ext cx="7899400" cy="267658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9" name="Google Shape;119;p2:notes">
            <a:extLst>
              <a:ext uri="{FF2B5EF4-FFF2-40B4-BE49-F238E27FC236}">
                <a16:creationId xmlns:a16="http://schemas.microsoft.com/office/drawing/2014/main" id="{B3442CE9-6D1E-2DA9-61F2-DA4D325265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281363" y="849313"/>
            <a:ext cx="3311525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847526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F5A7A9EF-E9F8-B454-EB72-3E6594C05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:notes">
            <a:extLst>
              <a:ext uri="{FF2B5EF4-FFF2-40B4-BE49-F238E27FC236}">
                <a16:creationId xmlns:a16="http://schemas.microsoft.com/office/drawing/2014/main" id="{F4E47BCD-8B3E-D5B0-DD7D-16D14CC09C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87425" y="3271382"/>
            <a:ext cx="7899400" cy="267658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2:notes">
            <a:extLst>
              <a:ext uri="{FF2B5EF4-FFF2-40B4-BE49-F238E27FC236}">
                <a16:creationId xmlns:a16="http://schemas.microsoft.com/office/drawing/2014/main" id="{98B26679-81F9-6202-E4EF-A956F74B44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281363" y="849313"/>
            <a:ext cx="3311525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955740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9E248071-FF69-B470-C376-84C9A4C8B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:notes">
            <a:extLst>
              <a:ext uri="{FF2B5EF4-FFF2-40B4-BE49-F238E27FC236}">
                <a16:creationId xmlns:a16="http://schemas.microsoft.com/office/drawing/2014/main" id="{B577ECBE-6B23-E1F3-B8E3-58CFD6CAFC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87425" y="3271382"/>
            <a:ext cx="7899400" cy="267658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9" name="Google Shape;119;p2:notes">
            <a:extLst>
              <a:ext uri="{FF2B5EF4-FFF2-40B4-BE49-F238E27FC236}">
                <a16:creationId xmlns:a16="http://schemas.microsoft.com/office/drawing/2014/main" id="{A7A9EBA5-9173-8AEF-4177-14A026DFD5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281363" y="849313"/>
            <a:ext cx="3311525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475655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3509C65C-262E-FBC9-21E3-3D6F7405B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:notes">
            <a:extLst>
              <a:ext uri="{FF2B5EF4-FFF2-40B4-BE49-F238E27FC236}">
                <a16:creationId xmlns:a16="http://schemas.microsoft.com/office/drawing/2014/main" id="{8C4413E4-D71C-0BA0-664E-942EA0F067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87425" y="3271382"/>
            <a:ext cx="7899400" cy="267658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dirty="0"/>
              <a:t>官方的公式仍然有 </a:t>
            </a:r>
            <a:r>
              <a:rPr lang="en-US" altLang="zh-TW" dirty="0"/>
              <a:t>runtime term</a:t>
            </a:r>
            <a:r>
              <a:rPr lang="zh-TW" altLang="en-US" dirty="0"/>
              <a:t>，但本地 </a:t>
            </a:r>
            <a:r>
              <a:rPr lang="en-US" altLang="zh-TW" dirty="0"/>
              <a:t>validation </a:t>
            </a:r>
            <a:r>
              <a:rPr lang="zh-TW" altLang="en-US" dirty="0"/>
              <a:t>因為沒有官方「同一 </a:t>
            </a:r>
            <a:r>
              <a:rPr lang="en-US" altLang="zh-TW" dirty="0"/>
              <a:t>test case </a:t>
            </a:r>
            <a:r>
              <a:rPr lang="zh-TW" altLang="en-US" dirty="0"/>
              <a:t>上所有 </a:t>
            </a:r>
            <a:r>
              <a:rPr lang="en-US" altLang="zh-TW" dirty="0"/>
              <a:t>submission </a:t>
            </a:r>
            <a:r>
              <a:rPr lang="zh-TW" altLang="en-US" dirty="0"/>
              <a:t>的 </a:t>
            </a:r>
            <a:r>
              <a:rPr lang="en-US" altLang="zh-TW" dirty="0"/>
              <a:t>median runtime</a:t>
            </a:r>
            <a:r>
              <a:rPr lang="zh-TW" altLang="en-US" dirty="0"/>
              <a:t>」，所以把 </a:t>
            </a:r>
            <a:r>
              <a:rPr lang="en-US" altLang="zh-TW" dirty="0" err="1"/>
              <a:t>RuntimeFactor</a:t>
            </a:r>
            <a:r>
              <a:rPr lang="en-US" altLang="zh-TW" dirty="0"/>
              <a:t> </a:t>
            </a:r>
            <a:r>
              <a:rPr lang="zh-TW" altLang="en-US" dirty="0"/>
              <a:t>固定成 </a:t>
            </a:r>
            <a:r>
              <a:rPr lang="en-US" altLang="zh-TW" dirty="0"/>
              <a:t>1.0</a:t>
            </a:r>
            <a:r>
              <a:rPr lang="zh-TW" altLang="en-US" dirty="0"/>
              <a:t>，也就是 </a:t>
            </a:r>
            <a:r>
              <a:rPr lang="en-US" altLang="zh-TW" dirty="0"/>
              <a:t>neutral runtime</a:t>
            </a:r>
            <a:br>
              <a:rPr lang="en-US" dirty="0"/>
            </a:br>
            <a:r>
              <a:rPr lang="en-US" dirty="0"/>
              <a:t>v9 </a:t>
            </a:r>
            <a:r>
              <a:rPr lang="zh-TW" altLang="en-US" dirty="0"/>
              <a:t>時比較容易誤以為最後幾個大 </a:t>
            </a:r>
            <a:r>
              <a:rPr lang="en-US" dirty="0"/>
              <a:t>case </a:t>
            </a:r>
            <a:r>
              <a:rPr lang="zh-TW" altLang="en-US" dirty="0"/>
              <a:t>完全主導分數，但 </a:t>
            </a:r>
            <a:r>
              <a:rPr lang="en-US" dirty="0"/>
              <a:t>v10 </a:t>
            </a:r>
            <a:r>
              <a:rPr lang="zh-TW" altLang="en-US" dirty="0"/>
              <a:t>的 </a:t>
            </a:r>
            <a:r>
              <a:rPr lang="en-US" dirty="0"/>
              <a:t>weighting </a:t>
            </a:r>
            <a:r>
              <a:rPr lang="zh-TW" altLang="en-US" dirty="0"/>
              <a:t>讓整體 </a:t>
            </a:r>
            <a:r>
              <a:rPr lang="en-US" dirty="0"/>
              <a:t>validation </a:t>
            </a:r>
            <a:r>
              <a:rPr lang="zh-TW" altLang="en-US" dirty="0"/>
              <a:t>更重要</a:t>
            </a:r>
            <a:br>
              <a:rPr lang="en-US" altLang="zh-TW" dirty="0"/>
            </a:br>
            <a:r>
              <a:rPr lang="zh-TW" altLang="en-US" dirty="0"/>
              <a:t>因為權重是 </a:t>
            </a:r>
            <a:r>
              <a:rPr lang="en-US" altLang="zh-TW" dirty="0"/>
              <a:t>exponential</a:t>
            </a:r>
            <a:r>
              <a:rPr lang="zh-TW" altLang="en-US" dirty="0"/>
              <a:t>，所以 </a:t>
            </a:r>
            <a:r>
              <a:rPr lang="en-US" altLang="zh-TW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120-block case</a:t>
            </a:r>
            <a:r>
              <a:rPr lang="en-US" altLang="zh-TW" dirty="0"/>
              <a:t> </a:t>
            </a:r>
            <a:r>
              <a:rPr lang="zh-TW" altLang="en-US" dirty="0"/>
              <a:t>的權重最大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dirty="0"/>
              <a:t>如果剛好每個 </a:t>
            </a:r>
            <a:r>
              <a:rPr lang="en-US" altLang="zh-TW" dirty="0"/>
              <a:t>size 21 </a:t>
            </a:r>
            <a:r>
              <a:rPr lang="zh-TW" altLang="en-US" dirty="0"/>
              <a:t>到 </a:t>
            </a:r>
            <a:r>
              <a:rPr lang="en-US" altLang="zh-TW" dirty="0"/>
              <a:t>120</a:t>
            </a:r>
            <a:r>
              <a:rPr lang="zh-TW" altLang="en-US" dirty="0"/>
              <a:t>各一個 </a:t>
            </a:r>
            <a:r>
              <a:rPr lang="en-US" altLang="zh-TW" dirty="0"/>
              <a:t>case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dirty="0"/>
              <a:t>120-block case weight ≈ 63.2%</a:t>
            </a:r>
            <a:br>
              <a:rPr lang="en-US" altLang="zh-TW" dirty="0"/>
            </a:br>
            <a:r>
              <a:rPr lang="en-US" altLang="zh-TW" dirty="0"/>
              <a:t>119-block case weight ≈ 23.3%</a:t>
            </a:r>
            <a:br>
              <a:rPr lang="en-US" altLang="zh-TW" dirty="0"/>
            </a:br>
            <a:r>
              <a:rPr lang="en-US" altLang="zh-TW" dirty="0"/>
              <a:t>118-block case weight ≈ 8.6%</a:t>
            </a:r>
            <a:br>
              <a:rPr lang="en-US" altLang="zh-TW" dirty="0"/>
            </a:br>
            <a:r>
              <a:rPr lang="en-US" altLang="zh-TW" dirty="0"/>
              <a:t>Top 5 largest cases together ≈ 99.3%</a:t>
            </a:r>
            <a:r>
              <a:rPr lang="zh-TW" altLang="en-US" dirty="0"/>
              <a:t>個 </a:t>
            </a:r>
            <a:r>
              <a:rPr lang="en-US" altLang="zh-TW" dirty="0"/>
              <a:t>case</a:t>
            </a:r>
          </a:p>
        </p:txBody>
      </p:sp>
      <p:sp>
        <p:nvSpPr>
          <p:cNvPr id="119" name="Google Shape;119;p2:notes">
            <a:extLst>
              <a:ext uri="{FF2B5EF4-FFF2-40B4-BE49-F238E27FC236}">
                <a16:creationId xmlns:a16="http://schemas.microsoft.com/office/drawing/2014/main" id="{E7941F65-4665-0FDD-86BC-5AA3FFFDD7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281363" y="849313"/>
            <a:ext cx="3311525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504615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C857A2DC-6B0C-88C2-ADB6-5020163F5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:notes">
            <a:extLst>
              <a:ext uri="{FF2B5EF4-FFF2-40B4-BE49-F238E27FC236}">
                <a16:creationId xmlns:a16="http://schemas.microsoft.com/office/drawing/2014/main" id="{74736931-47DA-9278-21CC-E3F23BA263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87425" y="3271382"/>
            <a:ext cx="7899400" cy="267658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119" name="Google Shape;119;p2:notes">
            <a:extLst>
              <a:ext uri="{FF2B5EF4-FFF2-40B4-BE49-F238E27FC236}">
                <a16:creationId xmlns:a16="http://schemas.microsoft.com/office/drawing/2014/main" id="{135986F7-6229-21CF-FEAA-4AD515D28D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281363" y="849313"/>
            <a:ext cx="3311525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471964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56D0EDF0-DEEA-9197-6FD2-46D9D06D4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:notes">
            <a:extLst>
              <a:ext uri="{FF2B5EF4-FFF2-40B4-BE49-F238E27FC236}">
                <a16:creationId xmlns:a16="http://schemas.microsoft.com/office/drawing/2014/main" id="{41C50F58-DBC5-1105-2B1D-492F0BCDBB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87425" y="3271382"/>
            <a:ext cx="7899400" cy="267658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Learning-based EDA </a:t>
            </a:r>
            <a:r>
              <a:rPr lang="zh-TW" altLang="en-US" dirty="0"/>
              <a:t>則常用 </a:t>
            </a:r>
            <a:r>
              <a:rPr lang="en-US" dirty="0"/>
              <a:t>GNN </a:t>
            </a:r>
            <a:r>
              <a:rPr lang="zh-TW" altLang="en-US" dirty="0"/>
              <a:t>來理解 </a:t>
            </a:r>
            <a:r>
              <a:rPr lang="en-US" dirty="0"/>
              <a:t>netlist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dirty="0"/>
              <a:t>比純 </a:t>
            </a:r>
            <a:r>
              <a:rPr lang="en-US" dirty="0"/>
              <a:t>neural output </a:t>
            </a:r>
            <a:r>
              <a:rPr lang="zh-TW" altLang="en-US" dirty="0"/>
              <a:t>更穩定，也比純 </a:t>
            </a:r>
            <a:r>
              <a:rPr lang="en-US" dirty="0"/>
              <a:t>heuristic </a:t>
            </a:r>
            <a:r>
              <a:rPr lang="zh-TW" altLang="en-US" dirty="0"/>
              <a:t>更能利用 </a:t>
            </a:r>
            <a:r>
              <a:rPr lang="en-US" dirty="0"/>
              <a:t>training data</a:t>
            </a:r>
            <a:endParaRPr dirty="0"/>
          </a:p>
        </p:txBody>
      </p:sp>
      <p:sp>
        <p:nvSpPr>
          <p:cNvPr id="119" name="Google Shape;119;p2:notes">
            <a:extLst>
              <a:ext uri="{FF2B5EF4-FFF2-40B4-BE49-F238E27FC236}">
                <a16:creationId xmlns:a16="http://schemas.microsoft.com/office/drawing/2014/main" id="{362E654E-3D8E-DE99-FA5C-1F63DC8860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281363" y="849313"/>
            <a:ext cx="3311525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550360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D219E12A-3693-8892-EAE8-854E58948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:notes">
            <a:extLst>
              <a:ext uri="{FF2B5EF4-FFF2-40B4-BE49-F238E27FC236}">
                <a16:creationId xmlns:a16="http://schemas.microsoft.com/office/drawing/2014/main" id="{E78394BE-49DB-2FA6-08E1-D39C81B017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87425" y="3271382"/>
            <a:ext cx="7899400" cy="267658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119" name="Google Shape;119;p2:notes">
            <a:extLst>
              <a:ext uri="{FF2B5EF4-FFF2-40B4-BE49-F238E27FC236}">
                <a16:creationId xmlns:a16="http://schemas.microsoft.com/office/drawing/2014/main" id="{DB19551C-AC13-4C5E-D11F-E446F2C565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281363" y="849313"/>
            <a:ext cx="3311525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468966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2AB1A56A-7315-FA18-8EC8-23CD46603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:notes">
            <a:extLst>
              <a:ext uri="{FF2B5EF4-FFF2-40B4-BE49-F238E27FC236}">
                <a16:creationId xmlns:a16="http://schemas.microsoft.com/office/drawing/2014/main" id="{5950D95D-316D-456D-8095-ED036985EA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87425" y="3271382"/>
            <a:ext cx="7899400" cy="267658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zh-TW" dirty="0"/>
              <a:t>hard-legal</a:t>
            </a:r>
            <a:r>
              <a:rPr lang="en-US" altLang="zh-TW" dirty="0"/>
              <a:t>, </a:t>
            </a:r>
            <a:r>
              <a:rPr lang="zh-TW" altLang="zh-TW" dirty="0"/>
              <a:t>proxy cost 低</a:t>
            </a:r>
            <a:r>
              <a:rPr lang="en-US" altLang="zh-TW" dirty="0"/>
              <a:t>, </a:t>
            </a:r>
            <a:r>
              <a:rPr lang="zh-TW" altLang="zh-TW" dirty="0"/>
              <a:t>soft violations 少</a:t>
            </a:r>
            <a:r>
              <a:rPr lang="en-US" altLang="zh-TW" dirty="0"/>
              <a:t>, </a:t>
            </a:r>
            <a:r>
              <a:rPr lang="zh-TW" altLang="zh-TW" dirty="0"/>
              <a:t>HPWL proxy 和 bbox area 好</a:t>
            </a:r>
            <a:br>
              <a:rPr lang="en-US" altLang="zh-TW" dirty="0"/>
            </a:br>
            <a:r>
              <a:rPr lang="zh-TW" altLang="zh-TW" dirty="0"/>
              <a:t>model 提供方向，solver 負責裁判</a:t>
            </a:r>
            <a:endParaRPr dirty="0"/>
          </a:p>
        </p:txBody>
      </p:sp>
      <p:sp>
        <p:nvSpPr>
          <p:cNvPr id="119" name="Google Shape;119;p2:notes">
            <a:extLst>
              <a:ext uri="{FF2B5EF4-FFF2-40B4-BE49-F238E27FC236}">
                <a16:creationId xmlns:a16="http://schemas.microsoft.com/office/drawing/2014/main" id="{828A277A-C113-4A68-7684-F9FD0B7286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281363" y="849313"/>
            <a:ext cx="3311525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961251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3B023DEE-BC13-898E-2419-54573F034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:notes">
            <a:extLst>
              <a:ext uri="{FF2B5EF4-FFF2-40B4-BE49-F238E27FC236}">
                <a16:creationId xmlns:a16="http://schemas.microsoft.com/office/drawing/2014/main" id="{871F98F4-0C77-C284-50B1-9192372A3E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87425" y="3271382"/>
            <a:ext cx="7899400" cy="267658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GNN </a:t>
            </a:r>
            <a:r>
              <a:rPr lang="zh-TW" altLang="en-US" dirty="0"/>
              <a:t>證明 </a:t>
            </a:r>
            <a:r>
              <a:rPr lang="en-US" dirty="0"/>
              <a:t>learned guidance </a:t>
            </a:r>
            <a:r>
              <a:rPr lang="zh-TW" altLang="en-US" dirty="0"/>
              <a:t>有用，但 </a:t>
            </a:r>
            <a:r>
              <a:rPr lang="en-US" dirty="0"/>
              <a:t>context </a:t>
            </a:r>
            <a:r>
              <a:rPr lang="zh-TW" altLang="en-US" dirty="0"/>
              <a:t>不夠；</a:t>
            </a:r>
            <a:r>
              <a:rPr lang="en-US" dirty="0"/>
              <a:t>Graph Transformer </a:t>
            </a:r>
            <a:r>
              <a:rPr lang="zh-TW" altLang="en-US" dirty="0"/>
              <a:t>讓 </a:t>
            </a:r>
            <a:r>
              <a:rPr lang="en-US" dirty="0"/>
              <a:t>representation </a:t>
            </a:r>
            <a:r>
              <a:rPr lang="zh-TW" altLang="en-US" dirty="0"/>
              <a:t>更豐富；</a:t>
            </a:r>
            <a:r>
              <a:rPr lang="en-US" dirty="0"/>
              <a:t>HGT </a:t>
            </a:r>
            <a:r>
              <a:rPr lang="zh-TW" altLang="en-US" dirty="0"/>
              <a:t>嘗試 </a:t>
            </a:r>
            <a:r>
              <a:rPr lang="en-US" dirty="0"/>
              <a:t>typed heterogeneous graph，</a:t>
            </a:r>
            <a:r>
              <a:rPr lang="zh-TW" altLang="en-US" dirty="0"/>
              <a:t>但還不能只靠 </a:t>
            </a:r>
            <a:r>
              <a:rPr lang="en-US" dirty="0"/>
              <a:t>validation loss promotion；v10 control layer </a:t>
            </a:r>
            <a:r>
              <a:rPr lang="zh-TW" altLang="en-US" dirty="0"/>
              <a:t>則讓我們把 </a:t>
            </a:r>
            <a:r>
              <a:rPr lang="en-US" dirty="0"/>
              <a:t>scoring </a:t>
            </a:r>
            <a:r>
              <a:rPr lang="en-US" dirty="0" err="1"/>
              <a:t>policy、runtime、soft</a:t>
            </a:r>
            <a:r>
              <a:rPr lang="en-US" dirty="0"/>
              <a:t> constraints </a:t>
            </a:r>
            <a:r>
              <a:rPr lang="zh-TW" altLang="en-US" dirty="0"/>
              <a:t>的 </a:t>
            </a:r>
            <a:r>
              <a:rPr lang="en-US" dirty="0"/>
              <a:t>trade-off </a:t>
            </a:r>
            <a:r>
              <a:rPr lang="zh-TW" altLang="en-US" dirty="0"/>
              <a:t>放在共同控制層處理</a:t>
            </a:r>
            <a:br>
              <a:rPr lang="en-US" altLang="zh-TW" dirty="0"/>
            </a:br>
            <a:r>
              <a:rPr lang="en-US" altLang="zh-TW" sz="1200" dirty="0"/>
              <a:t>narrow grouping pair bias: </a:t>
            </a:r>
            <a:r>
              <a:rPr lang="zh-TW" altLang="zh-TW" dirty="0"/>
              <a:t>在 relative-order placement 中，如果兩個 block 屬於同一個 cluster/group，而且這個 cluster 有 grouping pressure，且 horizontal/vertical 的排序選擇本來就很接近，它會對 cluster 偏好的方向加一點 bonus</a:t>
            </a:r>
            <a:endParaRPr dirty="0"/>
          </a:p>
        </p:txBody>
      </p:sp>
      <p:sp>
        <p:nvSpPr>
          <p:cNvPr id="119" name="Google Shape;119;p2:notes">
            <a:extLst>
              <a:ext uri="{FF2B5EF4-FFF2-40B4-BE49-F238E27FC236}">
                <a16:creationId xmlns:a16="http://schemas.microsoft.com/office/drawing/2014/main" id="{A4E9365F-A7FB-5B6A-C031-B3A8234D31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281363" y="849313"/>
            <a:ext cx="3311525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308439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352202D6-42B6-8957-C69F-C319D71F7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:notes">
            <a:extLst>
              <a:ext uri="{FF2B5EF4-FFF2-40B4-BE49-F238E27FC236}">
                <a16:creationId xmlns:a16="http://schemas.microsoft.com/office/drawing/2014/main" id="{F9EC6528-0673-B488-74C5-4817F2C473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87425" y="3271382"/>
            <a:ext cx="7899400" cy="267658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9" name="Google Shape;119;p2:notes">
            <a:extLst>
              <a:ext uri="{FF2B5EF4-FFF2-40B4-BE49-F238E27FC236}">
                <a16:creationId xmlns:a16="http://schemas.microsoft.com/office/drawing/2014/main" id="{622E268F-6219-29A1-20E9-80EA360BBC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281363" y="849313"/>
            <a:ext cx="3311525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89386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6B225712-C23A-5A77-9FB9-6F2A86347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:notes">
            <a:extLst>
              <a:ext uri="{FF2B5EF4-FFF2-40B4-BE49-F238E27FC236}">
                <a16:creationId xmlns:a16="http://schemas.microsoft.com/office/drawing/2014/main" id="{8959D3AA-348D-6D53-E2D7-D1EDA50BBC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87425" y="3271382"/>
            <a:ext cx="7899400" cy="267658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zh-TW" dirty="0"/>
              <a:t>Shared Problem</a:t>
            </a:r>
            <a:r>
              <a:rPr lang="en-US" altLang="zh-TW" dirty="0"/>
              <a:t>:</a:t>
            </a:r>
            <a:r>
              <a:rPr lang="zh-TW" altLang="zh-TW" dirty="0"/>
              <a:t>共用的問題表示</a:t>
            </a:r>
            <a:r>
              <a:rPr lang="zh-CN" altLang="en-US" dirty="0"/>
              <a:t>，</a:t>
            </a:r>
            <a:r>
              <a:rPr lang="zh-TW" altLang="zh-TW" dirty="0"/>
              <a:t>後面的 graph construction、neural guidance、decoder、repair、ranking 都讀同一份 problem representation</a:t>
            </a:r>
            <a:br>
              <a:rPr lang="en-US" altLang="zh-TW" dirty="0"/>
            </a:br>
            <a:r>
              <a:rPr lang="zh-TW" altLang="zh-TW" dirty="0"/>
              <a:t>Constructive Decoder</a:t>
            </a:r>
            <a:r>
              <a:rPr lang="en-US" altLang="zh-TW" dirty="0"/>
              <a:t>:</a:t>
            </a:r>
            <a:r>
              <a:rPr lang="zh-TW" altLang="zh-TW" dirty="0"/>
              <a:t>把「模型建議」轉成「</a:t>
            </a:r>
            <a:r>
              <a:rPr lang="zh-CN" altLang="en-US" dirty="0"/>
              <a:t>實際初始</a:t>
            </a:r>
            <a:r>
              <a:rPr lang="zh-TW" altLang="zh-TW" dirty="0"/>
              <a:t> placement」</a:t>
            </a:r>
            <a:br>
              <a:rPr lang="en-US" altLang="zh-TW" dirty="0"/>
            </a:br>
            <a:r>
              <a:rPr lang="zh-TW" altLang="zh-TW" dirty="0"/>
              <a:t>Placement Diagnostics</a:t>
            </a:r>
            <a:r>
              <a:rPr lang="en-US" altLang="zh-TW" dirty="0"/>
              <a:t>: </a:t>
            </a:r>
            <a:r>
              <a:rPr lang="zh-TW" altLang="zh-TW" dirty="0"/>
              <a:t>對每個 repaired candidate 計算診斷資訊，例如 wirelength estimate、outline area、soft violation counts。這一步不是再改 placement，而是幫後面的 ranking 判斷哪個 candidate 比較好</a:t>
            </a:r>
            <a:endParaRPr lang="en-US" altLang="zh-TW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zh-TW" dirty="0"/>
              <a:t>Score-Aware Selection</a:t>
            </a:r>
            <a:r>
              <a:rPr lang="en-US" altLang="zh-TW" dirty="0"/>
              <a:t>:</a:t>
            </a:r>
            <a:r>
              <a:rPr lang="zh-TW" altLang="zh-TW" dirty="0"/>
              <a:t>根據 legality 和 quality 指標選出最佳 candidate。排序邏輯大致是：hard legality 優先，接著看 score proxy</a:t>
            </a:r>
            <a:r>
              <a:rPr lang="en-US" altLang="zh-TW" dirty="0"/>
              <a:t> (</a:t>
            </a:r>
            <a:r>
              <a:rPr lang="zh-TW" altLang="zh-TW" dirty="0"/>
              <a:t>bbox area</a:t>
            </a:r>
            <a:r>
              <a:rPr lang="en-US" altLang="zh-TW" dirty="0"/>
              <a:t>, </a:t>
            </a:r>
            <a:r>
              <a:rPr lang="zh-TW" altLang="zh-TW" dirty="0"/>
              <a:t>soft violation relative penalty</a:t>
            </a:r>
            <a:r>
              <a:rPr lang="en-US" altLang="zh-TW" dirty="0"/>
              <a:t>)</a:t>
            </a:r>
            <a:r>
              <a:rPr lang="zh-TW" altLang="zh-TW" dirty="0"/>
              <a:t>，再看 soft penalties，最後用 wirelength / outline area 。這就是「model proposes, solver decides」。</a:t>
            </a:r>
            <a:endParaRPr dirty="0"/>
          </a:p>
        </p:txBody>
      </p:sp>
      <p:sp>
        <p:nvSpPr>
          <p:cNvPr id="119" name="Google Shape;119;p2:notes">
            <a:extLst>
              <a:ext uri="{FF2B5EF4-FFF2-40B4-BE49-F238E27FC236}">
                <a16:creationId xmlns:a16="http://schemas.microsoft.com/office/drawing/2014/main" id="{0FE1A7AC-83C8-FC55-D458-A9B632F199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281363" y="849313"/>
            <a:ext cx="3311525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88125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5892EB25-7980-6826-AE33-D0A64AFF7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:notes">
            <a:extLst>
              <a:ext uri="{FF2B5EF4-FFF2-40B4-BE49-F238E27FC236}">
                <a16:creationId xmlns:a16="http://schemas.microsoft.com/office/drawing/2014/main" id="{0B33F2B6-FFDE-CD48-F444-91EA0C2FFF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87425" y="3271382"/>
            <a:ext cx="7899400" cy="267658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zh-TW" dirty="0"/>
              <a:t>乾淨資料可以直接當 target；dirty </a:t>
            </a:r>
            <a:r>
              <a:rPr lang="zh-TW" altLang="zh-TW"/>
              <a:t>sample 用 </a:t>
            </a:r>
            <a:r>
              <a:rPr lang="zh-TW" altLang="zh-TW" dirty="0"/>
              <a:t>solver/repair 把它修成一個比較合法、比較適合學習的 target，再拿這個修過的結果來監督模型</a:t>
            </a:r>
            <a:endParaRPr dirty="0"/>
          </a:p>
        </p:txBody>
      </p:sp>
      <p:sp>
        <p:nvSpPr>
          <p:cNvPr id="119" name="Google Shape;119;p2:notes">
            <a:extLst>
              <a:ext uri="{FF2B5EF4-FFF2-40B4-BE49-F238E27FC236}">
                <a16:creationId xmlns:a16="http://schemas.microsoft.com/office/drawing/2014/main" id="{7B30546B-13CA-07DA-66D1-934227DDBD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281363" y="849313"/>
            <a:ext cx="3311525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125266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E4861367-23FC-6124-A5AF-72FB8CFB4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:notes">
            <a:extLst>
              <a:ext uri="{FF2B5EF4-FFF2-40B4-BE49-F238E27FC236}">
                <a16:creationId xmlns:a16="http://schemas.microsoft.com/office/drawing/2014/main" id="{42FD2AB0-0CD1-C936-0A40-BACE711DEB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87425" y="3271382"/>
            <a:ext cx="7899400" cy="267658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119" name="Google Shape;119;p2:notes">
            <a:extLst>
              <a:ext uri="{FF2B5EF4-FFF2-40B4-BE49-F238E27FC236}">
                <a16:creationId xmlns:a16="http://schemas.microsoft.com/office/drawing/2014/main" id="{C25CE08F-FDC5-9C39-961F-DD9A5BC231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281363" y="849313"/>
            <a:ext cx="3311525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95892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B75F3DFC-5130-CF4F-A89A-EEFB1E9E1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:notes">
            <a:extLst>
              <a:ext uri="{FF2B5EF4-FFF2-40B4-BE49-F238E27FC236}">
                <a16:creationId xmlns:a16="http://schemas.microsoft.com/office/drawing/2014/main" id="{7AD66D64-72EE-2165-0C02-097B863006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87425" y="3271382"/>
            <a:ext cx="7899400" cy="267658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2:notes">
            <a:extLst>
              <a:ext uri="{FF2B5EF4-FFF2-40B4-BE49-F238E27FC236}">
                <a16:creationId xmlns:a16="http://schemas.microsoft.com/office/drawing/2014/main" id="{FDD8FED3-037F-5827-8D42-4216779EF4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281363" y="849313"/>
            <a:ext cx="3311525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110464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36174AD8-D139-52B3-1D90-EC101C535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:notes">
            <a:extLst>
              <a:ext uri="{FF2B5EF4-FFF2-40B4-BE49-F238E27FC236}">
                <a16:creationId xmlns:a16="http://schemas.microsoft.com/office/drawing/2014/main" id="{8AFC3716-1797-6E09-01FC-761108BDA2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87425" y="3271382"/>
            <a:ext cx="7899400" cy="267658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dirty="0"/>
              <a:t>anchor: </a:t>
            </a:r>
            <a:r>
              <a:rPr lang="zh-TW" altLang="zh-TW" dirty="0"/>
              <a:t>預測中心點</a:t>
            </a:r>
            <a:endParaRPr lang="en-US" altLang="zh-TW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dirty="0"/>
              <a:t>priority: ordering and placement priority-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dirty="0" err="1"/>
              <a:t>log_aspect</a:t>
            </a:r>
            <a:r>
              <a:rPr lang="en-US" altLang="zh-TW" dirty="0"/>
              <a:t>: shape preference for soft blocks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dirty="0" err="1"/>
              <a:t>pair_logits</a:t>
            </a:r>
            <a:r>
              <a:rPr lang="en-US" altLang="zh-TW" dirty="0"/>
              <a:t>: pairwise horizontal / vertical relation hints</a:t>
            </a:r>
          </a:p>
        </p:txBody>
      </p:sp>
      <p:sp>
        <p:nvSpPr>
          <p:cNvPr id="119" name="Google Shape;119;p2:notes">
            <a:extLst>
              <a:ext uri="{FF2B5EF4-FFF2-40B4-BE49-F238E27FC236}">
                <a16:creationId xmlns:a16="http://schemas.microsoft.com/office/drawing/2014/main" id="{015E60FF-8094-F41A-CF33-1C815B4DAB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281363" y="849313"/>
            <a:ext cx="3311525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5769443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AAE47177-4F52-E19D-A988-031395F86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:notes">
            <a:extLst>
              <a:ext uri="{FF2B5EF4-FFF2-40B4-BE49-F238E27FC236}">
                <a16:creationId xmlns:a16="http://schemas.microsoft.com/office/drawing/2014/main" id="{DD7CAE39-FAF5-A6ED-4DF2-B35553BC90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87425" y="3271382"/>
            <a:ext cx="7899400" cy="267658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9" name="Google Shape;119;p2:notes">
            <a:extLst>
              <a:ext uri="{FF2B5EF4-FFF2-40B4-BE49-F238E27FC236}">
                <a16:creationId xmlns:a16="http://schemas.microsoft.com/office/drawing/2014/main" id="{AA3F95C9-8C2B-2832-15D7-174FD93F45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281363" y="849313"/>
            <a:ext cx="3311525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5636577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3CC94A36-B495-A475-855E-29B802495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:notes">
            <a:extLst>
              <a:ext uri="{FF2B5EF4-FFF2-40B4-BE49-F238E27FC236}">
                <a16:creationId xmlns:a16="http://schemas.microsoft.com/office/drawing/2014/main" id="{CEBAE9A9-BA8B-91B4-4DA3-8537F578FC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87425" y="3271382"/>
            <a:ext cx="7899400" cy="267658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2:notes">
            <a:extLst>
              <a:ext uri="{FF2B5EF4-FFF2-40B4-BE49-F238E27FC236}">
                <a16:creationId xmlns:a16="http://schemas.microsoft.com/office/drawing/2014/main" id="{626C372C-7558-6257-E836-9DFFA8916E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281363" y="849313"/>
            <a:ext cx="3311525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8465333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D24F7ACE-3076-2CAF-A534-D572248A7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:notes">
            <a:extLst>
              <a:ext uri="{FF2B5EF4-FFF2-40B4-BE49-F238E27FC236}">
                <a16:creationId xmlns:a16="http://schemas.microsoft.com/office/drawing/2014/main" id="{A00D6BD2-BA19-1EDF-FF6A-12A91FBC76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87425" y="3271382"/>
            <a:ext cx="7899400" cy="267658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119" name="Google Shape;119;p2:notes">
            <a:extLst>
              <a:ext uri="{FF2B5EF4-FFF2-40B4-BE49-F238E27FC236}">
                <a16:creationId xmlns:a16="http://schemas.microsoft.com/office/drawing/2014/main" id="{26883E9C-AB6F-EA34-E68B-32F36EE2AE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281363" y="849313"/>
            <a:ext cx="3311525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9217456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8AE61102-8C13-2C4C-3095-36D251BB5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:notes">
            <a:extLst>
              <a:ext uri="{FF2B5EF4-FFF2-40B4-BE49-F238E27FC236}">
                <a16:creationId xmlns:a16="http://schemas.microsoft.com/office/drawing/2014/main" id="{4E668086-FE3D-0812-2A6F-6EFD6422A1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87425" y="3271382"/>
            <a:ext cx="7899400" cy="267658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9" name="Google Shape;119;p2:notes">
            <a:extLst>
              <a:ext uri="{FF2B5EF4-FFF2-40B4-BE49-F238E27FC236}">
                <a16:creationId xmlns:a16="http://schemas.microsoft.com/office/drawing/2014/main" id="{47FC631B-4FCA-B185-8085-046A613650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281363" y="849313"/>
            <a:ext cx="3311525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1809484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F5C7AACE-D293-1395-2CD0-302DC0F9F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:notes">
            <a:extLst>
              <a:ext uri="{FF2B5EF4-FFF2-40B4-BE49-F238E27FC236}">
                <a16:creationId xmlns:a16="http://schemas.microsoft.com/office/drawing/2014/main" id="{C35C576C-17F3-5263-C9D5-4722EFD248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87425" y="3271382"/>
            <a:ext cx="7899400" cy="267658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9" name="Google Shape;119;p2:notes">
            <a:extLst>
              <a:ext uri="{FF2B5EF4-FFF2-40B4-BE49-F238E27FC236}">
                <a16:creationId xmlns:a16="http://schemas.microsoft.com/office/drawing/2014/main" id="{A7048E70-9AB7-CD47-F82E-7AE2EBD0C6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281363" y="849313"/>
            <a:ext cx="3311525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2903624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4DFCDD82-21CF-9A16-5DC3-CD4AD3065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:notes">
            <a:extLst>
              <a:ext uri="{FF2B5EF4-FFF2-40B4-BE49-F238E27FC236}">
                <a16:creationId xmlns:a16="http://schemas.microsoft.com/office/drawing/2014/main" id="{342F4C2A-300E-F91D-2F46-4149536A13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87425" y="3271382"/>
            <a:ext cx="7899400" cy="267658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9" name="Google Shape;119;p2:notes">
            <a:extLst>
              <a:ext uri="{FF2B5EF4-FFF2-40B4-BE49-F238E27FC236}">
                <a16:creationId xmlns:a16="http://schemas.microsoft.com/office/drawing/2014/main" id="{DF1D50C7-A81A-A9EF-1819-38BEBE7FF5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281363" y="849313"/>
            <a:ext cx="3311525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2269559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1FC0DDEA-D1E0-7599-2145-ED0550ECD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:notes">
            <a:extLst>
              <a:ext uri="{FF2B5EF4-FFF2-40B4-BE49-F238E27FC236}">
                <a16:creationId xmlns:a16="http://schemas.microsoft.com/office/drawing/2014/main" id="{46485012-0781-82AA-A2A5-9031399621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87425" y="3271382"/>
            <a:ext cx="7899400" cy="267658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9" name="Google Shape;119;p2:notes">
            <a:extLst>
              <a:ext uri="{FF2B5EF4-FFF2-40B4-BE49-F238E27FC236}">
                <a16:creationId xmlns:a16="http://schemas.microsoft.com/office/drawing/2014/main" id="{FE49CBE9-977C-1AE5-496E-577518EC7B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281363" y="849313"/>
            <a:ext cx="3311525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1996695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DAD3B473-5608-BD27-C50A-012055C4B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:notes">
            <a:extLst>
              <a:ext uri="{FF2B5EF4-FFF2-40B4-BE49-F238E27FC236}">
                <a16:creationId xmlns:a16="http://schemas.microsoft.com/office/drawing/2014/main" id="{23442408-815E-0C87-DE4A-B76922A818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87425" y="3271382"/>
            <a:ext cx="7899400" cy="267658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9" name="Google Shape;119;p2:notes">
            <a:extLst>
              <a:ext uri="{FF2B5EF4-FFF2-40B4-BE49-F238E27FC236}">
                <a16:creationId xmlns:a16="http://schemas.microsoft.com/office/drawing/2014/main" id="{AA4136B9-09F1-AD76-9CE1-04F2F85645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281363" y="849313"/>
            <a:ext cx="3311525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6797434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AD7AA62B-9BC3-63BC-3AD4-5830DD586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:notes">
            <a:extLst>
              <a:ext uri="{FF2B5EF4-FFF2-40B4-BE49-F238E27FC236}">
                <a16:creationId xmlns:a16="http://schemas.microsoft.com/office/drawing/2014/main" id="{B1B7A5F0-E401-8044-A759-06FE7F67A0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87425" y="3271382"/>
            <a:ext cx="7899400" cy="267658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9" name="Google Shape;119;p2:notes">
            <a:extLst>
              <a:ext uri="{FF2B5EF4-FFF2-40B4-BE49-F238E27FC236}">
                <a16:creationId xmlns:a16="http://schemas.microsoft.com/office/drawing/2014/main" id="{EC95C635-50B3-A616-646C-E24D2E6444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281363" y="849313"/>
            <a:ext cx="3311525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6498460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8EBC3159-11AD-4CED-70B8-EC27267E1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:notes">
            <a:extLst>
              <a:ext uri="{FF2B5EF4-FFF2-40B4-BE49-F238E27FC236}">
                <a16:creationId xmlns:a16="http://schemas.microsoft.com/office/drawing/2014/main" id="{3C9FBA5D-1E91-33DD-1D4E-99AFBD43BD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87425" y="3271382"/>
            <a:ext cx="7899400" cy="267658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119" name="Google Shape;119;p2:notes">
            <a:extLst>
              <a:ext uri="{FF2B5EF4-FFF2-40B4-BE49-F238E27FC236}">
                <a16:creationId xmlns:a16="http://schemas.microsoft.com/office/drawing/2014/main" id="{3BB3BDA2-7B3B-D612-9F5D-80A53EB7B2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281363" y="849313"/>
            <a:ext cx="3311525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2272281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6A54B57A-E0A3-904D-7673-95DF9CE0F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:notes">
            <a:extLst>
              <a:ext uri="{FF2B5EF4-FFF2-40B4-BE49-F238E27FC236}">
                <a16:creationId xmlns:a16="http://schemas.microsoft.com/office/drawing/2014/main" id="{5C871AEE-CFE7-2157-091D-340D7D0E62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87425" y="3271382"/>
            <a:ext cx="7899400" cy="267658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9" name="Google Shape;119;p2:notes">
            <a:extLst>
              <a:ext uri="{FF2B5EF4-FFF2-40B4-BE49-F238E27FC236}">
                <a16:creationId xmlns:a16="http://schemas.microsoft.com/office/drawing/2014/main" id="{7B73AF6B-92EC-8225-39A2-29DF70FC8F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281363" y="849313"/>
            <a:ext cx="3311525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2212184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04B275F6-1274-9716-80BC-7379F602E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:notes">
            <a:extLst>
              <a:ext uri="{FF2B5EF4-FFF2-40B4-BE49-F238E27FC236}">
                <a16:creationId xmlns:a16="http://schemas.microsoft.com/office/drawing/2014/main" id="{208A9253-2461-8507-92AC-7408D43816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87425" y="3271382"/>
            <a:ext cx="7899400" cy="267658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119" name="Google Shape;119;p2:notes">
            <a:extLst>
              <a:ext uri="{FF2B5EF4-FFF2-40B4-BE49-F238E27FC236}">
                <a16:creationId xmlns:a16="http://schemas.microsoft.com/office/drawing/2014/main" id="{EF9084D5-E73E-8554-E89B-AC97CCC8B1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281363" y="849313"/>
            <a:ext cx="3311525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8685164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DB9F5E22-B9EB-3692-F12F-95F07E79F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:notes">
            <a:extLst>
              <a:ext uri="{FF2B5EF4-FFF2-40B4-BE49-F238E27FC236}">
                <a16:creationId xmlns:a16="http://schemas.microsoft.com/office/drawing/2014/main" id="{7E2E5F57-DC6B-22D1-CD24-7765603E79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87425" y="3271382"/>
            <a:ext cx="7899400" cy="267658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2:notes">
            <a:extLst>
              <a:ext uri="{FF2B5EF4-FFF2-40B4-BE49-F238E27FC236}">
                <a16:creationId xmlns:a16="http://schemas.microsoft.com/office/drawing/2014/main" id="{F1217D29-662C-5D3A-1CA5-54F47328EB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281363" y="849313"/>
            <a:ext cx="3311525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9570590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B3285C29-86E8-5386-A641-565474A3A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:notes">
            <a:extLst>
              <a:ext uri="{FF2B5EF4-FFF2-40B4-BE49-F238E27FC236}">
                <a16:creationId xmlns:a16="http://schemas.microsoft.com/office/drawing/2014/main" id="{56DBC795-ECE5-CD23-F8E8-4E93D08B80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87425" y="3271382"/>
            <a:ext cx="7899400" cy="267658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2:notes">
            <a:extLst>
              <a:ext uri="{FF2B5EF4-FFF2-40B4-BE49-F238E27FC236}">
                <a16:creationId xmlns:a16="http://schemas.microsoft.com/office/drawing/2014/main" id="{85167265-CFAA-7BC9-DA4A-1BAAC87031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281363" y="849313"/>
            <a:ext cx="3311525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946145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"/>
          <p:cNvSpPr txBox="1">
            <a:spLocks noGrp="1"/>
          </p:cNvSpPr>
          <p:nvPr>
            <p:ph type="ctrTitle"/>
          </p:nvPr>
        </p:nvSpPr>
        <p:spPr>
          <a:xfrm>
            <a:off x="742950" y="2057396"/>
            <a:ext cx="84201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000"/>
              <a:buFont typeface="Arial"/>
              <a:buNone/>
              <a:defRPr sz="4000" b="1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"/>
          <p:cNvSpPr txBox="1">
            <a:spLocks noGrp="1"/>
          </p:cNvSpPr>
          <p:nvPr>
            <p:ph type="subTitle" idx="1"/>
          </p:nvPr>
        </p:nvSpPr>
        <p:spPr>
          <a:xfrm>
            <a:off x="1485900" y="3992202"/>
            <a:ext cx="69342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341"/>
              </a:spcBef>
              <a:spcAft>
                <a:spcPts val="0"/>
              </a:spcAft>
              <a:buClr>
                <a:srgbClr val="888888"/>
              </a:buClr>
              <a:buSzPts val="1706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292"/>
              </a:spcBef>
              <a:spcAft>
                <a:spcPts val="0"/>
              </a:spcAft>
              <a:buClr>
                <a:srgbClr val="888888"/>
              </a:buClr>
              <a:buSzPts val="1462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44"/>
              </a:spcBef>
              <a:spcAft>
                <a:spcPts val="0"/>
              </a:spcAft>
              <a:buClr>
                <a:srgbClr val="888888"/>
              </a:buClr>
              <a:buSzPts val="1219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44"/>
              </a:spcBef>
              <a:spcAft>
                <a:spcPts val="0"/>
              </a:spcAft>
              <a:buClr>
                <a:srgbClr val="888888"/>
              </a:buClr>
              <a:buSzPts val="1219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244"/>
              </a:spcBef>
              <a:spcAft>
                <a:spcPts val="0"/>
              </a:spcAft>
              <a:buClr>
                <a:srgbClr val="888888"/>
              </a:buClr>
              <a:buSzPts val="1219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244"/>
              </a:spcBef>
              <a:spcAft>
                <a:spcPts val="0"/>
              </a:spcAft>
              <a:buClr>
                <a:srgbClr val="888888"/>
              </a:buClr>
              <a:buSzPts val="1219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244"/>
              </a:spcBef>
              <a:spcAft>
                <a:spcPts val="0"/>
              </a:spcAft>
              <a:buClr>
                <a:srgbClr val="888888"/>
              </a:buClr>
              <a:buSzPts val="1219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244"/>
              </a:spcBef>
              <a:spcAft>
                <a:spcPts val="0"/>
              </a:spcAft>
              <a:buClr>
                <a:srgbClr val="888888"/>
              </a:buClr>
              <a:buSzPts val="1219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2"/>
          <p:cNvSpPr txBox="1">
            <a:spLocks noGrp="1"/>
          </p:cNvSpPr>
          <p:nvPr>
            <p:ph type="dt" idx="10"/>
          </p:nvPr>
        </p:nvSpPr>
        <p:spPr>
          <a:xfrm>
            <a:off x="309530" y="6572272"/>
            <a:ext cx="1083476" cy="285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"/>
          <p:cNvSpPr txBox="1">
            <a:spLocks noGrp="1"/>
          </p:cNvSpPr>
          <p:nvPr>
            <p:ph type="ftr" idx="11"/>
          </p:nvPr>
        </p:nvSpPr>
        <p:spPr>
          <a:xfrm>
            <a:off x="3384550" y="6356357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"/>
          <p:cNvSpPr txBox="1">
            <a:spLocks noGrp="1"/>
          </p:cNvSpPr>
          <p:nvPr>
            <p:ph type="sldNum" idx="12"/>
          </p:nvPr>
        </p:nvSpPr>
        <p:spPr>
          <a:xfrm>
            <a:off x="9395285" y="6565952"/>
            <a:ext cx="433359" cy="29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自訂版面配置">
  <p:cSld name="自訂版面配置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"/>
          <p:cNvSpPr txBox="1">
            <a:spLocks noGrp="1"/>
          </p:cNvSpPr>
          <p:nvPr>
            <p:ph type="body" idx="1"/>
          </p:nvPr>
        </p:nvSpPr>
        <p:spPr>
          <a:xfrm>
            <a:off x="495300" y="1600206"/>
            <a:ext cx="89154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1437" algn="l">
              <a:lnSpc>
                <a:spcPct val="100000"/>
              </a:lnSpc>
              <a:spcBef>
                <a:spcPts val="292"/>
              </a:spcBef>
              <a:spcAft>
                <a:spcPts val="0"/>
              </a:spcAft>
              <a:buClr>
                <a:srgbClr val="0070C0"/>
              </a:buClr>
              <a:buSzPts val="1462"/>
              <a:buFont typeface="Noto Sans Symbols"/>
              <a:buChar char="●"/>
              <a:defRPr sz="2400" b="0">
                <a:solidFill>
                  <a:schemeClr val="dk1"/>
                </a:solidFill>
              </a:defRPr>
            </a:lvl1pPr>
            <a:lvl2pPr marL="914400" lvl="1" indent="-282766" algn="l">
              <a:lnSpc>
                <a:spcPct val="100000"/>
              </a:lnSpc>
              <a:spcBef>
                <a:spcPts val="244"/>
              </a:spcBef>
              <a:spcAft>
                <a:spcPts val="0"/>
              </a:spcAft>
              <a:buClr>
                <a:srgbClr val="FF0000"/>
              </a:buClr>
              <a:buSzPts val="853"/>
              <a:buFont typeface="Noto Sans Symbols"/>
              <a:buChar char="■"/>
              <a:defRPr sz="1219"/>
            </a:lvl2pPr>
            <a:lvl3pPr marL="1371600" lvl="2" indent="-284353" algn="l">
              <a:lnSpc>
                <a:spcPct val="100000"/>
              </a:lnSpc>
              <a:spcBef>
                <a:spcPts val="219"/>
              </a:spcBef>
              <a:spcAft>
                <a:spcPts val="0"/>
              </a:spcAft>
              <a:buClr>
                <a:srgbClr val="35DB80"/>
              </a:buClr>
              <a:buSzPts val="878"/>
              <a:buFont typeface="Noto Sans Symbols"/>
              <a:buChar char="◆"/>
              <a:defRPr sz="1097"/>
            </a:lvl3pPr>
            <a:lvl4pPr marL="1828800" lvl="3" indent="-290513" algn="l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>
                <a:srgbClr val="515151"/>
              </a:buClr>
              <a:buSzPts val="975"/>
              <a:buChar char="–"/>
              <a:defRPr sz="975"/>
            </a:lvl4pPr>
            <a:lvl5pPr marL="2286000" lvl="4" indent="-290513" algn="l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>
                <a:srgbClr val="515151"/>
              </a:buClr>
              <a:buSzPts val="975"/>
              <a:buChar char="»"/>
              <a:defRPr sz="975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3"/>
          <p:cNvSpPr txBox="1">
            <a:spLocks noGrp="1"/>
          </p:cNvSpPr>
          <p:nvPr>
            <p:ph type="title"/>
          </p:nvPr>
        </p:nvSpPr>
        <p:spPr>
          <a:xfrm>
            <a:off x="1766659" y="274638"/>
            <a:ext cx="7644043" cy="1308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400"/>
              <a:buFont typeface="Arial"/>
              <a:buNone/>
              <a:defRPr sz="3400" b="1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"/>
          <p:cNvSpPr txBox="1">
            <a:spLocks noGrp="1"/>
          </p:cNvSpPr>
          <p:nvPr>
            <p:ph type="ftr" idx="11"/>
          </p:nvPr>
        </p:nvSpPr>
        <p:spPr>
          <a:xfrm>
            <a:off x="3384550" y="6356357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3"/>
          <p:cNvSpPr txBox="1">
            <a:spLocks noGrp="1"/>
          </p:cNvSpPr>
          <p:nvPr>
            <p:ph type="dt" idx="10"/>
          </p:nvPr>
        </p:nvSpPr>
        <p:spPr>
          <a:xfrm>
            <a:off x="309530" y="6572272"/>
            <a:ext cx="1083476" cy="285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3"/>
          <p:cNvSpPr txBox="1">
            <a:spLocks noGrp="1"/>
          </p:cNvSpPr>
          <p:nvPr>
            <p:ph type="sldNum" idx="12"/>
          </p:nvPr>
        </p:nvSpPr>
        <p:spPr>
          <a:xfrm>
            <a:off x="9395285" y="6565952"/>
            <a:ext cx="433359" cy="29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自訂版面配置">
  <p:cSld name="1_自訂版面配置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"/>
          <p:cNvSpPr txBox="1">
            <a:spLocks noGrp="1"/>
          </p:cNvSpPr>
          <p:nvPr>
            <p:ph type="title"/>
          </p:nvPr>
        </p:nvSpPr>
        <p:spPr>
          <a:xfrm>
            <a:off x="1766659" y="379413"/>
            <a:ext cx="7644043" cy="879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400"/>
              <a:buFont typeface="Arial"/>
              <a:buNone/>
              <a:defRPr sz="3400" b="1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ftr" idx="11"/>
          </p:nvPr>
        </p:nvSpPr>
        <p:spPr>
          <a:xfrm>
            <a:off x="3384550" y="6356357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4"/>
          <p:cNvSpPr txBox="1">
            <a:spLocks noGrp="1"/>
          </p:cNvSpPr>
          <p:nvPr>
            <p:ph type="dt" idx="10"/>
          </p:nvPr>
        </p:nvSpPr>
        <p:spPr>
          <a:xfrm>
            <a:off x="309530" y="6572272"/>
            <a:ext cx="1083476" cy="285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4"/>
          <p:cNvSpPr txBox="1">
            <a:spLocks noGrp="1"/>
          </p:cNvSpPr>
          <p:nvPr>
            <p:ph type="sldNum" idx="12"/>
          </p:nvPr>
        </p:nvSpPr>
        <p:spPr>
          <a:xfrm>
            <a:off x="9395285" y="6565952"/>
            <a:ext cx="433359" cy="29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50" name="Google Shape;50;p4"/>
          <p:cNvSpPr txBox="1">
            <a:spLocks noGrp="1"/>
          </p:cNvSpPr>
          <p:nvPr>
            <p:ph type="body" idx="1"/>
          </p:nvPr>
        </p:nvSpPr>
        <p:spPr>
          <a:xfrm>
            <a:off x="495300" y="1669214"/>
            <a:ext cx="89154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0070C0"/>
              </a:buClr>
              <a:buSzPts val="2200"/>
              <a:buFont typeface="Arial"/>
              <a:buChar char="•"/>
              <a:defRPr sz="2200">
                <a:solidFill>
                  <a:schemeClr val="dk1"/>
                </a:solidFill>
              </a:defRPr>
            </a:lvl1pPr>
            <a:lvl2pPr marL="914400" lvl="1" indent="-3086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FF0000"/>
              </a:buClr>
              <a:buSzPts val="1260"/>
              <a:buFont typeface="Noto Sans Symbols"/>
              <a:buChar char="■"/>
              <a:defRPr sz="1800"/>
            </a:lvl2pPr>
            <a:lvl3pPr marL="1371600" lvl="2" indent="-30988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35DB80"/>
              </a:buClr>
              <a:buSzPts val="1280"/>
              <a:buFont typeface="Noto Sans Symbols"/>
              <a:buChar char="◆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51515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515151"/>
              </a:buClr>
              <a:buSzPts val="1600"/>
              <a:buChar char="»"/>
              <a:defRPr sz="16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4"/>
          <p:cNvSpPr txBox="1">
            <a:spLocks noGrp="1"/>
          </p:cNvSpPr>
          <p:nvPr>
            <p:ph type="body" idx="2"/>
          </p:nvPr>
        </p:nvSpPr>
        <p:spPr>
          <a:xfrm>
            <a:off x="1766659" y="1140595"/>
            <a:ext cx="7644043" cy="446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51515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51515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51515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51515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51515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52" name="Google Shape;52;p4"/>
          <p:cNvCxnSpPr/>
          <p:nvPr/>
        </p:nvCxnSpPr>
        <p:spPr>
          <a:xfrm>
            <a:off x="1766659" y="1140595"/>
            <a:ext cx="7644043" cy="0"/>
          </a:xfrm>
          <a:prstGeom prst="straightConnector1">
            <a:avLst/>
          </a:prstGeom>
          <a:noFill/>
          <a:ln w="57150" cap="flat" cmpd="tri">
            <a:solidFill>
              <a:srgbClr val="F4F8FB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區段標題" type="secHead">
  <p:cSld name="SECTION_HEADER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"/>
          <p:cNvSpPr txBox="1">
            <a:spLocks noGrp="1"/>
          </p:cNvSpPr>
          <p:nvPr>
            <p:ph type="title"/>
          </p:nvPr>
        </p:nvSpPr>
        <p:spPr>
          <a:xfrm>
            <a:off x="782506" y="4406907"/>
            <a:ext cx="84201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37"/>
              <a:buFont typeface="Arial"/>
              <a:buNone/>
              <a:defRPr sz="2437" b="1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4"/>
              </a:spcBef>
              <a:spcAft>
                <a:spcPts val="0"/>
              </a:spcAft>
              <a:buClr>
                <a:srgbClr val="888888"/>
              </a:buClr>
              <a:buSzPts val="1219"/>
              <a:buNone/>
              <a:defRPr sz="1219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19"/>
              </a:spcBef>
              <a:spcAft>
                <a:spcPts val="0"/>
              </a:spcAft>
              <a:buClr>
                <a:srgbClr val="888888"/>
              </a:buClr>
              <a:buSzPts val="1097"/>
              <a:buNone/>
              <a:defRPr sz="1097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>
                <a:srgbClr val="888888"/>
              </a:buClr>
              <a:buSzPts val="975"/>
              <a:buNone/>
              <a:defRPr sz="975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71"/>
              </a:spcBef>
              <a:spcAft>
                <a:spcPts val="0"/>
              </a:spcAft>
              <a:buClr>
                <a:srgbClr val="888888"/>
              </a:buClr>
              <a:buSzPts val="854"/>
              <a:buNone/>
              <a:defRPr sz="854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171"/>
              </a:spcBef>
              <a:spcAft>
                <a:spcPts val="0"/>
              </a:spcAft>
              <a:buClr>
                <a:srgbClr val="888888"/>
              </a:buClr>
              <a:buSzPts val="854"/>
              <a:buNone/>
              <a:defRPr sz="854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171"/>
              </a:spcBef>
              <a:spcAft>
                <a:spcPts val="0"/>
              </a:spcAft>
              <a:buClr>
                <a:srgbClr val="888888"/>
              </a:buClr>
              <a:buSzPts val="854"/>
              <a:buNone/>
              <a:defRPr sz="854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171"/>
              </a:spcBef>
              <a:spcAft>
                <a:spcPts val="0"/>
              </a:spcAft>
              <a:buClr>
                <a:srgbClr val="888888"/>
              </a:buClr>
              <a:buSzPts val="854"/>
              <a:buNone/>
              <a:defRPr sz="854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171"/>
              </a:spcBef>
              <a:spcAft>
                <a:spcPts val="0"/>
              </a:spcAft>
              <a:buClr>
                <a:srgbClr val="888888"/>
              </a:buClr>
              <a:buSzPts val="854"/>
              <a:buNone/>
              <a:defRPr sz="854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171"/>
              </a:spcBef>
              <a:spcAft>
                <a:spcPts val="0"/>
              </a:spcAft>
              <a:buClr>
                <a:srgbClr val="888888"/>
              </a:buClr>
              <a:buSzPts val="854"/>
              <a:buNone/>
              <a:defRPr sz="854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56" name="Google Shape;56;p5"/>
          <p:cNvSpPr txBox="1">
            <a:spLocks noGrp="1"/>
          </p:cNvSpPr>
          <p:nvPr>
            <p:ph type="dt" idx="10"/>
          </p:nvPr>
        </p:nvSpPr>
        <p:spPr>
          <a:xfrm>
            <a:off x="309530" y="6572272"/>
            <a:ext cx="1083476" cy="285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5"/>
          <p:cNvSpPr txBox="1">
            <a:spLocks noGrp="1"/>
          </p:cNvSpPr>
          <p:nvPr>
            <p:ph type="ftr" idx="11"/>
          </p:nvPr>
        </p:nvSpPr>
        <p:spPr>
          <a:xfrm>
            <a:off x="3384550" y="6356357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5"/>
          <p:cNvSpPr txBox="1">
            <a:spLocks noGrp="1"/>
          </p:cNvSpPr>
          <p:nvPr>
            <p:ph type="sldNum" idx="12"/>
          </p:nvPr>
        </p:nvSpPr>
        <p:spPr>
          <a:xfrm>
            <a:off x="9395285" y="6565952"/>
            <a:ext cx="433359" cy="29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兩項物件" type="twoObj">
  <p:cSld name="TWO_OBJECTS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1766659" y="274638"/>
            <a:ext cx="7644043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400"/>
              <a:buFont typeface="Arial"/>
              <a:buNone/>
              <a:defRPr sz="34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body" idx="1"/>
          </p:nvPr>
        </p:nvSpPr>
        <p:spPr>
          <a:xfrm>
            <a:off x="495300" y="1600206"/>
            <a:ext cx="437515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6931" algn="l">
              <a:lnSpc>
                <a:spcPct val="100000"/>
              </a:lnSpc>
              <a:spcBef>
                <a:spcPts val="341"/>
              </a:spcBef>
              <a:spcAft>
                <a:spcPts val="0"/>
              </a:spcAft>
              <a:buClr>
                <a:srgbClr val="515151"/>
              </a:buClr>
              <a:buSzPts val="1706"/>
              <a:buChar char="•"/>
              <a:defRPr sz="1706"/>
            </a:lvl1pPr>
            <a:lvl2pPr marL="914400" lvl="1" indent="-321437" algn="l">
              <a:lnSpc>
                <a:spcPct val="100000"/>
              </a:lnSpc>
              <a:spcBef>
                <a:spcPts val="292"/>
              </a:spcBef>
              <a:spcAft>
                <a:spcPts val="0"/>
              </a:spcAft>
              <a:buClr>
                <a:srgbClr val="515151"/>
              </a:buClr>
              <a:buSzPts val="1462"/>
              <a:buChar char="–"/>
              <a:defRPr sz="1462"/>
            </a:lvl2pPr>
            <a:lvl3pPr marL="1371600" lvl="2" indent="-306007" algn="l">
              <a:lnSpc>
                <a:spcPct val="100000"/>
              </a:lnSpc>
              <a:spcBef>
                <a:spcPts val="244"/>
              </a:spcBef>
              <a:spcAft>
                <a:spcPts val="0"/>
              </a:spcAft>
              <a:buClr>
                <a:srgbClr val="515151"/>
              </a:buClr>
              <a:buSzPts val="1219"/>
              <a:buChar char="•"/>
              <a:defRPr sz="1219"/>
            </a:lvl3pPr>
            <a:lvl4pPr marL="1828800" lvl="3" indent="-298260" algn="l">
              <a:lnSpc>
                <a:spcPct val="100000"/>
              </a:lnSpc>
              <a:spcBef>
                <a:spcPts val="219"/>
              </a:spcBef>
              <a:spcAft>
                <a:spcPts val="0"/>
              </a:spcAft>
              <a:buClr>
                <a:srgbClr val="515151"/>
              </a:buClr>
              <a:buSzPts val="1097"/>
              <a:buChar char="–"/>
              <a:defRPr sz="1097"/>
            </a:lvl4pPr>
            <a:lvl5pPr marL="2286000" lvl="4" indent="-298260" algn="l">
              <a:lnSpc>
                <a:spcPct val="100000"/>
              </a:lnSpc>
              <a:spcBef>
                <a:spcPts val="219"/>
              </a:spcBef>
              <a:spcAft>
                <a:spcPts val="0"/>
              </a:spcAft>
              <a:buClr>
                <a:srgbClr val="515151"/>
              </a:buClr>
              <a:buSzPts val="1097"/>
              <a:buChar char="»"/>
              <a:defRPr sz="1097"/>
            </a:lvl5pPr>
            <a:lvl6pPr marL="2743200" lvl="5" indent="-298260" algn="l">
              <a:lnSpc>
                <a:spcPct val="100000"/>
              </a:lnSpc>
              <a:spcBef>
                <a:spcPts val="219"/>
              </a:spcBef>
              <a:spcAft>
                <a:spcPts val="0"/>
              </a:spcAft>
              <a:buClr>
                <a:schemeClr val="dk1"/>
              </a:buClr>
              <a:buSzPts val="1097"/>
              <a:buChar char="•"/>
              <a:defRPr sz="1097"/>
            </a:lvl6pPr>
            <a:lvl7pPr marL="3200400" lvl="6" indent="-298260" algn="l">
              <a:lnSpc>
                <a:spcPct val="100000"/>
              </a:lnSpc>
              <a:spcBef>
                <a:spcPts val="219"/>
              </a:spcBef>
              <a:spcAft>
                <a:spcPts val="0"/>
              </a:spcAft>
              <a:buClr>
                <a:schemeClr val="dk1"/>
              </a:buClr>
              <a:buSzPts val="1097"/>
              <a:buChar char="•"/>
              <a:defRPr sz="1097"/>
            </a:lvl7pPr>
            <a:lvl8pPr marL="3657600" lvl="7" indent="-298259" algn="l">
              <a:lnSpc>
                <a:spcPct val="100000"/>
              </a:lnSpc>
              <a:spcBef>
                <a:spcPts val="219"/>
              </a:spcBef>
              <a:spcAft>
                <a:spcPts val="0"/>
              </a:spcAft>
              <a:buClr>
                <a:schemeClr val="dk1"/>
              </a:buClr>
              <a:buSzPts val="1097"/>
              <a:buChar char="•"/>
              <a:defRPr sz="1097"/>
            </a:lvl8pPr>
            <a:lvl9pPr marL="4114800" lvl="8" indent="-298259" algn="l">
              <a:lnSpc>
                <a:spcPct val="100000"/>
              </a:lnSpc>
              <a:spcBef>
                <a:spcPts val="219"/>
              </a:spcBef>
              <a:spcAft>
                <a:spcPts val="0"/>
              </a:spcAft>
              <a:buClr>
                <a:schemeClr val="dk1"/>
              </a:buClr>
              <a:buSzPts val="1097"/>
              <a:buChar char="•"/>
              <a:defRPr sz="1097"/>
            </a:lvl9pPr>
          </a:lstStyle>
          <a:p>
            <a:endParaRPr/>
          </a:p>
        </p:txBody>
      </p:sp>
      <p:sp>
        <p:nvSpPr>
          <p:cNvPr id="62" name="Google Shape;62;p6"/>
          <p:cNvSpPr txBox="1">
            <a:spLocks noGrp="1"/>
          </p:cNvSpPr>
          <p:nvPr>
            <p:ph type="body" idx="2"/>
          </p:nvPr>
        </p:nvSpPr>
        <p:spPr>
          <a:xfrm>
            <a:off x="5035550" y="1600206"/>
            <a:ext cx="437515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6931" algn="l">
              <a:lnSpc>
                <a:spcPct val="100000"/>
              </a:lnSpc>
              <a:spcBef>
                <a:spcPts val="341"/>
              </a:spcBef>
              <a:spcAft>
                <a:spcPts val="0"/>
              </a:spcAft>
              <a:buClr>
                <a:srgbClr val="515151"/>
              </a:buClr>
              <a:buSzPts val="1706"/>
              <a:buChar char="•"/>
              <a:defRPr sz="1706"/>
            </a:lvl1pPr>
            <a:lvl2pPr marL="914400" lvl="1" indent="-321437" algn="l">
              <a:lnSpc>
                <a:spcPct val="100000"/>
              </a:lnSpc>
              <a:spcBef>
                <a:spcPts val="292"/>
              </a:spcBef>
              <a:spcAft>
                <a:spcPts val="0"/>
              </a:spcAft>
              <a:buClr>
                <a:srgbClr val="515151"/>
              </a:buClr>
              <a:buSzPts val="1462"/>
              <a:buChar char="–"/>
              <a:defRPr sz="1462"/>
            </a:lvl2pPr>
            <a:lvl3pPr marL="1371600" lvl="2" indent="-306007" algn="l">
              <a:lnSpc>
                <a:spcPct val="100000"/>
              </a:lnSpc>
              <a:spcBef>
                <a:spcPts val="244"/>
              </a:spcBef>
              <a:spcAft>
                <a:spcPts val="0"/>
              </a:spcAft>
              <a:buClr>
                <a:srgbClr val="515151"/>
              </a:buClr>
              <a:buSzPts val="1219"/>
              <a:buChar char="•"/>
              <a:defRPr sz="1219"/>
            </a:lvl3pPr>
            <a:lvl4pPr marL="1828800" lvl="3" indent="-298260" algn="l">
              <a:lnSpc>
                <a:spcPct val="100000"/>
              </a:lnSpc>
              <a:spcBef>
                <a:spcPts val="219"/>
              </a:spcBef>
              <a:spcAft>
                <a:spcPts val="0"/>
              </a:spcAft>
              <a:buClr>
                <a:srgbClr val="515151"/>
              </a:buClr>
              <a:buSzPts val="1097"/>
              <a:buChar char="–"/>
              <a:defRPr sz="1097"/>
            </a:lvl4pPr>
            <a:lvl5pPr marL="2286000" lvl="4" indent="-298260" algn="l">
              <a:lnSpc>
                <a:spcPct val="100000"/>
              </a:lnSpc>
              <a:spcBef>
                <a:spcPts val="219"/>
              </a:spcBef>
              <a:spcAft>
                <a:spcPts val="0"/>
              </a:spcAft>
              <a:buClr>
                <a:srgbClr val="515151"/>
              </a:buClr>
              <a:buSzPts val="1097"/>
              <a:buChar char="»"/>
              <a:defRPr sz="1097"/>
            </a:lvl5pPr>
            <a:lvl6pPr marL="2743200" lvl="5" indent="-298260" algn="l">
              <a:lnSpc>
                <a:spcPct val="100000"/>
              </a:lnSpc>
              <a:spcBef>
                <a:spcPts val="219"/>
              </a:spcBef>
              <a:spcAft>
                <a:spcPts val="0"/>
              </a:spcAft>
              <a:buClr>
                <a:schemeClr val="dk1"/>
              </a:buClr>
              <a:buSzPts val="1097"/>
              <a:buChar char="•"/>
              <a:defRPr sz="1097"/>
            </a:lvl6pPr>
            <a:lvl7pPr marL="3200400" lvl="6" indent="-298260" algn="l">
              <a:lnSpc>
                <a:spcPct val="100000"/>
              </a:lnSpc>
              <a:spcBef>
                <a:spcPts val="219"/>
              </a:spcBef>
              <a:spcAft>
                <a:spcPts val="0"/>
              </a:spcAft>
              <a:buClr>
                <a:schemeClr val="dk1"/>
              </a:buClr>
              <a:buSzPts val="1097"/>
              <a:buChar char="•"/>
              <a:defRPr sz="1097"/>
            </a:lvl7pPr>
            <a:lvl8pPr marL="3657600" lvl="7" indent="-298259" algn="l">
              <a:lnSpc>
                <a:spcPct val="100000"/>
              </a:lnSpc>
              <a:spcBef>
                <a:spcPts val="219"/>
              </a:spcBef>
              <a:spcAft>
                <a:spcPts val="0"/>
              </a:spcAft>
              <a:buClr>
                <a:schemeClr val="dk1"/>
              </a:buClr>
              <a:buSzPts val="1097"/>
              <a:buChar char="•"/>
              <a:defRPr sz="1097"/>
            </a:lvl8pPr>
            <a:lvl9pPr marL="4114800" lvl="8" indent="-298259" algn="l">
              <a:lnSpc>
                <a:spcPct val="100000"/>
              </a:lnSpc>
              <a:spcBef>
                <a:spcPts val="219"/>
              </a:spcBef>
              <a:spcAft>
                <a:spcPts val="0"/>
              </a:spcAft>
              <a:buClr>
                <a:schemeClr val="dk1"/>
              </a:buClr>
              <a:buSzPts val="1097"/>
              <a:buChar char="•"/>
              <a:defRPr sz="1097"/>
            </a:lvl9pPr>
          </a:lstStyle>
          <a:p>
            <a:endParaRPr/>
          </a:p>
        </p:txBody>
      </p:sp>
      <p:sp>
        <p:nvSpPr>
          <p:cNvPr id="63" name="Google Shape;63;p6"/>
          <p:cNvSpPr txBox="1">
            <a:spLocks noGrp="1"/>
          </p:cNvSpPr>
          <p:nvPr>
            <p:ph type="dt" idx="10"/>
          </p:nvPr>
        </p:nvSpPr>
        <p:spPr>
          <a:xfrm>
            <a:off x="309530" y="6572272"/>
            <a:ext cx="1083476" cy="285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6"/>
          <p:cNvSpPr txBox="1">
            <a:spLocks noGrp="1"/>
          </p:cNvSpPr>
          <p:nvPr>
            <p:ph type="ftr" idx="11"/>
          </p:nvPr>
        </p:nvSpPr>
        <p:spPr>
          <a:xfrm>
            <a:off x="3384550" y="6356357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6"/>
          <p:cNvSpPr txBox="1">
            <a:spLocks noGrp="1"/>
          </p:cNvSpPr>
          <p:nvPr>
            <p:ph type="sldNum" idx="12"/>
          </p:nvPr>
        </p:nvSpPr>
        <p:spPr>
          <a:xfrm>
            <a:off x="9395285" y="6565952"/>
            <a:ext cx="433359" cy="29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對" type="twoTxTwoObj">
  <p:cSld name="TWO_OBJECTS_WITH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7"/>
          <p:cNvSpPr txBox="1">
            <a:spLocks noGrp="1"/>
          </p:cNvSpPr>
          <p:nvPr>
            <p:ph type="title"/>
          </p:nvPr>
        </p:nvSpPr>
        <p:spPr>
          <a:xfrm>
            <a:off x="1766659" y="274641"/>
            <a:ext cx="7644043" cy="1260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400"/>
              <a:buFont typeface="Arial"/>
              <a:buNone/>
              <a:defRPr sz="34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92"/>
              </a:spcBef>
              <a:spcAft>
                <a:spcPts val="0"/>
              </a:spcAft>
              <a:buClr>
                <a:srgbClr val="515151"/>
              </a:buClr>
              <a:buSzPts val="1462"/>
              <a:buNone/>
              <a:defRPr sz="1462" b="1"/>
            </a:lvl1pPr>
            <a:lvl2pPr marL="914400" lvl="1" indent="-228600" algn="l">
              <a:lnSpc>
                <a:spcPct val="100000"/>
              </a:lnSpc>
              <a:spcBef>
                <a:spcPts val="244"/>
              </a:spcBef>
              <a:spcAft>
                <a:spcPts val="0"/>
              </a:spcAft>
              <a:buClr>
                <a:srgbClr val="515151"/>
              </a:buClr>
              <a:buSzPts val="1219"/>
              <a:buNone/>
              <a:defRPr sz="1219" b="1"/>
            </a:lvl2pPr>
            <a:lvl3pPr marL="1371600" lvl="2" indent="-228600" algn="l">
              <a:lnSpc>
                <a:spcPct val="100000"/>
              </a:lnSpc>
              <a:spcBef>
                <a:spcPts val="219"/>
              </a:spcBef>
              <a:spcAft>
                <a:spcPts val="0"/>
              </a:spcAft>
              <a:buClr>
                <a:srgbClr val="515151"/>
              </a:buClr>
              <a:buSzPts val="1097"/>
              <a:buNone/>
              <a:defRPr sz="1097" b="1"/>
            </a:lvl3pPr>
            <a:lvl4pPr marL="1828800" lvl="3" indent="-228600" algn="l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>
                <a:srgbClr val="515151"/>
              </a:buClr>
              <a:buSzPts val="975"/>
              <a:buNone/>
              <a:defRPr sz="975" b="1"/>
            </a:lvl4pPr>
            <a:lvl5pPr marL="2286000" lvl="4" indent="-228600" algn="l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>
                <a:srgbClr val="515151"/>
              </a:buClr>
              <a:buSzPts val="975"/>
              <a:buNone/>
              <a:defRPr sz="975" b="1"/>
            </a:lvl5pPr>
            <a:lvl6pPr marL="2743200" lvl="5" indent="-228600" algn="l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>
                <a:schemeClr val="dk1"/>
              </a:buClr>
              <a:buSzPts val="975"/>
              <a:buNone/>
              <a:defRPr sz="975" b="1"/>
            </a:lvl6pPr>
            <a:lvl7pPr marL="3200400" lvl="6" indent="-228600" algn="l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>
                <a:schemeClr val="dk1"/>
              </a:buClr>
              <a:buSzPts val="975"/>
              <a:buNone/>
              <a:defRPr sz="975" b="1"/>
            </a:lvl7pPr>
            <a:lvl8pPr marL="3657600" lvl="7" indent="-228600" algn="l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>
                <a:schemeClr val="dk1"/>
              </a:buClr>
              <a:buSzPts val="975"/>
              <a:buNone/>
              <a:defRPr sz="975" b="1"/>
            </a:lvl8pPr>
            <a:lvl9pPr marL="4114800" lvl="8" indent="-228600" algn="l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>
                <a:schemeClr val="dk1"/>
              </a:buClr>
              <a:buSzPts val="975"/>
              <a:buNone/>
              <a:defRPr sz="975" b="1"/>
            </a:lvl9pPr>
          </a:lstStyle>
          <a:p>
            <a:endParaRPr/>
          </a:p>
        </p:txBody>
      </p:sp>
      <p:sp>
        <p:nvSpPr>
          <p:cNvPr id="69" name="Google Shape;69;p7"/>
          <p:cNvSpPr txBox="1">
            <a:spLocks noGrp="1"/>
          </p:cNvSpPr>
          <p:nvPr>
            <p:ph type="body" idx="2"/>
          </p:nvPr>
        </p:nvSpPr>
        <p:spPr>
          <a:xfrm>
            <a:off x="495300" y="2174875"/>
            <a:ext cx="4376870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1437" algn="l">
              <a:lnSpc>
                <a:spcPct val="100000"/>
              </a:lnSpc>
              <a:spcBef>
                <a:spcPts val="292"/>
              </a:spcBef>
              <a:spcAft>
                <a:spcPts val="0"/>
              </a:spcAft>
              <a:buClr>
                <a:srgbClr val="515151"/>
              </a:buClr>
              <a:buSzPts val="1462"/>
              <a:buChar char="•"/>
              <a:defRPr sz="1462"/>
            </a:lvl1pPr>
            <a:lvl2pPr marL="914400" lvl="1" indent="-306007" algn="l">
              <a:lnSpc>
                <a:spcPct val="100000"/>
              </a:lnSpc>
              <a:spcBef>
                <a:spcPts val="244"/>
              </a:spcBef>
              <a:spcAft>
                <a:spcPts val="0"/>
              </a:spcAft>
              <a:buClr>
                <a:srgbClr val="515151"/>
              </a:buClr>
              <a:buSzPts val="1219"/>
              <a:buChar char="–"/>
              <a:defRPr sz="1219"/>
            </a:lvl2pPr>
            <a:lvl3pPr marL="1371600" lvl="2" indent="-298260" algn="l">
              <a:lnSpc>
                <a:spcPct val="100000"/>
              </a:lnSpc>
              <a:spcBef>
                <a:spcPts val="219"/>
              </a:spcBef>
              <a:spcAft>
                <a:spcPts val="0"/>
              </a:spcAft>
              <a:buClr>
                <a:srgbClr val="515151"/>
              </a:buClr>
              <a:buSzPts val="1097"/>
              <a:buChar char="•"/>
              <a:defRPr sz="1097"/>
            </a:lvl3pPr>
            <a:lvl4pPr marL="1828800" lvl="3" indent="-290513" algn="l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>
                <a:srgbClr val="515151"/>
              </a:buClr>
              <a:buSzPts val="975"/>
              <a:buChar char="–"/>
              <a:defRPr sz="975"/>
            </a:lvl4pPr>
            <a:lvl5pPr marL="2286000" lvl="4" indent="-290513" algn="l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>
                <a:srgbClr val="515151"/>
              </a:buClr>
              <a:buSzPts val="975"/>
              <a:buChar char="»"/>
              <a:defRPr sz="975"/>
            </a:lvl5pPr>
            <a:lvl6pPr marL="2743200" lvl="5" indent="-290513" algn="l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>
                <a:schemeClr val="dk1"/>
              </a:buClr>
              <a:buSzPts val="975"/>
              <a:buChar char="•"/>
              <a:defRPr sz="975"/>
            </a:lvl6pPr>
            <a:lvl7pPr marL="3200400" lvl="6" indent="-290513" algn="l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>
                <a:schemeClr val="dk1"/>
              </a:buClr>
              <a:buSzPts val="975"/>
              <a:buChar char="•"/>
              <a:defRPr sz="975"/>
            </a:lvl7pPr>
            <a:lvl8pPr marL="3657600" lvl="7" indent="-290513" algn="l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>
                <a:schemeClr val="dk1"/>
              </a:buClr>
              <a:buSzPts val="975"/>
              <a:buChar char="•"/>
              <a:defRPr sz="975"/>
            </a:lvl8pPr>
            <a:lvl9pPr marL="4114800" lvl="8" indent="-290513" algn="l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>
                <a:schemeClr val="dk1"/>
              </a:buClr>
              <a:buSzPts val="975"/>
              <a:buChar char="•"/>
              <a:defRPr sz="975"/>
            </a:lvl9pPr>
          </a:lstStyle>
          <a:p>
            <a:endParaRPr/>
          </a:p>
        </p:txBody>
      </p:sp>
      <p:sp>
        <p:nvSpPr>
          <p:cNvPr id="70" name="Google Shape;70;p7"/>
          <p:cNvSpPr txBox="1">
            <a:spLocks noGrp="1"/>
          </p:cNvSpPr>
          <p:nvPr>
            <p:ph type="body" idx="3"/>
          </p:nvPr>
        </p:nvSpPr>
        <p:spPr>
          <a:xfrm>
            <a:off x="5032114" y="1535113"/>
            <a:ext cx="437859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92"/>
              </a:spcBef>
              <a:spcAft>
                <a:spcPts val="0"/>
              </a:spcAft>
              <a:buClr>
                <a:srgbClr val="515151"/>
              </a:buClr>
              <a:buSzPts val="1462"/>
              <a:buNone/>
              <a:defRPr sz="1462" b="1"/>
            </a:lvl1pPr>
            <a:lvl2pPr marL="914400" lvl="1" indent="-228600" algn="l">
              <a:lnSpc>
                <a:spcPct val="100000"/>
              </a:lnSpc>
              <a:spcBef>
                <a:spcPts val="244"/>
              </a:spcBef>
              <a:spcAft>
                <a:spcPts val="0"/>
              </a:spcAft>
              <a:buClr>
                <a:srgbClr val="515151"/>
              </a:buClr>
              <a:buSzPts val="1219"/>
              <a:buNone/>
              <a:defRPr sz="1219" b="1"/>
            </a:lvl2pPr>
            <a:lvl3pPr marL="1371600" lvl="2" indent="-228600" algn="l">
              <a:lnSpc>
                <a:spcPct val="100000"/>
              </a:lnSpc>
              <a:spcBef>
                <a:spcPts val="219"/>
              </a:spcBef>
              <a:spcAft>
                <a:spcPts val="0"/>
              </a:spcAft>
              <a:buClr>
                <a:srgbClr val="515151"/>
              </a:buClr>
              <a:buSzPts val="1097"/>
              <a:buNone/>
              <a:defRPr sz="1097" b="1"/>
            </a:lvl3pPr>
            <a:lvl4pPr marL="1828800" lvl="3" indent="-228600" algn="l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>
                <a:srgbClr val="515151"/>
              </a:buClr>
              <a:buSzPts val="975"/>
              <a:buNone/>
              <a:defRPr sz="975" b="1"/>
            </a:lvl4pPr>
            <a:lvl5pPr marL="2286000" lvl="4" indent="-228600" algn="l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>
                <a:srgbClr val="515151"/>
              </a:buClr>
              <a:buSzPts val="975"/>
              <a:buNone/>
              <a:defRPr sz="975" b="1"/>
            </a:lvl5pPr>
            <a:lvl6pPr marL="2743200" lvl="5" indent="-228600" algn="l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>
                <a:schemeClr val="dk1"/>
              </a:buClr>
              <a:buSzPts val="975"/>
              <a:buNone/>
              <a:defRPr sz="975" b="1"/>
            </a:lvl6pPr>
            <a:lvl7pPr marL="3200400" lvl="6" indent="-228600" algn="l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>
                <a:schemeClr val="dk1"/>
              </a:buClr>
              <a:buSzPts val="975"/>
              <a:buNone/>
              <a:defRPr sz="975" b="1"/>
            </a:lvl7pPr>
            <a:lvl8pPr marL="3657600" lvl="7" indent="-228600" algn="l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>
                <a:schemeClr val="dk1"/>
              </a:buClr>
              <a:buSzPts val="975"/>
              <a:buNone/>
              <a:defRPr sz="975" b="1"/>
            </a:lvl8pPr>
            <a:lvl9pPr marL="4114800" lvl="8" indent="-228600" algn="l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>
                <a:schemeClr val="dk1"/>
              </a:buClr>
              <a:buSzPts val="975"/>
              <a:buNone/>
              <a:defRPr sz="975" b="1"/>
            </a:lvl9pPr>
          </a:lstStyle>
          <a:p>
            <a:endParaRPr/>
          </a:p>
        </p:txBody>
      </p:sp>
      <p:sp>
        <p:nvSpPr>
          <p:cNvPr id="71" name="Google Shape;71;p7"/>
          <p:cNvSpPr txBox="1">
            <a:spLocks noGrp="1"/>
          </p:cNvSpPr>
          <p:nvPr>
            <p:ph type="body" idx="4"/>
          </p:nvPr>
        </p:nvSpPr>
        <p:spPr>
          <a:xfrm>
            <a:off x="5032114" y="2174875"/>
            <a:ext cx="4378590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1437" algn="l">
              <a:lnSpc>
                <a:spcPct val="100000"/>
              </a:lnSpc>
              <a:spcBef>
                <a:spcPts val="292"/>
              </a:spcBef>
              <a:spcAft>
                <a:spcPts val="0"/>
              </a:spcAft>
              <a:buClr>
                <a:srgbClr val="515151"/>
              </a:buClr>
              <a:buSzPts val="1462"/>
              <a:buChar char="•"/>
              <a:defRPr sz="1462"/>
            </a:lvl1pPr>
            <a:lvl2pPr marL="914400" lvl="1" indent="-306007" algn="l">
              <a:lnSpc>
                <a:spcPct val="100000"/>
              </a:lnSpc>
              <a:spcBef>
                <a:spcPts val="244"/>
              </a:spcBef>
              <a:spcAft>
                <a:spcPts val="0"/>
              </a:spcAft>
              <a:buClr>
                <a:srgbClr val="515151"/>
              </a:buClr>
              <a:buSzPts val="1219"/>
              <a:buChar char="–"/>
              <a:defRPr sz="1219"/>
            </a:lvl2pPr>
            <a:lvl3pPr marL="1371600" lvl="2" indent="-298260" algn="l">
              <a:lnSpc>
                <a:spcPct val="100000"/>
              </a:lnSpc>
              <a:spcBef>
                <a:spcPts val="219"/>
              </a:spcBef>
              <a:spcAft>
                <a:spcPts val="0"/>
              </a:spcAft>
              <a:buClr>
                <a:srgbClr val="515151"/>
              </a:buClr>
              <a:buSzPts val="1097"/>
              <a:buChar char="•"/>
              <a:defRPr sz="1097"/>
            </a:lvl3pPr>
            <a:lvl4pPr marL="1828800" lvl="3" indent="-290513" algn="l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>
                <a:srgbClr val="515151"/>
              </a:buClr>
              <a:buSzPts val="975"/>
              <a:buChar char="–"/>
              <a:defRPr sz="975"/>
            </a:lvl4pPr>
            <a:lvl5pPr marL="2286000" lvl="4" indent="-290513" algn="l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>
                <a:srgbClr val="515151"/>
              </a:buClr>
              <a:buSzPts val="975"/>
              <a:buChar char="»"/>
              <a:defRPr sz="975"/>
            </a:lvl5pPr>
            <a:lvl6pPr marL="2743200" lvl="5" indent="-290513" algn="l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>
                <a:schemeClr val="dk1"/>
              </a:buClr>
              <a:buSzPts val="975"/>
              <a:buChar char="•"/>
              <a:defRPr sz="975"/>
            </a:lvl6pPr>
            <a:lvl7pPr marL="3200400" lvl="6" indent="-290513" algn="l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>
                <a:schemeClr val="dk1"/>
              </a:buClr>
              <a:buSzPts val="975"/>
              <a:buChar char="•"/>
              <a:defRPr sz="975"/>
            </a:lvl7pPr>
            <a:lvl8pPr marL="3657600" lvl="7" indent="-290513" algn="l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>
                <a:schemeClr val="dk1"/>
              </a:buClr>
              <a:buSzPts val="975"/>
              <a:buChar char="•"/>
              <a:defRPr sz="975"/>
            </a:lvl8pPr>
            <a:lvl9pPr marL="4114800" lvl="8" indent="-290513" algn="l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>
                <a:schemeClr val="dk1"/>
              </a:buClr>
              <a:buSzPts val="975"/>
              <a:buChar char="•"/>
              <a:defRPr sz="975"/>
            </a:lvl9pPr>
          </a:lstStyle>
          <a:p>
            <a:endParaRPr/>
          </a:p>
        </p:txBody>
      </p:sp>
      <p:sp>
        <p:nvSpPr>
          <p:cNvPr id="72" name="Google Shape;72;p7"/>
          <p:cNvSpPr txBox="1">
            <a:spLocks noGrp="1"/>
          </p:cNvSpPr>
          <p:nvPr>
            <p:ph type="dt" idx="10"/>
          </p:nvPr>
        </p:nvSpPr>
        <p:spPr>
          <a:xfrm>
            <a:off x="309530" y="6572272"/>
            <a:ext cx="1083476" cy="285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7"/>
          <p:cNvSpPr txBox="1">
            <a:spLocks noGrp="1"/>
          </p:cNvSpPr>
          <p:nvPr>
            <p:ph type="ftr" idx="11"/>
          </p:nvPr>
        </p:nvSpPr>
        <p:spPr>
          <a:xfrm>
            <a:off x="3384550" y="6356357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7"/>
          <p:cNvSpPr txBox="1">
            <a:spLocks noGrp="1"/>
          </p:cNvSpPr>
          <p:nvPr>
            <p:ph type="sldNum" idx="12"/>
          </p:nvPr>
        </p:nvSpPr>
        <p:spPr>
          <a:xfrm>
            <a:off x="9395285" y="6565952"/>
            <a:ext cx="433359" cy="29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只有標題" type="titleOnly">
  <p:cSld name="TITLE_ONLY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8"/>
          <p:cNvSpPr txBox="1">
            <a:spLocks noGrp="1"/>
          </p:cNvSpPr>
          <p:nvPr>
            <p:ph type="title"/>
          </p:nvPr>
        </p:nvSpPr>
        <p:spPr>
          <a:xfrm>
            <a:off x="1766659" y="274638"/>
            <a:ext cx="7644043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400"/>
              <a:buFont typeface="Arial"/>
              <a:buNone/>
              <a:defRPr sz="3400" b="1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8"/>
          <p:cNvSpPr txBox="1">
            <a:spLocks noGrp="1"/>
          </p:cNvSpPr>
          <p:nvPr>
            <p:ph type="dt" idx="10"/>
          </p:nvPr>
        </p:nvSpPr>
        <p:spPr>
          <a:xfrm>
            <a:off x="309530" y="6572272"/>
            <a:ext cx="1083476" cy="285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"/>
          <p:cNvSpPr txBox="1">
            <a:spLocks noGrp="1"/>
          </p:cNvSpPr>
          <p:nvPr>
            <p:ph type="ftr" idx="11"/>
          </p:nvPr>
        </p:nvSpPr>
        <p:spPr>
          <a:xfrm>
            <a:off x="3384550" y="6356357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"/>
          <p:cNvSpPr txBox="1">
            <a:spLocks noGrp="1"/>
          </p:cNvSpPr>
          <p:nvPr>
            <p:ph type="sldNum" idx="12"/>
          </p:nvPr>
        </p:nvSpPr>
        <p:spPr>
          <a:xfrm>
            <a:off x="9395285" y="6565952"/>
            <a:ext cx="433359" cy="29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9"/>
          <p:cNvSpPr txBox="1">
            <a:spLocks noGrp="1"/>
          </p:cNvSpPr>
          <p:nvPr>
            <p:ph type="dt" idx="10"/>
          </p:nvPr>
        </p:nvSpPr>
        <p:spPr>
          <a:xfrm>
            <a:off x="309530" y="6572272"/>
            <a:ext cx="1083476" cy="285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9"/>
          <p:cNvSpPr txBox="1">
            <a:spLocks noGrp="1"/>
          </p:cNvSpPr>
          <p:nvPr>
            <p:ph type="ftr" idx="11"/>
          </p:nvPr>
        </p:nvSpPr>
        <p:spPr>
          <a:xfrm>
            <a:off x="3384550" y="6356357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9"/>
          <p:cNvSpPr txBox="1">
            <a:spLocks noGrp="1"/>
          </p:cNvSpPr>
          <p:nvPr>
            <p:ph type="sldNum" idx="12"/>
          </p:nvPr>
        </p:nvSpPr>
        <p:spPr>
          <a:xfrm>
            <a:off x="9395285" y="6565952"/>
            <a:ext cx="433359" cy="29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標題的內容" type="objTx">
  <p:cSld name="OBJECT_WITH_CAPTION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0"/>
          <p:cNvSpPr txBox="1">
            <a:spLocks noGrp="1"/>
          </p:cNvSpPr>
          <p:nvPr>
            <p:ph type="title"/>
          </p:nvPr>
        </p:nvSpPr>
        <p:spPr>
          <a:xfrm>
            <a:off x="495304" y="273050"/>
            <a:ext cx="3259006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19"/>
              <a:buFont typeface="Arial"/>
              <a:buNone/>
              <a:defRPr sz="1219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0"/>
          <p:cNvSpPr txBox="1">
            <a:spLocks noGrp="1"/>
          </p:cNvSpPr>
          <p:nvPr>
            <p:ph type="body" idx="1"/>
          </p:nvPr>
        </p:nvSpPr>
        <p:spPr>
          <a:xfrm>
            <a:off x="3872972" y="273057"/>
            <a:ext cx="5537729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2425" algn="l">
              <a:lnSpc>
                <a:spcPct val="100000"/>
              </a:lnSpc>
              <a:spcBef>
                <a:spcPts val="390"/>
              </a:spcBef>
              <a:spcAft>
                <a:spcPts val="0"/>
              </a:spcAft>
              <a:buClr>
                <a:srgbClr val="515151"/>
              </a:buClr>
              <a:buSzPts val="1950"/>
              <a:buChar char="•"/>
              <a:defRPr sz="1950"/>
            </a:lvl1pPr>
            <a:lvl2pPr marL="914400" lvl="1" indent="-336931" algn="l">
              <a:lnSpc>
                <a:spcPct val="100000"/>
              </a:lnSpc>
              <a:spcBef>
                <a:spcPts val="341"/>
              </a:spcBef>
              <a:spcAft>
                <a:spcPts val="0"/>
              </a:spcAft>
              <a:buClr>
                <a:srgbClr val="515151"/>
              </a:buClr>
              <a:buSzPts val="1706"/>
              <a:buChar char="–"/>
              <a:defRPr sz="1706"/>
            </a:lvl2pPr>
            <a:lvl3pPr marL="1371600" lvl="2" indent="-321437" algn="l">
              <a:lnSpc>
                <a:spcPct val="100000"/>
              </a:lnSpc>
              <a:spcBef>
                <a:spcPts val="292"/>
              </a:spcBef>
              <a:spcAft>
                <a:spcPts val="0"/>
              </a:spcAft>
              <a:buClr>
                <a:srgbClr val="515151"/>
              </a:buClr>
              <a:buSzPts val="1462"/>
              <a:buChar char="•"/>
              <a:defRPr sz="1462"/>
            </a:lvl3pPr>
            <a:lvl4pPr marL="1828800" lvl="3" indent="-306007" algn="l">
              <a:lnSpc>
                <a:spcPct val="100000"/>
              </a:lnSpc>
              <a:spcBef>
                <a:spcPts val="244"/>
              </a:spcBef>
              <a:spcAft>
                <a:spcPts val="0"/>
              </a:spcAft>
              <a:buClr>
                <a:srgbClr val="515151"/>
              </a:buClr>
              <a:buSzPts val="1219"/>
              <a:buChar char="–"/>
              <a:defRPr sz="1219"/>
            </a:lvl4pPr>
            <a:lvl5pPr marL="2286000" lvl="4" indent="-306007" algn="l">
              <a:lnSpc>
                <a:spcPct val="100000"/>
              </a:lnSpc>
              <a:spcBef>
                <a:spcPts val="244"/>
              </a:spcBef>
              <a:spcAft>
                <a:spcPts val="0"/>
              </a:spcAft>
              <a:buClr>
                <a:srgbClr val="515151"/>
              </a:buClr>
              <a:buSzPts val="1219"/>
              <a:buChar char="»"/>
              <a:defRPr sz="1219"/>
            </a:lvl5pPr>
            <a:lvl6pPr marL="2743200" lvl="5" indent="-306007" algn="l">
              <a:lnSpc>
                <a:spcPct val="100000"/>
              </a:lnSpc>
              <a:spcBef>
                <a:spcPts val="244"/>
              </a:spcBef>
              <a:spcAft>
                <a:spcPts val="0"/>
              </a:spcAft>
              <a:buClr>
                <a:schemeClr val="dk1"/>
              </a:buClr>
              <a:buSzPts val="1219"/>
              <a:buChar char="•"/>
              <a:defRPr sz="1219"/>
            </a:lvl6pPr>
            <a:lvl7pPr marL="3200400" lvl="6" indent="-306007" algn="l">
              <a:lnSpc>
                <a:spcPct val="100000"/>
              </a:lnSpc>
              <a:spcBef>
                <a:spcPts val="244"/>
              </a:spcBef>
              <a:spcAft>
                <a:spcPts val="0"/>
              </a:spcAft>
              <a:buClr>
                <a:schemeClr val="dk1"/>
              </a:buClr>
              <a:buSzPts val="1219"/>
              <a:buChar char="•"/>
              <a:defRPr sz="1219"/>
            </a:lvl7pPr>
            <a:lvl8pPr marL="3657600" lvl="7" indent="-306007" algn="l">
              <a:lnSpc>
                <a:spcPct val="100000"/>
              </a:lnSpc>
              <a:spcBef>
                <a:spcPts val="244"/>
              </a:spcBef>
              <a:spcAft>
                <a:spcPts val="0"/>
              </a:spcAft>
              <a:buClr>
                <a:schemeClr val="dk1"/>
              </a:buClr>
              <a:buSzPts val="1219"/>
              <a:buChar char="•"/>
              <a:defRPr sz="1219"/>
            </a:lvl8pPr>
            <a:lvl9pPr marL="4114800" lvl="8" indent="-306007" algn="l">
              <a:lnSpc>
                <a:spcPct val="100000"/>
              </a:lnSpc>
              <a:spcBef>
                <a:spcPts val="244"/>
              </a:spcBef>
              <a:spcAft>
                <a:spcPts val="0"/>
              </a:spcAft>
              <a:buClr>
                <a:schemeClr val="dk1"/>
              </a:buClr>
              <a:buSzPts val="1219"/>
              <a:buChar char="•"/>
              <a:defRPr sz="1219"/>
            </a:lvl9pPr>
          </a:lstStyle>
          <a:p>
            <a:endParaRPr/>
          </a:p>
        </p:txBody>
      </p:sp>
      <p:sp>
        <p:nvSpPr>
          <p:cNvPr id="87" name="Google Shape;87;p10"/>
          <p:cNvSpPr txBox="1">
            <a:spLocks noGrp="1"/>
          </p:cNvSpPr>
          <p:nvPr>
            <p:ph type="body" idx="2"/>
          </p:nvPr>
        </p:nvSpPr>
        <p:spPr>
          <a:xfrm>
            <a:off x="495304" y="1435103"/>
            <a:ext cx="3259006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71"/>
              </a:spcBef>
              <a:spcAft>
                <a:spcPts val="0"/>
              </a:spcAft>
              <a:buClr>
                <a:srgbClr val="515151"/>
              </a:buClr>
              <a:buSzPts val="854"/>
              <a:buNone/>
              <a:defRPr sz="854"/>
            </a:lvl1pPr>
            <a:lvl2pPr marL="914400" lvl="1" indent="-228600" algn="l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>
                <a:srgbClr val="515151"/>
              </a:buClr>
              <a:buSzPts val="731"/>
              <a:buNone/>
              <a:defRPr sz="731"/>
            </a:lvl2pPr>
            <a:lvl3pPr marL="1371600" lvl="2" indent="-228600" algn="l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>
                <a:srgbClr val="515151"/>
              </a:buClr>
              <a:buSzPts val="610"/>
              <a:buNone/>
              <a:defRPr sz="610"/>
            </a:lvl3pPr>
            <a:lvl4pPr marL="1828800" lvl="3" indent="-22860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Clr>
                <a:srgbClr val="515151"/>
              </a:buClr>
              <a:buSzPts val="548"/>
              <a:buNone/>
              <a:defRPr sz="548"/>
            </a:lvl4pPr>
            <a:lvl5pPr marL="2286000" lvl="4" indent="-22860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Clr>
                <a:srgbClr val="515151"/>
              </a:buClr>
              <a:buSzPts val="548"/>
              <a:buNone/>
              <a:defRPr sz="548"/>
            </a:lvl5pPr>
            <a:lvl6pPr marL="2743200" lvl="5" indent="-22860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Clr>
                <a:schemeClr val="dk1"/>
              </a:buClr>
              <a:buSzPts val="548"/>
              <a:buNone/>
              <a:defRPr sz="548"/>
            </a:lvl6pPr>
            <a:lvl7pPr marL="3200400" lvl="6" indent="-22860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Clr>
                <a:schemeClr val="dk1"/>
              </a:buClr>
              <a:buSzPts val="548"/>
              <a:buNone/>
              <a:defRPr sz="548"/>
            </a:lvl7pPr>
            <a:lvl8pPr marL="3657600" lvl="7" indent="-22860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Clr>
                <a:schemeClr val="dk1"/>
              </a:buClr>
              <a:buSzPts val="548"/>
              <a:buNone/>
              <a:defRPr sz="548"/>
            </a:lvl8pPr>
            <a:lvl9pPr marL="4114800" lvl="8" indent="-22860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Clr>
                <a:schemeClr val="dk1"/>
              </a:buClr>
              <a:buSzPts val="548"/>
              <a:buNone/>
              <a:defRPr sz="548"/>
            </a:lvl9pPr>
          </a:lstStyle>
          <a:p>
            <a:endParaRPr/>
          </a:p>
        </p:txBody>
      </p:sp>
      <p:sp>
        <p:nvSpPr>
          <p:cNvPr id="88" name="Google Shape;88;p10"/>
          <p:cNvSpPr txBox="1">
            <a:spLocks noGrp="1"/>
          </p:cNvSpPr>
          <p:nvPr>
            <p:ph type="dt" idx="10"/>
          </p:nvPr>
        </p:nvSpPr>
        <p:spPr>
          <a:xfrm>
            <a:off x="309530" y="6572272"/>
            <a:ext cx="1083476" cy="285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0"/>
          <p:cNvSpPr txBox="1">
            <a:spLocks noGrp="1"/>
          </p:cNvSpPr>
          <p:nvPr>
            <p:ph type="ftr" idx="11"/>
          </p:nvPr>
        </p:nvSpPr>
        <p:spPr>
          <a:xfrm>
            <a:off x="3384550" y="6356357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0"/>
          <p:cNvSpPr txBox="1">
            <a:spLocks noGrp="1"/>
          </p:cNvSpPr>
          <p:nvPr>
            <p:ph type="sldNum" idx="12"/>
          </p:nvPr>
        </p:nvSpPr>
        <p:spPr>
          <a:xfrm>
            <a:off x="9395285" y="6565952"/>
            <a:ext cx="433359" cy="29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標題的圖片" type="picTx">
  <p:cSld name="PICTURE_WITH_CAPTION_TEXT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1"/>
          <p:cNvSpPr txBox="1"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19"/>
              <a:buFont typeface="DFKai-SB"/>
              <a:buNone/>
              <a:defRPr sz="1219" b="1">
                <a:latin typeface="DFKai-SB"/>
                <a:ea typeface="DFKai-SB"/>
                <a:cs typeface="DFKai-SB"/>
                <a:sym typeface="DFKai-S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1"/>
          <p:cNvSpPr>
            <a:spLocks noGrp="1"/>
          </p:cNvSpPr>
          <p:nvPr>
            <p:ph type="pic" idx="2"/>
          </p:nvPr>
        </p:nvSpPr>
        <p:spPr>
          <a:xfrm>
            <a:off x="1941645" y="612775"/>
            <a:ext cx="59436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94" name="Google Shape;94;p11"/>
          <p:cNvSpPr txBox="1">
            <a:spLocks noGrp="1"/>
          </p:cNvSpPr>
          <p:nvPr>
            <p:ph type="body" idx="1"/>
          </p:nvPr>
        </p:nvSpPr>
        <p:spPr>
          <a:xfrm>
            <a:off x="1941645" y="5367338"/>
            <a:ext cx="59436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71"/>
              </a:spcBef>
              <a:spcAft>
                <a:spcPts val="0"/>
              </a:spcAft>
              <a:buClr>
                <a:srgbClr val="515151"/>
              </a:buClr>
              <a:buSzPts val="854"/>
              <a:buNone/>
              <a:defRPr sz="854">
                <a:latin typeface="DFKai-SB"/>
                <a:ea typeface="DFKai-SB"/>
                <a:cs typeface="DFKai-SB"/>
                <a:sym typeface="DFKai-SB"/>
              </a:defRPr>
            </a:lvl1pPr>
            <a:lvl2pPr marL="914400" lvl="1" indent="-228600" algn="l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>
                <a:srgbClr val="515151"/>
              </a:buClr>
              <a:buSzPts val="731"/>
              <a:buNone/>
              <a:defRPr sz="731"/>
            </a:lvl2pPr>
            <a:lvl3pPr marL="1371600" lvl="2" indent="-228600" algn="l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>
                <a:srgbClr val="515151"/>
              </a:buClr>
              <a:buSzPts val="610"/>
              <a:buNone/>
              <a:defRPr sz="610"/>
            </a:lvl3pPr>
            <a:lvl4pPr marL="1828800" lvl="3" indent="-22860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Clr>
                <a:srgbClr val="515151"/>
              </a:buClr>
              <a:buSzPts val="548"/>
              <a:buNone/>
              <a:defRPr sz="548"/>
            </a:lvl4pPr>
            <a:lvl5pPr marL="2286000" lvl="4" indent="-22860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Clr>
                <a:srgbClr val="515151"/>
              </a:buClr>
              <a:buSzPts val="548"/>
              <a:buNone/>
              <a:defRPr sz="548"/>
            </a:lvl5pPr>
            <a:lvl6pPr marL="2743200" lvl="5" indent="-22860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Clr>
                <a:schemeClr val="dk1"/>
              </a:buClr>
              <a:buSzPts val="548"/>
              <a:buNone/>
              <a:defRPr sz="548"/>
            </a:lvl6pPr>
            <a:lvl7pPr marL="3200400" lvl="6" indent="-22860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Clr>
                <a:schemeClr val="dk1"/>
              </a:buClr>
              <a:buSzPts val="548"/>
              <a:buNone/>
              <a:defRPr sz="548"/>
            </a:lvl7pPr>
            <a:lvl8pPr marL="3657600" lvl="7" indent="-22860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Clr>
                <a:schemeClr val="dk1"/>
              </a:buClr>
              <a:buSzPts val="548"/>
              <a:buNone/>
              <a:defRPr sz="548"/>
            </a:lvl8pPr>
            <a:lvl9pPr marL="4114800" lvl="8" indent="-22860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Clr>
                <a:schemeClr val="dk1"/>
              </a:buClr>
              <a:buSzPts val="548"/>
              <a:buNone/>
              <a:defRPr sz="548"/>
            </a:lvl9pPr>
          </a:lstStyle>
          <a:p>
            <a:endParaRPr/>
          </a:p>
        </p:txBody>
      </p:sp>
      <p:sp>
        <p:nvSpPr>
          <p:cNvPr id="95" name="Google Shape;95;p11"/>
          <p:cNvSpPr txBox="1">
            <a:spLocks noGrp="1"/>
          </p:cNvSpPr>
          <p:nvPr>
            <p:ph type="dt" idx="10"/>
          </p:nvPr>
        </p:nvSpPr>
        <p:spPr>
          <a:xfrm>
            <a:off x="309530" y="6572272"/>
            <a:ext cx="1083476" cy="285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1"/>
          <p:cNvSpPr txBox="1">
            <a:spLocks noGrp="1"/>
          </p:cNvSpPr>
          <p:nvPr>
            <p:ph type="ftr" idx="11"/>
          </p:nvPr>
        </p:nvSpPr>
        <p:spPr>
          <a:xfrm>
            <a:off x="3384550" y="6356357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1"/>
          <p:cNvSpPr txBox="1">
            <a:spLocks noGrp="1"/>
          </p:cNvSpPr>
          <p:nvPr>
            <p:ph type="sldNum" idx="12"/>
          </p:nvPr>
        </p:nvSpPr>
        <p:spPr>
          <a:xfrm>
            <a:off x="9395285" y="6565952"/>
            <a:ext cx="433359" cy="29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直排文字" type="vertTx">
  <p:cSld name="VERTICAL_TEXT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2"/>
          <p:cNvSpPr txBox="1">
            <a:spLocks noGrp="1"/>
          </p:cNvSpPr>
          <p:nvPr>
            <p:ph type="title"/>
          </p:nvPr>
        </p:nvSpPr>
        <p:spPr>
          <a:xfrm>
            <a:off x="1766659" y="274637"/>
            <a:ext cx="7644043" cy="1325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400"/>
              <a:buFont typeface="DFKai-SB"/>
              <a:buNone/>
              <a:defRPr sz="3400" b="1">
                <a:latin typeface="DFKai-SB"/>
                <a:ea typeface="DFKai-SB"/>
                <a:cs typeface="DFKai-SB"/>
                <a:sym typeface="DFKai-S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2"/>
          <p:cNvSpPr txBox="1">
            <a:spLocks noGrp="1"/>
          </p:cNvSpPr>
          <p:nvPr>
            <p:ph type="body" idx="1"/>
          </p:nvPr>
        </p:nvSpPr>
        <p:spPr>
          <a:xfrm rot="5400000">
            <a:off x="2690018" y="-503443"/>
            <a:ext cx="4525963" cy="89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2425" algn="l">
              <a:lnSpc>
                <a:spcPct val="100000"/>
              </a:lnSpc>
              <a:spcBef>
                <a:spcPts val="390"/>
              </a:spcBef>
              <a:spcAft>
                <a:spcPts val="0"/>
              </a:spcAft>
              <a:buClr>
                <a:srgbClr val="515151"/>
              </a:buClr>
              <a:buSzPts val="1950"/>
              <a:buChar char="•"/>
              <a:defRPr>
                <a:latin typeface="DFKai-SB"/>
                <a:ea typeface="DFKai-SB"/>
                <a:cs typeface="DFKai-SB"/>
                <a:sym typeface="DFKai-SB"/>
              </a:defRPr>
            </a:lvl1pPr>
            <a:lvl2pPr marL="914400" lvl="1" indent="-336931" algn="l">
              <a:lnSpc>
                <a:spcPct val="100000"/>
              </a:lnSpc>
              <a:spcBef>
                <a:spcPts val="341"/>
              </a:spcBef>
              <a:spcAft>
                <a:spcPts val="0"/>
              </a:spcAft>
              <a:buClr>
                <a:srgbClr val="515151"/>
              </a:buClr>
              <a:buSzPts val="1706"/>
              <a:buChar char="–"/>
              <a:defRPr>
                <a:latin typeface="DFKai-SB"/>
                <a:ea typeface="DFKai-SB"/>
                <a:cs typeface="DFKai-SB"/>
                <a:sym typeface="DFKai-SB"/>
              </a:defRPr>
            </a:lvl2pPr>
            <a:lvl3pPr marL="1371600" lvl="2" indent="-321437" algn="l">
              <a:lnSpc>
                <a:spcPct val="100000"/>
              </a:lnSpc>
              <a:spcBef>
                <a:spcPts val="292"/>
              </a:spcBef>
              <a:spcAft>
                <a:spcPts val="0"/>
              </a:spcAft>
              <a:buClr>
                <a:srgbClr val="515151"/>
              </a:buClr>
              <a:buSzPts val="1462"/>
              <a:buChar char="•"/>
              <a:defRPr>
                <a:latin typeface="DFKai-SB"/>
                <a:ea typeface="DFKai-SB"/>
                <a:cs typeface="DFKai-SB"/>
                <a:sym typeface="DFKai-SB"/>
              </a:defRPr>
            </a:lvl3pPr>
            <a:lvl4pPr marL="1828800" lvl="3" indent="-306007" algn="l">
              <a:lnSpc>
                <a:spcPct val="100000"/>
              </a:lnSpc>
              <a:spcBef>
                <a:spcPts val="244"/>
              </a:spcBef>
              <a:spcAft>
                <a:spcPts val="0"/>
              </a:spcAft>
              <a:buClr>
                <a:srgbClr val="515151"/>
              </a:buClr>
              <a:buSzPts val="1219"/>
              <a:buChar char="–"/>
              <a:defRPr>
                <a:latin typeface="DFKai-SB"/>
                <a:ea typeface="DFKai-SB"/>
                <a:cs typeface="DFKai-SB"/>
                <a:sym typeface="DFKai-SB"/>
              </a:defRPr>
            </a:lvl4pPr>
            <a:lvl5pPr marL="2286000" lvl="4" indent="-306007" algn="l">
              <a:lnSpc>
                <a:spcPct val="100000"/>
              </a:lnSpc>
              <a:spcBef>
                <a:spcPts val="244"/>
              </a:spcBef>
              <a:spcAft>
                <a:spcPts val="0"/>
              </a:spcAft>
              <a:buClr>
                <a:srgbClr val="515151"/>
              </a:buClr>
              <a:buSzPts val="1219"/>
              <a:buChar char="»"/>
              <a:defRPr>
                <a:latin typeface="DFKai-SB"/>
                <a:ea typeface="DFKai-SB"/>
                <a:cs typeface="DFKai-SB"/>
                <a:sym typeface="DFKai-SB"/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1" name="Google Shape;101;p12"/>
          <p:cNvSpPr txBox="1">
            <a:spLocks noGrp="1"/>
          </p:cNvSpPr>
          <p:nvPr>
            <p:ph type="dt" idx="10"/>
          </p:nvPr>
        </p:nvSpPr>
        <p:spPr>
          <a:xfrm>
            <a:off x="309530" y="6572272"/>
            <a:ext cx="1083476" cy="285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2"/>
          <p:cNvSpPr txBox="1">
            <a:spLocks noGrp="1"/>
          </p:cNvSpPr>
          <p:nvPr>
            <p:ph type="ftr" idx="11"/>
          </p:nvPr>
        </p:nvSpPr>
        <p:spPr>
          <a:xfrm>
            <a:off x="3384550" y="6356357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2"/>
          <p:cNvSpPr txBox="1">
            <a:spLocks noGrp="1"/>
          </p:cNvSpPr>
          <p:nvPr>
            <p:ph type="sldNum" idx="12"/>
          </p:nvPr>
        </p:nvSpPr>
        <p:spPr>
          <a:xfrm>
            <a:off x="9395285" y="6565952"/>
            <a:ext cx="433359" cy="29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直排標題及文字" type="vertTitleAndTx">
  <p:cSld name="VERTICAL_TITLE_AND_VERTICAL_TEXT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3"/>
          <p:cNvSpPr txBox="1">
            <a:spLocks noGrp="1"/>
          </p:cNvSpPr>
          <p:nvPr>
            <p:ph type="title"/>
          </p:nvPr>
        </p:nvSpPr>
        <p:spPr>
          <a:xfrm rot="5400000">
            <a:off x="5370513" y="2085983"/>
            <a:ext cx="5851525" cy="2228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400"/>
              <a:buFont typeface="DFKai-SB"/>
              <a:buNone/>
              <a:defRPr>
                <a:latin typeface="DFKai-SB"/>
                <a:ea typeface="DFKai-SB"/>
                <a:cs typeface="DFKai-SB"/>
                <a:sym typeface="DFKai-S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3"/>
          <p:cNvSpPr txBox="1">
            <a:spLocks noGrp="1"/>
          </p:cNvSpPr>
          <p:nvPr>
            <p:ph type="body" idx="1"/>
          </p:nvPr>
        </p:nvSpPr>
        <p:spPr>
          <a:xfrm rot="5400000">
            <a:off x="830263" y="-60317"/>
            <a:ext cx="5851525" cy="652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51515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51515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51515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51515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51515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7" name="Google Shape;107;p13"/>
          <p:cNvSpPr txBox="1">
            <a:spLocks noGrp="1"/>
          </p:cNvSpPr>
          <p:nvPr>
            <p:ph type="dt" idx="10"/>
          </p:nvPr>
        </p:nvSpPr>
        <p:spPr>
          <a:xfrm>
            <a:off x="309530" y="6572272"/>
            <a:ext cx="1083476" cy="285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3"/>
          <p:cNvSpPr txBox="1">
            <a:spLocks noGrp="1"/>
          </p:cNvSpPr>
          <p:nvPr>
            <p:ph type="ftr" idx="11"/>
          </p:nvPr>
        </p:nvSpPr>
        <p:spPr>
          <a:xfrm>
            <a:off x="3384550" y="6356357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3"/>
          <p:cNvSpPr txBox="1">
            <a:spLocks noGrp="1"/>
          </p:cNvSpPr>
          <p:nvPr>
            <p:ph type="sldNum" idx="12"/>
          </p:nvPr>
        </p:nvSpPr>
        <p:spPr>
          <a:xfrm>
            <a:off x="9395285" y="6565952"/>
            <a:ext cx="433359" cy="29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18" Type="http://schemas.openxmlformats.org/officeDocument/2006/relationships/image" Target="../media/image5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"/>
          <p:cNvGrpSpPr/>
          <p:nvPr/>
        </p:nvGrpSpPr>
        <p:grpSpPr>
          <a:xfrm>
            <a:off x="-2" y="6572272"/>
            <a:ext cx="9906000" cy="285728"/>
            <a:chOff x="0" y="6572272"/>
            <a:chExt cx="9144001" cy="285728"/>
          </a:xfrm>
        </p:grpSpPr>
        <p:sp>
          <p:nvSpPr>
            <p:cNvPr id="11" name="Google Shape;11;p1"/>
            <p:cNvSpPr/>
            <p:nvPr/>
          </p:nvSpPr>
          <p:spPr>
            <a:xfrm rot="-5400000" flipH="1">
              <a:off x="4524750" y="2142021"/>
              <a:ext cx="94499" cy="9144000"/>
            </a:xfrm>
            <a:prstGeom prst="rect">
              <a:avLst/>
            </a:prstGeom>
            <a:gradFill>
              <a:gsLst>
                <a:gs pos="0">
                  <a:srgbClr val="E33959">
                    <a:alpha val="29411"/>
                  </a:srgbClr>
                </a:gs>
                <a:gs pos="50000">
                  <a:srgbClr val="E33959">
                    <a:alpha val="29411"/>
                  </a:srgbClr>
                </a:gs>
                <a:gs pos="100000">
                  <a:srgbClr val="F2D2D2">
                    <a:alpha val="29411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97"/>
                <a:buFont typeface="Arial"/>
                <a:buNone/>
              </a:pPr>
              <a:endParaRPr sz="1097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2;p1"/>
            <p:cNvSpPr/>
            <p:nvPr/>
          </p:nvSpPr>
          <p:spPr>
            <a:xfrm flipH="1">
              <a:off x="0" y="6761268"/>
              <a:ext cx="9144000" cy="96732"/>
            </a:xfrm>
            <a:prstGeom prst="rect">
              <a:avLst/>
            </a:prstGeom>
            <a:gradFill>
              <a:gsLst>
                <a:gs pos="0">
                  <a:srgbClr val="35DB80">
                    <a:alpha val="29411"/>
                  </a:srgbClr>
                </a:gs>
                <a:gs pos="100000">
                  <a:srgbClr val="9EFCC9">
                    <a:alpha val="29411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97"/>
                <a:buFont typeface="Arial"/>
                <a:buNone/>
              </a:pPr>
              <a:endParaRPr sz="1097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3;p1"/>
            <p:cNvSpPr/>
            <p:nvPr/>
          </p:nvSpPr>
          <p:spPr>
            <a:xfrm flipH="1">
              <a:off x="34" y="6572272"/>
              <a:ext cx="9143966" cy="94497"/>
            </a:xfrm>
            <a:prstGeom prst="rect">
              <a:avLst/>
            </a:prstGeom>
            <a:gradFill>
              <a:gsLst>
                <a:gs pos="0">
                  <a:srgbClr val="6CB7EA">
                    <a:alpha val="28235"/>
                  </a:srgbClr>
                </a:gs>
                <a:gs pos="100000">
                  <a:srgbClr val="9BE5FF">
                    <a:alpha val="28235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97"/>
                <a:buFont typeface="Arial"/>
                <a:buNone/>
              </a:pPr>
              <a:endParaRPr sz="1097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" name="Google Shape;14;p1"/>
          <p:cNvSpPr txBox="1">
            <a:spLocks noGrp="1"/>
          </p:cNvSpPr>
          <p:nvPr>
            <p:ph type="title"/>
          </p:nvPr>
        </p:nvSpPr>
        <p:spPr>
          <a:xfrm>
            <a:off x="1766659" y="274638"/>
            <a:ext cx="7644043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400"/>
              <a:buFont typeface="Arial"/>
              <a:buNone/>
              <a:defRPr sz="3400" b="1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1"/>
          <p:cNvSpPr txBox="1">
            <a:spLocks noGrp="1"/>
          </p:cNvSpPr>
          <p:nvPr>
            <p:ph type="body" idx="1"/>
          </p:nvPr>
        </p:nvSpPr>
        <p:spPr>
          <a:xfrm>
            <a:off x="495300" y="1691276"/>
            <a:ext cx="89154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2425" algn="l" rtl="0">
              <a:lnSpc>
                <a:spcPct val="100000"/>
              </a:lnSpc>
              <a:spcBef>
                <a:spcPts val="390"/>
              </a:spcBef>
              <a:spcAft>
                <a:spcPts val="0"/>
              </a:spcAft>
              <a:buClr>
                <a:srgbClr val="515151"/>
              </a:buClr>
              <a:buSzPts val="1950"/>
              <a:buFont typeface="Arial"/>
              <a:buChar char="•"/>
              <a:defRPr sz="1950" b="1" i="0" u="none" strike="noStrike" cap="none">
                <a:solidFill>
                  <a:srgbClr val="51515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6931" algn="l" rtl="0">
              <a:lnSpc>
                <a:spcPct val="100000"/>
              </a:lnSpc>
              <a:spcBef>
                <a:spcPts val="341"/>
              </a:spcBef>
              <a:spcAft>
                <a:spcPts val="0"/>
              </a:spcAft>
              <a:buClr>
                <a:srgbClr val="515151"/>
              </a:buClr>
              <a:buSzPts val="1706"/>
              <a:buFont typeface="Arial"/>
              <a:buChar char="–"/>
              <a:defRPr sz="1706" b="1" i="0" u="none" strike="noStrike" cap="none">
                <a:solidFill>
                  <a:srgbClr val="51515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1437" algn="l" rtl="0">
              <a:lnSpc>
                <a:spcPct val="100000"/>
              </a:lnSpc>
              <a:spcBef>
                <a:spcPts val="292"/>
              </a:spcBef>
              <a:spcAft>
                <a:spcPts val="0"/>
              </a:spcAft>
              <a:buClr>
                <a:srgbClr val="515151"/>
              </a:buClr>
              <a:buSzPts val="1462"/>
              <a:buFont typeface="Arial"/>
              <a:buChar char="•"/>
              <a:defRPr sz="1462" b="1" i="0" u="none" strike="noStrike" cap="none">
                <a:solidFill>
                  <a:srgbClr val="51515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6007" algn="l" rtl="0">
              <a:lnSpc>
                <a:spcPct val="100000"/>
              </a:lnSpc>
              <a:spcBef>
                <a:spcPts val="244"/>
              </a:spcBef>
              <a:spcAft>
                <a:spcPts val="0"/>
              </a:spcAft>
              <a:buClr>
                <a:srgbClr val="515151"/>
              </a:buClr>
              <a:buSzPts val="1219"/>
              <a:buFont typeface="Arial"/>
              <a:buChar char="–"/>
              <a:defRPr sz="1219" b="1" i="0" u="none" strike="noStrike" cap="none">
                <a:solidFill>
                  <a:srgbClr val="51515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6007" algn="l" rtl="0">
              <a:lnSpc>
                <a:spcPct val="100000"/>
              </a:lnSpc>
              <a:spcBef>
                <a:spcPts val="244"/>
              </a:spcBef>
              <a:spcAft>
                <a:spcPts val="0"/>
              </a:spcAft>
              <a:buClr>
                <a:srgbClr val="515151"/>
              </a:buClr>
              <a:buSzPts val="1219"/>
              <a:buFont typeface="Arial"/>
              <a:buChar char="»"/>
              <a:defRPr sz="1219" b="1" i="0" u="none" strike="noStrike" cap="none">
                <a:solidFill>
                  <a:srgbClr val="51515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6007" algn="l" rtl="0">
              <a:lnSpc>
                <a:spcPct val="100000"/>
              </a:lnSpc>
              <a:spcBef>
                <a:spcPts val="244"/>
              </a:spcBef>
              <a:spcAft>
                <a:spcPts val="0"/>
              </a:spcAft>
              <a:buClr>
                <a:schemeClr val="dk1"/>
              </a:buClr>
              <a:buSzPts val="1219"/>
              <a:buFont typeface="Arial"/>
              <a:buChar char="•"/>
              <a:defRPr sz="121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06007" algn="l" rtl="0">
              <a:lnSpc>
                <a:spcPct val="100000"/>
              </a:lnSpc>
              <a:spcBef>
                <a:spcPts val="244"/>
              </a:spcBef>
              <a:spcAft>
                <a:spcPts val="0"/>
              </a:spcAft>
              <a:buClr>
                <a:schemeClr val="dk1"/>
              </a:buClr>
              <a:buSzPts val="1219"/>
              <a:buFont typeface="Arial"/>
              <a:buChar char="•"/>
              <a:defRPr sz="121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06007" algn="l" rtl="0">
              <a:lnSpc>
                <a:spcPct val="100000"/>
              </a:lnSpc>
              <a:spcBef>
                <a:spcPts val="244"/>
              </a:spcBef>
              <a:spcAft>
                <a:spcPts val="0"/>
              </a:spcAft>
              <a:buClr>
                <a:schemeClr val="dk1"/>
              </a:buClr>
              <a:buSzPts val="1219"/>
              <a:buFont typeface="Arial"/>
              <a:buChar char="•"/>
              <a:defRPr sz="121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06007" algn="l" rtl="0">
              <a:lnSpc>
                <a:spcPct val="100000"/>
              </a:lnSpc>
              <a:spcBef>
                <a:spcPts val="244"/>
              </a:spcBef>
              <a:spcAft>
                <a:spcPts val="0"/>
              </a:spcAft>
              <a:buClr>
                <a:schemeClr val="dk1"/>
              </a:buClr>
              <a:buSzPts val="1219"/>
              <a:buFont typeface="Arial"/>
              <a:buChar char="•"/>
              <a:defRPr sz="121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" name="Google Shape;16;p1"/>
          <p:cNvSpPr txBox="1">
            <a:spLocks noGrp="1"/>
          </p:cNvSpPr>
          <p:nvPr>
            <p:ph type="ftr" idx="11"/>
          </p:nvPr>
        </p:nvSpPr>
        <p:spPr>
          <a:xfrm>
            <a:off x="3384550" y="6356357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31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2399092" y="6663587"/>
            <a:ext cx="5107817" cy="96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</a:pPr>
            <a:r>
              <a:rPr lang="zh-TW" sz="731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Institute of Electronics, National Yang Ming Chiao Tung University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6810392" y="6669462"/>
            <a:ext cx="2691473" cy="71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</a:pPr>
            <a:r>
              <a:rPr lang="zh-TW" sz="731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VLSI Design Automation LAB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"/>
          <p:cNvSpPr txBox="1">
            <a:spLocks noGrp="1"/>
          </p:cNvSpPr>
          <p:nvPr>
            <p:ph type="dt" idx="10"/>
          </p:nvPr>
        </p:nvSpPr>
        <p:spPr>
          <a:xfrm>
            <a:off x="309530" y="6572272"/>
            <a:ext cx="1083476" cy="285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1"/>
          <p:cNvSpPr txBox="1">
            <a:spLocks noGrp="1"/>
          </p:cNvSpPr>
          <p:nvPr>
            <p:ph type="sldNum" idx="12"/>
          </p:nvPr>
        </p:nvSpPr>
        <p:spPr>
          <a:xfrm>
            <a:off x="9395285" y="6565952"/>
            <a:ext cx="433359" cy="29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1"/>
              <a:buFont typeface="Arial"/>
              <a:buNone/>
              <a:defRPr sz="73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240450" y="1389592"/>
            <a:ext cx="612000" cy="16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400" b="1" i="0" u="none" strike="noStrike" cap="none">
                <a:solidFill>
                  <a:srgbClr val="FFFFFF"/>
                </a:solidFill>
                <a:latin typeface="Overlock"/>
                <a:ea typeface="Overlock"/>
                <a:cs typeface="Overlock"/>
                <a:sym typeface="Overlock"/>
              </a:rPr>
              <a:t>   </a:t>
            </a:r>
            <a:endParaRPr/>
          </a:p>
        </p:txBody>
      </p:sp>
      <p:grpSp>
        <p:nvGrpSpPr>
          <p:cNvPr id="22" name="Google Shape;22;p1"/>
          <p:cNvGrpSpPr/>
          <p:nvPr/>
        </p:nvGrpSpPr>
        <p:grpSpPr>
          <a:xfrm>
            <a:off x="123902" y="110407"/>
            <a:ext cx="1457095" cy="1460719"/>
            <a:chOff x="232141" y="214292"/>
            <a:chExt cx="1457095" cy="1460719"/>
          </a:xfrm>
        </p:grpSpPr>
        <p:pic>
          <p:nvPicPr>
            <p:cNvPr id="23" name="Google Shape;23;p1" descr="logo2拷貝.jpg"/>
            <p:cNvPicPr preferRelativeResize="0"/>
            <p:nvPr/>
          </p:nvPicPr>
          <p:blipFill rotWithShape="1">
            <a:blip r:embed="rId14">
              <a:alphaModFix amt="85000"/>
            </a:blip>
            <a:srcRect/>
            <a:stretch/>
          </p:blipFill>
          <p:spPr>
            <a:xfrm>
              <a:off x="232141" y="214292"/>
              <a:ext cx="1457095" cy="146071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" name="Google Shape;24;p1"/>
            <p:cNvSpPr/>
            <p:nvPr/>
          </p:nvSpPr>
          <p:spPr>
            <a:xfrm>
              <a:off x="240450" y="1389592"/>
              <a:ext cx="612000" cy="162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400" b="1" i="0" u="none" strike="noStrike" cap="none">
                  <a:solidFill>
                    <a:srgbClr val="FFFFFF"/>
                  </a:solidFill>
                  <a:latin typeface="Overlock"/>
                  <a:ea typeface="Overlock"/>
                  <a:cs typeface="Overlock"/>
                  <a:sym typeface="Overlock"/>
                </a:rPr>
                <a:t>   </a:t>
              </a:r>
              <a:endParaRPr/>
            </a:p>
          </p:txBody>
        </p:sp>
      </p:grpSp>
      <p:sp>
        <p:nvSpPr>
          <p:cNvPr id="25" name="Google Shape;25;p1"/>
          <p:cNvSpPr/>
          <p:nvPr/>
        </p:nvSpPr>
        <p:spPr>
          <a:xfrm>
            <a:off x="77356" y="1225010"/>
            <a:ext cx="68002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400" b="1" i="0" u="none" strike="noStrike" cap="none">
                <a:solidFill>
                  <a:srgbClr val="FFFFFF"/>
                </a:solidFill>
                <a:latin typeface="Overlock"/>
                <a:ea typeface="Overlock"/>
                <a:cs typeface="Overlock"/>
                <a:sym typeface="Overlock"/>
              </a:rPr>
              <a:t>NYCU</a:t>
            </a:r>
            <a:endParaRPr sz="1400" b="1" i="0" u="none" strike="noStrike" cap="none">
              <a:solidFill>
                <a:srgbClr val="FFFFFF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  <p:grpSp>
        <p:nvGrpSpPr>
          <p:cNvPr id="26" name="Google Shape;26;p1"/>
          <p:cNvGrpSpPr/>
          <p:nvPr/>
        </p:nvGrpSpPr>
        <p:grpSpPr>
          <a:xfrm>
            <a:off x="7981949" y="5580626"/>
            <a:ext cx="1812154" cy="888591"/>
            <a:chOff x="7810383" y="5522742"/>
            <a:chExt cx="1953676" cy="957987"/>
          </a:xfrm>
        </p:grpSpPr>
        <p:grpSp>
          <p:nvGrpSpPr>
            <p:cNvPr id="27" name="Google Shape;27;p1"/>
            <p:cNvGrpSpPr/>
            <p:nvPr/>
          </p:nvGrpSpPr>
          <p:grpSpPr>
            <a:xfrm>
              <a:off x="7810383" y="5568680"/>
              <a:ext cx="1953676" cy="912049"/>
              <a:chOff x="5583412" y="4210558"/>
              <a:chExt cx="4366646" cy="1933093"/>
            </a:xfrm>
          </p:grpSpPr>
          <p:pic>
            <p:nvPicPr>
              <p:cNvPr id="28" name="Google Shape;28;p1" descr="V.eps"/>
              <p:cNvPicPr preferRelativeResize="0"/>
              <p:nvPr/>
            </p:nvPicPr>
            <p:blipFill rotWithShape="1">
              <a:blip r:embed="rId15">
                <a:alphaModFix/>
              </a:blip>
              <a:srcRect l="1553" t="2167" r="-1" b="1"/>
              <a:stretch/>
            </p:blipFill>
            <p:spPr>
              <a:xfrm>
                <a:off x="5583412" y="4210558"/>
                <a:ext cx="1915356" cy="192341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9" name="Google Shape;29;p1" descr="D.eps"/>
              <p:cNvPicPr preferRelativeResize="0"/>
              <p:nvPr/>
            </p:nvPicPr>
            <p:blipFill rotWithShape="1">
              <a:blip r:embed="rId16">
                <a:alphaModFix/>
              </a:blip>
              <a:srcRect l="470" t="481" r="-200" b="697"/>
              <a:stretch/>
            </p:blipFill>
            <p:spPr>
              <a:xfrm>
                <a:off x="6781889" y="4362195"/>
                <a:ext cx="1915359" cy="178145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0" name="Google Shape;30;p1" descr="A.eps"/>
              <p:cNvPicPr preferRelativeResize="0"/>
              <p:nvPr/>
            </p:nvPicPr>
            <p:blipFill rotWithShape="1">
              <a:blip r:embed="rId17">
                <a:alphaModFix/>
              </a:blip>
              <a:srcRect l="1304" t="1300" r="-1"/>
              <a:stretch/>
            </p:blipFill>
            <p:spPr>
              <a:xfrm>
                <a:off x="7993357" y="4235232"/>
                <a:ext cx="1956701" cy="18730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31" name="Google Shape;31;p1"/>
            <p:cNvSpPr/>
            <p:nvPr/>
          </p:nvSpPr>
          <p:spPr>
            <a:xfrm>
              <a:off x="7810383" y="5522742"/>
              <a:ext cx="1920280" cy="957987"/>
            </a:xfrm>
            <a:prstGeom prst="rect">
              <a:avLst/>
            </a:prstGeom>
            <a:solidFill>
              <a:srgbClr val="FFFFFF">
                <a:alpha val="32941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2" name="Google Shape;32;p1" descr="三筒掰了！陽明交大新校徽「蛇+鐵槌」反應兩極醫驚內行才懂| 大學研究所| 文教| 聯合新聞網"/>
          <p:cNvPicPr preferRelativeResize="0"/>
          <p:nvPr/>
        </p:nvPicPr>
        <p:blipFill rotWithShape="1">
          <a:blip r:embed="rId18">
            <a:alphaModFix amt="10000"/>
          </a:blip>
          <a:srcRect l="25989" t="10580" r="26826" b="31327"/>
          <a:stretch/>
        </p:blipFill>
        <p:spPr>
          <a:xfrm>
            <a:off x="3296816" y="1864025"/>
            <a:ext cx="3312368" cy="33277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4"/>
          <p:cNvSpPr txBox="1">
            <a:spLocks noGrp="1"/>
          </p:cNvSpPr>
          <p:nvPr>
            <p:ph type="ctrTitle"/>
          </p:nvPr>
        </p:nvSpPr>
        <p:spPr>
          <a:xfrm>
            <a:off x="742950" y="2057396"/>
            <a:ext cx="84201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altLang="zh-TW" dirty="0"/>
              <a:t>The </a:t>
            </a:r>
            <a:r>
              <a:rPr lang="en-US" altLang="zh-TW" dirty="0" err="1"/>
              <a:t>FloorSet</a:t>
            </a:r>
            <a:r>
              <a:rPr lang="en-US" altLang="zh-TW" dirty="0"/>
              <a:t> Challenge</a:t>
            </a:r>
            <a:br>
              <a:rPr lang="en-US" altLang="zh-TW" dirty="0"/>
            </a:br>
            <a:r>
              <a:rPr lang="en-US" altLang="zh-TW" dirty="0"/>
              <a:t>Data-Driven-SoC-Floorplanning</a:t>
            </a:r>
            <a:endParaRPr dirty="0"/>
          </a:p>
        </p:txBody>
      </p:sp>
      <p:sp>
        <p:nvSpPr>
          <p:cNvPr id="115" name="Google Shape;115;p14"/>
          <p:cNvSpPr txBox="1">
            <a:spLocks noGrp="1"/>
          </p:cNvSpPr>
          <p:nvPr>
            <p:ph type="subTitle" idx="1"/>
          </p:nvPr>
        </p:nvSpPr>
        <p:spPr>
          <a:xfrm>
            <a:off x="1485900" y="3992202"/>
            <a:ext cx="6934200" cy="805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spcBef>
                <a:spcPts val="0"/>
              </a:spcBef>
            </a:pPr>
            <a:r>
              <a:rPr lang="en-US" altLang="zh-CN" dirty="0"/>
              <a:t>ICCAD 2026 Contest Problem C</a:t>
            </a:r>
            <a:endParaRPr dirty="0"/>
          </a:p>
        </p:txBody>
      </p:sp>
      <p:sp>
        <p:nvSpPr>
          <p:cNvPr id="116" name="Google Shape;116;p14"/>
          <p:cNvSpPr txBox="1">
            <a:spLocks noGrp="1"/>
          </p:cNvSpPr>
          <p:nvPr>
            <p:ph type="sldNum" idx="12"/>
          </p:nvPr>
        </p:nvSpPr>
        <p:spPr>
          <a:xfrm>
            <a:off x="9395285" y="6565952"/>
            <a:ext cx="433359" cy="29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 altLang="zh-TW"/>
              <a:t>1</a:t>
            </a:fld>
            <a:endParaRPr/>
          </a:p>
        </p:txBody>
      </p:sp>
      <p:sp>
        <p:nvSpPr>
          <p:cNvPr id="4" name="副標題 2">
            <a:extLst>
              <a:ext uri="{FF2B5EF4-FFF2-40B4-BE49-F238E27FC236}">
                <a16:creationId xmlns:a16="http://schemas.microsoft.com/office/drawing/2014/main" id="{09712432-2251-05BD-7276-37D85D6D1342}"/>
              </a:ext>
            </a:extLst>
          </p:cNvPr>
          <p:cNvSpPr txBox="1">
            <a:spLocks/>
          </p:cNvSpPr>
          <p:nvPr/>
        </p:nvSpPr>
        <p:spPr>
          <a:xfrm>
            <a:off x="1752600" y="4839295"/>
            <a:ext cx="6400800" cy="1458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2425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6931" algn="ctr" rtl="0">
              <a:lnSpc>
                <a:spcPct val="100000"/>
              </a:lnSpc>
              <a:spcBef>
                <a:spcPts val="341"/>
              </a:spcBef>
              <a:spcAft>
                <a:spcPts val="0"/>
              </a:spcAft>
              <a:buClr>
                <a:srgbClr val="888888"/>
              </a:buClr>
              <a:buSzPts val="1706"/>
              <a:buFont typeface="Arial"/>
              <a:buNone/>
              <a:defRPr sz="1706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1437" algn="ctr" rtl="0">
              <a:lnSpc>
                <a:spcPct val="100000"/>
              </a:lnSpc>
              <a:spcBef>
                <a:spcPts val="292"/>
              </a:spcBef>
              <a:spcAft>
                <a:spcPts val="0"/>
              </a:spcAft>
              <a:buClr>
                <a:srgbClr val="888888"/>
              </a:buClr>
              <a:buSzPts val="1462"/>
              <a:buFont typeface="Arial"/>
              <a:buNone/>
              <a:defRPr sz="1462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6007" algn="ctr" rtl="0">
              <a:lnSpc>
                <a:spcPct val="100000"/>
              </a:lnSpc>
              <a:spcBef>
                <a:spcPts val="244"/>
              </a:spcBef>
              <a:spcAft>
                <a:spcPts val="0"/>
              </a:spcAft>
              <a:buClr>
                <a:srgbClr val="888888"/>
              </a:buClr>
              <a:buSzPts val="1219"/>
              <a:buFont typeface="Arial"/>
              <a:buNone/>
              <a:defRPr sz="1219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6007" algn="ctr" rtl="0">
              <a:lnSpc>
                <a:spcPct val="100000"/>
              </a:lnSpc>
              <a:spcBef>
                <a:spcPts val="244"/>
              </a:spcBef>
              <a:spcAft>
                <a:spcPts val="0"/>
              </a:spcAft>
              <a:buClr>
                <a:srgbClr val="888888"/>
              </a:buClr>
              <a:buSzPts val="1219"/>
              <a:buFont typeface="Arial"/>
              <a:buNone/>
              <a:defRPr sz="1219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6007" algn="ctr" rtl="0">
              <a:lnSpc>
                <a:spcPct val="100000"/>
              </a:lnSpc>
              <a:spcBef>
                <a:spcPts val="244"/>
              </a:spcBef>
              <a:spcAft>
                <a:spcPts val="0"/>
              </a:spcAft>
              <a:buClr>
                <a:srgbClr val="888888"/>
              </a:buClr>
              <a:buSzPts val="1219"/>
              <a:buFont typeface="Arial"/>
              <a:buNone/>
              <a:defRPr sz="121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06007" algn="ctr" rtl="0">
              <a:lnSpc>
                <a:spcPct val="100000"/>
              </a:lnSpc>
              <a:spcBef>
                <a:spcPts val="244"/>
              </a:spcBef>
              <a:spcAft>
                <a:spcPts val="0"/>
              </a:spcAft>
              <a:buClr>
                <a:srgbClr val="888888"/>
              </a:buClr>
              <a:buSzPts val="1219"/>
              <a:buFont typeface="Arial"/>
              <a:buNone/>
              <a:defRPr sz="121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06007" algn="ctr" rtl="0">
              <a:lnSpc>
                <a:spcPct val="100000"/>
              </a:lnSpc>
              <a:spcBef>
                <a:spcPts val="244"/>
              </a:spcBef>
              <a:spcAft>
                <a:spcPts val="0"/>
              </a:spcAft>
              <a:buClr>
                <a:srgbClr val="888888"/>
              </a:buClr>
              <a:buSzPts val="1219"/>
              <a:buFont typeface="Arial"/>
              <a:buNone/>
              <a:defRPr sz="121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06007" algn="ctr" rtl="0">
              <a:lnSpc>
                <a:spcPct val="100000"/>
              </a:lnSpc>
              <a:spcBef>
                <a:spcPts val="244"/>
              </a:spcBef>
              <a:spcAft>
                <a:spcPts val="0"/>
              </a:spcAft>
              <a:buClr>
                <a:srgbClr val="888888"/>
              </a:buClr>
              <a:buSzPts val="1219"/>
              <a:buFont typeface="Arial"/>
              <a:buNone/>
              <a:defRPr sz="121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spcBef>
                <a:spcPts val="600"/>
              </a:spcBef>
            </a:pPr>
            <a:r>
              <a:rPr lang="en-US" altLang="zh-TW" sz="18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Presenter:</a:t>
            </a:r>
            <a:br>
              <a:rPr lang="en-US" altLang="zh-TW" sz="18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</a:br>
            <a:r>
              <a:rPr lang="en-US" altLang="zh-CN" sz="22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Cheng-An Tsai</a:t>
            </a:r>
            <a:endParaRPr lang="en-US" altLang="zh-TW" sz="2200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</a:pPr>
            <a:r>
              <a:rPr lang="en-US" altLang="zh-TW" sz="18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Advisor:</a:t>
            </a:r>
            <a:br>
              <a:rPr lang="en-US" altLang="zh-TW" sz="18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</a:br>
            <a:r>
              <a:rPr lang="en-US" altLang="zh-TW" sz="22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Hung-Ming Chen</a:t>
            </a:r>
            <a:endParaRPr lang="zh-TW" altLang="en-US" sz="2200" dirty="0">
              <a:solidFill>
                <a:schemeClr val="tx1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5"/>
          <p:cNvSpPr txBox="1">
            <a:spLocks noGrp="1"/>
          </p:cNvSpPr>
          <p:nvPr>
            <p:ph type="body" idx="1"/>
          </p:nvPr>
        </p:nvSpPr>
        <p:spPr>
          <a:xfrm>
            <a:off x="495300" y="1600206"/>
            <a:ext cx="8915400" cy="4579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71500" indent="-342900"/>
            <a:r>
              <a:rPr lang="en-US" altLang="zh-TW" dirty="0"/>
              <a:t>Problem Statement</a:t>
            </a:r>
          </a:p>
          <a:p>
            <a:pPr marL="1028700" lvl="1" indent="-342900"/>
            <a:r>
              <a:rPr lang="en-US" altLang="zh-TW" sz="2000" dirty="0"/>
              <a:t>Inputs </a:t>
            </a:r>
            <a:r>
              <a:rPr lang="en-US" altLang="zh-CN" sz="2000" dirty="0"/>
              <a:t>and </a:t>
            </a:r>
            <a:r>
              <a:rPr lang="en-US" altLang="zh-TW" sz="2000" dirty="0"/>
              <a:t>Outputs</a:t>
            </a:r>
          </a:p>
          <a:p>
            <a:pPr marL="1028700" lvl="1" indent="-342900"/>
            <a:r>
              <a:rPr lang="en-US" altLang="zh-TW" sz="2000" dirty="0"/>
              <a:t>Hard and Soft Constraints</a:t>
            </a:r>
          </a:p>
          <a:p>
            <a:pPr marL="1028700" lvl="1" indent="-342900"/>
            <a:r>
              <a:rPr lang="en-US" altLang="zh-TW" sz="2000" dirty="0"/>
              <a:t>Evaluation </a:t>
            </a:r>
            <a:r>
              <a:rPr lang="en-US" altLang="zh-TW" sz="2000" i="1" dirty="0"/>
              <a:t>Metrics</a:t>
            </a:r>
          </a:p>
          <a:p>
            <a:pPr marL="1028700" lvl="1" indent="-342900"/>
            <a:r>
              <a:rPr lang="en-US" altLang="zh-TW" sz="2000" dirty="0"/>
              <a:t>Evaluator Update from v9 to v10</a:t>
            </a:r>
          </a:p>
          <a:p>
            <a:pPr marL="571500" indent="-342900"/>
            <a:r>
              <a:rPr lang="en-US" altLang="zh-TW" dirty="0"/>
              <a:t>Related Work</a:t>
            </a:r>
          </a:p>
          <a:p>
            <a:pPr marL="571500" indent="-342900"/>
            <a:r>
              <a:rPr lang="en-US" altLang="zh-TW" dirty="0"/>
              <a:t>Proposed Methodology</a:t>
            </a:r>
          </a:p>
          <a:p>
            <a:pPr marL="571500" indent="-342900"/>
            <a:r>
              <a:rPr lang="en-US" altLang="zh-TW" dirty="0"/>
              <a:t>Implementation</a:t>
            </a:r>
            <a:endParaRPr lang="en-US" altLang="zh-TW" sz="2000" dirty="0"/>
          </a:p>
          <a:p>
            <a:pPr marL="571500" indent="-342900"/>
            <a:r>
              <a:rPr lang="en-US" altLang="zh-TW" dirty="0"/>
              <a:t>Experimental Results</a:t>
            </a:r>
          </a:p>
          <a:p>
            <a:pPr marL="571500" indent="-342900"/>
            <a:r>
              <a:rPr lang="en-US" altLang="zh-CN" dirty="0"/>
              <a:t>Conclusion</a:t>
            </a:r>
          </a:p>
          <a:p>
            <a:pPr marL="571500" indent="-342900"/>
            <a:r>
              <a:rPr lang="en-US" altLang="zh-TW" dirty="0"/>
              <a:t>Future Work</a:t>
            </a:r>
          </a:p>
        </p:txBody>
      </p:sp>
      <p:sp>
        <p:nvSpPr>
          <p:cNvPr id="122" name="Google Shape;122;p15"/>
          <p:cNvSpPr txBox="1">
            <a:spLocks noGrp="1"/>
          </p:cNvSpPr>
          <p:nvPr>
            <p:ph type="title"/>
          </p:nvPr>
        </p:nvSpPr>
        <p:spPr>
          <a:xfrm>
            <a:off x="1766659" y="274638"/>
            <a:ext cx="7644043" cy="1308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400"/>
              <a:buFont typeface="Arial"/>
              <a:buNone/>
            </a:pPr>
            <a:r>
              <a:rPr lang="en-US" dirty="0"/>
              <a:t>Outline</a:t>
            </a:r>
            <a:endParaRPr dirty="0"/>
          </a:p>
        </p:txBody>
      </p:sp>
      <p:sp>
        <p:nvSpPr>
          <p:cNvPr id="123" name="Google Shape;123;p15"/>
          <p:cNvSpPr txBox="1">
            <a:spLocks noGrp="1"/>
          </p:cNvSpPr>
          <p:nvPr>
            <p:ph type="sldNum" idx="12"/>
          </p:nvPr>
        </p:nvSpPr>
        <p:spPr>
          <a:xfrm>
            <a:off x="9395285" y="6565952"/>
            <a:ext cx="433359" cy="29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 altLang="zh-TW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79AB0D3D-E3A9-3A7E-090D-AC3EBF1E9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5">
            <a:extLst>
              <a:ext uri="{FF2B5EF4-FFF2-40B4-BE49-F238E27FC236}">
                <a16:creationId xmlns:a16="http://schemas.microsoft.com/office/drawing/2014/main" id="{355CC494-91EF-BE1C-28DC-D3A0B613D2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95300" y="1600206"/>
            <a:ext cx="8915400" cy="452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71500" indent="-342900"/>
            <a:r>
              <a:rPr lang="en-US" altLang="zh-TW" dirty="0"/>
              <a:t>Problem Statement</a:t>
            </a:r>
          </a:p>
          <a:p>
            <a:pPr marL="1028700" lvl="1" indent="-342900"/>
            <a:r>
              <a:rPr lang="en-US" altLang="zh-TW" sz="2000" dirty="0"/>
              <a:t>Inputs </a:t>
            </a:r>
            <a:r>
              <a:rPr lang="en-US" altLang="zh-CN" sz="2000" dirty="0"/>
              <a:t>and </a:t>
            </a:r>
            <a:r>
              <a:rPr lang="en-US" altLang="zh-TW" sz="2000" dirty="0"/>
              <a:t>Outputs</a:t>
            </a:r>
          </a:p>
          <a:p>
            <a:pPr marL="1028700" lvl="1" indent="-342900"/>
            <a:r>
              <a:rPr lang="en-US" altLang="zh-TW" sz="2000" dirty="0"/>
              <a:t>Hard and Soft Constraints</a:t>
            </a:r>
          </a:p>
          <a:p>
            <a:pPr marL="1028700" lvl="1" indent="-342900"/>
            <a:r>
              <a:rPr lang="en-US" altLang="zh-TW" sz="2000" dirty="0"/>
              <a:t>Evaluation Metrics</a:t>
            </a:r>
          </a:p>
          <a:p>
            <a:pPr marL="1028700" lvl="1" indent="-342900"/>
            <a:r>
              <a:rPr lang="en-US" altLang="zh-TW" sz="2000" dirty="0"/>
              <a:t>Evaluator Update from v9 to v10</a:t>
            </a:r>
          </a:p>
          <a:p>
            <a:pPr marL="571500" indent="-342900"/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Related Work</a:t>
            </a:r>
          </a:p>
          <a:p>
            <a:pPr marL="571500" indent="-342900"/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Proposed Methodology</a:t>
            </a:r>
          </a:p>
          <a:p>
            <a:pPr marL="571500" indent="-342900"/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Implementation</a:t>
            </a:r>
            <a:endParaRPr lang="en-US" altLang="zh-TW" sz="2000" dirty="0">
              <a:solidFill>
                <a:schemeClr val="bg1">
                  <a:lumMod val="65000"/>
                </a:schemeClr>
              </a:solidFill>
            </a:endParaRPr>
          </a:p>
          <a:p>
            <a:pPr marL="571500" indent="-342900"/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Experimental Results</a:t>
            </a:r>
          </a:p>
          <a:p>
            <a:pPr marL="571500" indent="-342900"/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Conclusion</a:t>
            </a:r>
          </a:p>
          <a:p>
            <a:pPr marL="571500" indent="-342900"/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Future Work</a:t>
            </a:r>
          </a:p>
        </p:txBody>
      </p:sp>
      <p:sp>
        <p:nvSpPr>
          <p:cNvPr id="122" name="Google Shape;122;p15">
            <a:extLst>
              <a:ext uri="{FF2B5EF4-FFF2-40B4-BE49-F238E27FC236}">
                <a16:creationId xmlns:a16="http://schemas.microsoft.com/office/drawing/2014/main" id="{A8AA4B42-1CD8-5965-DC82-8BC29BAD89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66659" y="274638"/>
            <a:ext cx="7644043" cy="1308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400"/>
              <a:buFont typeface="Arial"/>
              <a:buNone/>
            </a:pPr>
            <a:r>
              <a:rPr lang="en-US" dirty="0"/>
              <a:t>Outline</a:t>
            </a:r>
            <a:endParaRPr dirty="0"/>
          </a:p>
        </p:txBody>
      </p:sp>
      <p:sp>
        <p:nvSpPr>
          <p:cNvPr id="123" name="Google Shape;123;p15">
            <a:extLst>
              <a:ext uri="{FF2B5EF4-FFF2-40B4-BE49-F238E27FC236}">
                <a16:creationId xmlns:a16="http://schemas.microsoft.com/office/drawing/2014/main" id="{86C3A2C4-26D7-58C2-7B12-99F7F5FF2E3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395285" y="6565952"/>
            <a:ext cx="433359" cy="29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 altLang="zh-TW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45177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E78429C1-DA59-C5B4-EEB2-1304E0EBC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5">
            <a:extLst>
              <a:ext uri="{FF2B5EF4-FFF2-40B4-BE49-F238E27FC236}">
                <a16:creationId xmlns:a16="http://schemas.microsoft.com/office/drawing/2014/main" id="{F38A12D2-B51A-056E-CF4C-049255679D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95300" y="1600206"/>
            <a:ext cx="9125218" cy="4807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571500" indent="-342900"/>
            <a:r>
              <a:rPr lang="en-US" altLang="zh-TW" b="1" dirty="0"/>
              <a:t>Goal</a:t>
            </a:r>
            <a:r>
              <a:rPr lang="en-US" altLang="zh-TW" dirty="0"/>
              <a:t>: generate legal and high-quality SoC floorplans from </a:t>
            </a:r>
            <a:r>
              <a:rPr lang="en-US" altLang="zh-TW" dirty="0" err="1"/>
              <a:t>FloorSet</a:t>
            </a:r>
            <a:r>
              <a:rPr lang="en-US" altLang="zh-TW" dirty="0"/>
              <a:t> instances</a:t>
            </a:r>
          </a:p>
          <a:p>
            <a:pPr marL="571500" indent="-342900"/>
            <a:r>
              <a:rPr lang="en-US" altLang="zh-TW" dirty="0"/>
              <a:t>Inputs:</a:t>
            </a:r>
          </a:p>
          <a:p>
            <a:pPr marL="1028700" lvl="1" indent="-342900"/>
            <a:r>
              <a:rPr lang="en-US" altLang="zh-TW" sz="2000" b="0" dirty="0"/>
              <a:t>Block information: number of blocks and target area of each block</a:t>
            </a:r>
          </a:p>
          <a:p>
            <a:pPr marL="1028700" lvl="1" indent="-342900"/>
            <a:r>
              <a:rPr lang="en-US" altLang="zh-TW" sz="2000" b="0" dirty="0"/>
              <a:t>Netlist information: block-to-block connectivity and pin-to-block connectivity</a:t>
            </a:r>
          </a:p>
          <a:p>
            <a:pPr marL="1028700" lvl="1" indent="-342900"/>
            <a:r>
              <a:rPr lang="en-US" altLang="zh-TW" sz="2000" b="0" dirty="0"/>
              <a:t>Pin information: pin coordinates</a:t>
            </a:r>
          </a:p>
          <a:p>
            <a:pPr marL="1028700" lvl="1" indent="-342900"/>
            <a:r>
              <a:rPr lang="en-US" altLang="zh-TW" sz="2000" dirty="0"/>
              <a:t>Constraint information: </a:t>
            </a:r>
            <a:r>
              <a:rPr lang="en-US" altLang="zh-TW" sz="2000" i="1" dirty="0"/>
              <a:t>[fixed, preplaced, MIB ID, cluster ID, boundary code]</a:t>
            </a:r>
          </a:p>
          <a:p>
            <a:pPr marL="1028700" lvl="1" indent="-342900"/>
            <a:r>
              <a:rPr lang="en-US" altLang="zh-TW" sz="2000" b="0" dirty="0"/>
              <a:t>Optional training labels: </a:t>
            </a:r>
            <a:r>
              <a:rPr lang="en-US" altLang="zh-TW" sz="2000" b="0" i="1" dirty="0" err="1"/>
              <a:t>fp_sol</a:t>
            </a:r>
            <a:r>
              <a:rPr lang="en-US" altLang="zh-TW" sz="2000" b="0" dirty="0"/>
              <a:t>, </a:t>
            </a:r>
            <a:r>
              <a:rPr lang="en-US" altLang="zh-TW" sz="2000" b="0" i="1" dirty="0" err="1"/>
              <a:t>tree_sol</a:t>
            </a:r>
            <a:r>
              <a:rPr lang="en-US" altLang="zh-TW" sz="2000" b="0" dirty="0"/>
              <a:t>, and </a:t>
            </a:r>
            <a:r>
              <a:rPr lang="en-US" altLang="zh-TW" sz="2000" b="0" i="1" dirty="0" err="1"/>
              <a:t>metrics_sol</a:t>
            </a:r>
            <a:endParaRPr lang="en-US" altLang="zh-TW" sz="2000" b="0" i="1" dirty="0"/>
          </a:p>
          <a:p>
            <a:pPr marL="571500" indent="-342900"/>
            <a:r>
              <a:rPr lang="en-US" altLang="zh-TW" dirty="0"/>
              <a:t>Outputs:</a:t>
            </a:r>
          </a:p>
          <a:p>
            <a:pPr marL="1028700" lvl="1" indent="-342900"/>
            <a:r>
              <a:rPr lang="en-US" altLang="zh-TW" sz="2000" b="0" dirty="0"/>
              <a:t>A list of block placements: </a:t>
            </a:r>
            <a:r>
              <a:rPr lang="en-US" altLang="zh-TW" sz="2000" b="0" i="1" dirty="0"/>
              <a:t>[(</a:t>
            </a:r>
            <a:r>
              <a:rPr lang="en-US" altLang="zh-TW" sz="2000" b="0" i="1" dirty="0" err="1"/>
              <a:t>x_i</a:t>
            </a:r>
            <a:r>
              <a:rPr lang="en-US" altLang="zh-TW" sz="2000" b="0" i="1" dirty="0"/>
              <a:t>, </a:t>
            </a:r>
            <a:r>
              <a:rPr lang="en-US" altLang="zh-TW" sz="2000" b="0" i="1" dirty="0" err="1"/>
              <a:t>y_i</a:t>
            </a:r>
            <a:r>
              <a:rPr lang="en-US" altLang="zh-TW" sz="2000" b="0" i="1" dirty="0"/>
              <a:t>, </a:t>
            </a:r>
            <a:r>
              <a:rPr lang="en-US" altLang="zh-TW" sz="2000" b="0" i="1" dirty="0" err="1"/>
              <a:t>w_i</a:t>
            </a:r>
            <a:r>
              <a:rPr lang="en-US" altLang="zh-TW" sz="2000" b="0" i="1" dirty="0"/>
              <a:t>, </a:t>
            </a:r>
            <a:r>
              <a:rPr lang="en-US" altLang="zh-TW" sz="2000" b="0" i="1" dirty="0" err="1"/>
              <a:t>h_i</a:t>
            </a:r>
            <a:r>
              <a:rPr lang="en-US" altLang="zh-TW" sz="2000" b="0" i="1" dirty="0"/>
              <a:t>)]</a:t>
            </a:r>
            <a:r>
              <a:rPr lang="en-US" altLang="zh-TW" sz="2000" b="0" dirty="0"/>
              <a:t> for all blocks</a:t>
            </a:r>
          </a:p>
          <a:p>
            <a:pPr marL="1028700" lvl="1" indent="-342900"/>
            <a:r>
              <a:rPr lang="en-US" altLang="zh-TW" sz="2000" b="0" dirty="0"/>
              <a:t>Floating-point coordinates are allowed.</a:t>
            </a:r>
          </a:p>
          <a:p>
            <a:pPr marL="1028700" lvl="1" indent="-342900"/>
            <a:r>
              <a:rPr lang="en-US" altLang="zh-TW" sz="2000" b="0" dirty="0"/>
              <a:t>Any aspect ratio is allowed, as long as the area and hard constraints are satisfied.</a:t>
            </a:r>
            <a:endParaRPr sz="2000" b="0" dirty="0"/>
          </a:p>
        </p:txBody>
      </p:sp>
      <p:sp>
        <p:nvSpPr>
          <p:cNvPr id="122" name="Google Shape;122;p15">
            <a:extLst>
              <a:ext uri="{FF2B5EF4-FFF2-40B4-BE49-F238E27FC236}">
                <a16:creationId xmlns:a16="http://schemas.microsoft.com/office/drawing/2014/main" id="{8686B608-A2FF-D67E-6C8A-3F9533E7D6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66659" y="274638"/>
            <a:ext cx="7644043" cy="1308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altLang="zh-TW" dirty="0"/>
              <a:t>Problem Statement</a:t>
            </a:r>
            <a:br>
              <a:rPr lang="en-US" altLang="zh-TW" dirty="0"/>
            </a:br>
            <a:r>
              <a:rPr lang="en-US" altLang="zh-TW" sz="2000" b="0" dirty="0"/>
              <a:t>Inputs </a:t>
            </a:r>
            <a:r>
              <a:rPr lang="en-US" altLang="zh-CN" sz="2000" b="0" dirty="0"/>
              <a:t>and </a:t>
            </a:r>
            <a:r>
              <a:rPr lang="en-US" altLang="zh-TW" sz="2000" b="0" dirty="0"/>
              <a:t>Outputs</a:t>
            </a:r>
            <a:endParaRPr sz="2000" b="0" dirty="0"/>
          </a:p>
        </p:txBody>
      </p:sp>
      <p:sp>
        <p:nvSpPr>
          <p:cNvPr id="123" name="Google Shape;123;p15">
            <a:extLst>
              <a:ext uri="{FF2B5EF4-FFF2-40B4-BE49-F238E27FC236}">
                <a16:creationId xmlns:a16="http://schemas.microsoft.com/office/drawing/2014/main" id="{4998303D-1ECD-E891-4AA9-FAB3E5C219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395285" y="6565952"/>
            <a:ext cx="433359" cy="29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 altLang="zh-TW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48558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9EADDDE2-E53F-EDFE-A95A-63D204D23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5">
            <a:extLst>
              <a:ext uri="{FF2B5EF4-FFF2-40B4-BE49-F238E27FC236}">
                <a16:creationId xmlns:a16="http://schemas.microsoft.com/office/drawing/2014/main" id="{6A968543-1F39-CCA4-F59C-1E6767FABF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95300" y="1600206"/>
            <a:ext cx="9125218" cy="46653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571500" indent="-342900"/>
            <a:r>
              <a:rPr lang="en-US" altLang="zh-TW" sz="2600" b="1" dirty="0"/>
              <a:t>Hard Constraints</a:t>
            </a:r>
            <a:r>
              <a:rPr lang="en-US" altLang="zh-TW" sz="2600" dirty="0"/>
              <a:t>:</a:t>
            </a:r>
          </a:p>
          <a:p>
            <a:pPr marL="1028700" lvl="1" indent="-342900"/>
            <a:r>
              <a:rPr lang="en-US" altLang="zh-TW" sz="2200" b="0" dirty="0"/>
              <a:t>No overlap between any two blocks.</a:t>
            </a:r>
          </a:p>
          <a:p>
            <a:pPr marL="1028700" lvl="1" indent="-342900"/>
            <a:r>
              <a:rPr lang="en-US" altLang="zh-TW" sz="2200" b="0" dirty="0"/>
              <a:t>Soft-block area must be within 1% of the target area.</a:t>
            </a:r>
          </a:p>
          <a:p>
            <a:pPr marL="1028700" lvl="1" indent="-342900"/>
            <a:r>
              <a:rPr lang="en-US" altLang="zh-TW" sz="2200" dirty="0"/>
              <a:t>Fixed-shape blocks must preserve exact target dimensions.</a:t>
            </a:r>
          </a:p>
          <a:p>
            <a:pPr marL="1028700" lvl="1" indent="-342900"/>
            <a:r>
              <a:rPr lang="en-US" altLang="zh-TW" sz="2200" dirty="0"/>
              <a:t>Preplaced blocks must preserve exact target position and dimensions.</a:t>
            </a:r>
          </a:p>
          <a:p>
            <a:pPr marL="1028700" lvl="1" indent="-342900"/>
            <a:r>
              <a:rPr lang="en-US" altLang="zh-TW" sz="2200" b="0" dirty="0"/>
              <a:t>Any hard-constraint violation makes the solution infeasible with cost = 10.</a:t>
            </a:r>
            <a:endParaRPr lang="en-US" altLang="zh-TW" sz="2200" b="0" i="1" dirty="0"/>
          </a:p>
          <a:p>
            <a:pPr marL="571500" indent="-342900"/>
            <a:r>
              <a:rPr lang="en-US" altLang="zh-TW" sz="2600" b="1" dirty="0"/>
              <a:t>Soft Constraints</a:t>
            </a:r>
            <a:r>
              <a:rPr lang="en-US" altLang="zh-TW" sz="2600" dirty="0"/>
              <a:t>:</a:t>
            </a:r>
          </a:p>
          <a:p>
            <a:pPr marL="1028700" lvl="1" indent="-342900"/>
            <a:r>
              <a:rPr lang="en-US" altLang="zh-TW" sz="2200" b="0" dirty="0"/>
              <a:t>Grouping: blocks in the same group should abut and form one connected component.</a:t>
            </a:r>
          </a:p>
          <a:p>
            <a:pPr marL="1028700" lvl="1" indent="-342900"/>
            <a:r>
              <a:rPr lang="en-US" altLang="zh-TW" sz="2200" b="0" dirty="0"/>
              <a:t>MIB(Multi-Instantiation Blocks): blocks in the same MIB group should have identical dimensions.</a:t>
            </a:r>
          </a:p>
          <a:p>
            <a:pPr marL="1028700" lvl="1" indent="-342900"/>
            <a:r>
              <a:rPr lang="en-US" altLang="zh-TW" sz="2200" b="0" dirty="0"/>
              <a:t>Boundary: specified blocks should touch the required bounding-box edge or corner.</a:t>
            </a:r>
            <a:endParaRPr sz="2200" b="0" dirty="0"/>
          </a:p>
        </p:txBody>
      </p:sp>
      <p:sp>
        <p:nvSpPr>
          <p:cNvPr id="122" name="Google Shape;122;p15">
            <a:extLst>
              <a:ext uri="{FF2B5EF4-FFF2-40B4-BE49-F238E27FC236}">
                <a16:creationId xmlns:a16="http://schemas.microsoft.com/office/drawing/2014/main" id="{BD53FD14-1F6A-B71D-3E8C-C7B0CA0A1D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66659" y="274638"/>
            <a:ext cx="7644043" cy="1308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altLang="zh-TW" dirty="0"/>
              <a:t>Problem Statement</a:t>
            </a:r>
            <a:br>
              <a:rPr lang="en-US" altLang="zh-TW" dirty="0"/>
            </a:br>
            <a:r>
              <a:rPr lang="en-US" altLang="zh-TW" sz="2000" b="0" dirty="0"/>
              <a:t>Hard and Soft Constraints</a:t>
            </a:r>
            <a:endParaRPr sz="2000" b="0" dirty="0"/>
          </a:p>
        </p:txBody>
      </p:sp>
      <p:sp>
        <p:nvSpPr>
          <p:cNvPr id="123" name="Google Shape;123;p15">
            <a:extLst>
              <a:ext uri="{FF2B5EF4-FFF2-40B4-BE49-F238E27FC236}">
                <a16:creationId xmlns:a16="http://schemas.microsoft.com/office/drawing/2014/main" id="{F765E690-8D25-3893-DB4C-4C43172CEDF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395285" y="6565952"/>
            <a:ext cx="433359" cy="29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 altLang="zh-TW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115846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6CBB1D8A-2636-817C-1060-97341897D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5">
            <a:extLst>
              <a:ext uri="{FF2B5EF4-FFF2-40B4-BE49-F238E27FC236}">
                <a16:creationId xmlns:a16="http://schemas.microsoft.com/office/drawing/2014/main" id="{944C052E-F933-8940-7C0F-F534505D3A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95300" y="1600206"/>
            <a:ext cx="9125218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71500" indent="-342900"/>
            <a:endParaRPr lang="en-US" altLang="zh-TW" dirty="0"/>
          </a:p>
          <a:p>
            <a:pPr marL="571500" indent="-342900"/>
            <a:endParaRPr lang="en-US" altLang="zh-TW" dirty="0"/>
          </a:p>
          <a:p>
            <a:pPr marL="228600" indent="0">
              <a:buNone/>
            </a:pPr>
            <a:endParaRPr lang="en-US" altLang="zh-TW" dirty="0"/>
          </a:p>
          <a:p>
            <a:pPr marL="571500" indent="-342900"/>
            <a:r>
              <a:rPr lang="en-US" altLang="zh-TW" i="1" dirty="0"/>
              <a:t>Cost = (1 + 0.5 × (</a:t>
            </a:r>
            <a:r>
              <a:rPr lang="en-US" altLang="zh-TW" i="1" dirty="0" err="1"/>
              <a:t>HPWL_gap</a:t>
            </a:r>
            <a:r>
              <a:rPr lang="en-US" altLang="zh-TW" i="1" dirty="0"/>
              <a:t> + </a:t>
            </a:r>
            <a:r>
              <a:rPr lang="en-US" altLang="zh-TW" i="1" dirty="0" err="1"/>
              <a:t>Area_gap</a:t>
            </a:r>
            <a:r>
              <a:rPr lang="en-US" altLang="zh-TW" i="1" dirty="0"/>
              <a:t>))</a:t>
            </a:r>
            <a:br>
              <a:rPr lang="en-US" altLang="zh-TW" i="1" dirty="0"/>
            </a:br>
            <a:r>
              <a:rPr lang="en-US" altLang="zh-TW" i="1" dirty="0"/>
              <a:t>× exp(2.0 × </a:t>
            </a:r>
            <a:r>
              <a:rPr lang="en-US" altLang="zh-TW" i="1" dirty="0" err="1"/>
              <a:t>V_relative</a:t>
            </a:r>
            <a:r>
              <a:rPr lang="en-US" altLang="zh-TW" i="1" dirty="0"/>
              <a:t>)</a:t>
            </a:r>
            <a:br>
              <a:rPr lang="en-US" altLang="zh-TW" i="1" dirty="0"/>
            </a:br>
            <a:r>
              <a:rPr lang="en-US" altLang="zh-TW" i="1" dirty="0"/>
              <a:t>× max(0.7, RuntimeFactor^0.3)</a:t>
            </a:r>
          </a:p>
          <a:p>
            <a:pPr marL="571500" indent="-342900"/>
            <a:r>
              <a:rPr lang="en-US" altLang="zh-TW" dirty="0"/>
              <a:t>If infeasible: </a:t>
            </a:r>
            <a:r>
              <a:rPr lang="en-US" altLang="zh-TW" i="1" dirty="0"/>
              <a:t>Cost = 10</a:t>
            </a:r>
          </a:p>
          <a:p>
            <a:pPr marL="1028700" lvl="1" indent="-342900"/>
            <a:r>
              <a:rPr lang="en-US" altLang="zh-TW" sz="2000" b="0" dirty="0"/>
              <a:t>Higher than any reasonable feasible solution</a:t>
            </a:r>
          </a:p>
          <a:p>
            <a:pPr marL="1028700" lvl="1" indent="-342900"/>
            <a:r>
              <a:rPr lang="en-US" altLang="zh-TW" sz="2000" b="0" dirty="0"/>
              <a:t>But not so extreme that a single failure dominates the entire score</a:t>
            </a:r>
          </a:p>
        </p:txBody>
      </p:sp>
      <p:sp>
        <p:nvSpPr>
          <p:cNvPr id="122" name="Google Shape;122;p15">
            <a:extLst>
              <a:ext uri="{FF2B5EF4-FFF2-40B4-BE49-F238E27FC236}">
                <a16:creationId xmlns:a16="http://schemas.microsoft.com/office/drawing/2014/main" id="{23093CB2-3B3C-A880-A69A-D7B8009B2C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66659" y="274638"/>
            <a:ext cx="7644043" cy="1308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altLang="zh-TW" dirty="0"/>
              <a:t>Problem Statement</a:t>
            </a:r>
            <a:br>
              <a:rPr lang="en-US" altLang="zh-TW" dirty="0"/>
            </a:br>
            <a:r>
              <a:rPr lang="en-US" altLang="zh-TW" sz="2000" b="0" dirty="0"/>
              <a:t>Evaluation Metrics</a:t>
            </a:r>
            <a:endParaRPr sz="2000" b="0" dirty="0"/>
          </a:p>
        </p:txBody>
      </p:sp>
      <p:sp>
        <p:nvSpPr>
          <p:cNvPr id="123" name="Google Shape;123;p15">
            <a:extLst>
              <a:ext uri="{FF2B5EF4-FFF2-40B4-BE49-F238E27FC236}">
                <a16:creationId xmlns:a16="http://schemas.microsoft.com/office/drawing/2014/main" id="{93298C63-324B-F21D-A35E-7EA3239F144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395285" y="6565952"/>
            <a:ext cx="433359" cy="29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 altLang="zh-TW"/>
              <a:t>6</a:t>
            </a:fld>
            <a:endParaRPr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D06C6033-FBD3-A5B3-4DB5-9DEAA55DA7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425" y="1698042"/>
            <a:ext cx="9651149" cy="980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4164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288B2877-30D1-E43B-F242-D8D6F288C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5">
            <a:extLst>
              <a:ext uri="{FF2B5EF4-FFF2-40B4-BE49-F238E27FC236}">
                <a16:creationId xmlns:a16="http://schemas.microsoft.com/office/drawing/2014/main" id="{6BEBA2D8-CDD6-3D88-2EF0-C95F83C509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95300" y="1600206"/>
            <a:ext cx="9125218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indent="0">
              <a:buNone/>
            </a:pPr>
            <a:r>
              <a:rPr lang="en-US" altLang="zh-TW" b="1" dirty="0"/>
              <a:t>Main Changes</a:t>
            </a:r>
          </a:p>
          <a:p>
            <a:pPr marL="571500" indent="-342900"/>
            <a:r>
              <a:rPr lang="en-US" altLang="zh-TW" dirty="0"/>
              <a:t>The local evaluator keeps the runtime term in the formula, but evaluates validation cases with neutral </a:t>
            </a:r>
            <a:r>
              <a:rPr lang="en-US" altLang="zh-TW" b="1" i="1" dirty="0" err="1"/>
              <a:t>RuntimeFactor</a:t>
            </a:r>
            <a:r>
              <a:rPr lang="en-US" altLang="zh-TW" i="1" dirty="0"/>
              <a:t> </a:t>
            </a:r>
            <a:r>
              <a:rPr lang="en-US" altLang="zh-TW" b="1" i="1" dirty="0"/>
              <a:t>= </a:t>
            </a:r>
            <a:r>
              <a:rPr lang="en-US" altLang="zh-TW" b="1" dirty="0"/>
              <a:t>1.0</a:t>
            </a:r>
          </a:p>
          <a:p>
            <a:pPr marL="1028700" lvl="1" indent="-342900"/>
            <a:r>
              <a:rPr lang="en-US" altLang="zh-TW" sz="2000" b="0" dirty="0"/>
              <a:t>Official leaderboard runtime can still differ because it depends on per-test-case cross-submission medians</a:t>
            </a:r>
          </a:p>
          <a:p>
            <a:pPr marL="571500" indent="-342900"/>
            <a:r>
              <a:rPr lang="en-US" altLang="zh-TW" dirty="0"/>
              <a:t>v10 scoring makes large instances important, but not dominated by only one case</a:t>
            </a:r>
          </a:p>
          <a:p>
            <a:pPr marL="228600" indent="0">
              <a:buNone/>
            </a:pPr>
            <a:endParaRPr lang="en-US" altLang="zh-TW" dirty="0"/>
          </a:p>
          <a:p>
            <a:pPr marL="228600" indent="0">
              <a:buNone/>
            </a:pPr>
            <a:endParaRPr lang="en-US" altLang="zh-TW" dirty="0"/>
          </a:p>
          <a:p>
            <a:pPr marL="571500" indent="-342900"/>
            <a:r>
              <a:rPr lang="en-US" altLang="zh-TW" dirty="0"/>
              <a:t>Fixed-shape and preplaced legality are treated as hard feasibility conditions</a:t>
            </a:r>
            <a:endParaRPr lang="en-US" altLang="zh-TW" sz="2000" dirty="0">
              <a:solidFill>
                <a:srgbClr val="515151"/>
              </a:solidFill>
            </a:endParaRPr>
          </a:p>
        </p:txBody>
      </p:sp>
      <p:sp>
        <p:nvSpPr>
          <p:cNvPr id="122" name="Google Shape;122;p15">
            <a:extLst>
              <a:ext uri="{FF2B5EF4-FFF2-40B4-BE49-F238E27FC236}">
                <a16:creationId xmlns:a16="http://schemas.microsoft.com/office/drawing/2014/main" id="{A50576F1-D609-A7D3-63DC-2AB2EBBD23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66659" y="274638"/>
            <a:ext cx="7644043" cy="1308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altLang="zh-TW" dirty="0"/>
              <a:t>Problem Statement</a:t>
            </a:r>
            <a:br>
              <a:rPr lang="en-US" altLang="zh-TW" dirty="0"/>
            </a:br>
            <a:r>
              <a:rPr lang="en-US" altLang="zh-TW" sz="2000" b="0" dirty="0"/>
              <a:t>Evaluator Update from v9 to v10</a:t>
            </a:r>
            <a:endParaRPr sz="2000" b="0" dirty="0"/>
          </a:p>
        </p:txBody>
      </p:sp>
      <p:sp>
        <p:nvSpPr>
          <p:cNvPr id="123" name="Google Shape;123;p15">
            <a:extLst>
              <a:ext uri="{FF2B5EF4-FFF2-40B4-BE49-F238E27FC236}">
                <a16:creationId xmlns:a16="http://schemas.microsoft.com/office/drawing/2014/main" id="{F8C2553B-CCF8-C4ED-0FC0-10F99F06287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395285" y="6565952"/>
            <a:ext cx="433359" cy="29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 altLang="zh-TW"/>
              <a:t>7</a:t>
            </a:fld>
            <a:endParaRPr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9F11AEA9-8752-2B14-EC5E-0E84B0AD5FD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532" r="-1"/>
          <a:stretch>
            <a:fillRect/>
          </a:stretch>
        </p:blipFill>
        <p:spPr>
          <a:xfrm>
            <a:off x="1190319" y="4271418"/>
            <a:ext cx="3974075" cy="763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0729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A9D8EB49-C5FC-378D-BB33-8AD3F0156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5">
            <a:extLst>
              <a:ext uri="{FF2B5EF4-FFF2-40B4-BE49-F238E27FC236}">
                <a16:creationId xmlns:a16="http://schemas.microsoft.com/office/drawing/2014/main" id="{B4E47E7C-D693-825F-1FC3-A22AC68C74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95300" y="1600206"/>
            <a:ext cx="89154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71500" indent="-342900"/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Problem Statement</a:t>
            </a:r>
          </a:p>
          <a:p>
            <a:pPr marL="571500" indent="-342900"/>
            <a:r>
              <a:rPr lang="en-US" altLang="zh-TW" dirty="0">
                <a:solidFill>
                  <a:schemeClr val="tx1"/>
                </a:solidFill>
              </a:rPr>
              <a:t>Related Work</a:t>
            </a:r>
          </a:p>
          <a:p>
            <a:pPr marL="571500" indent="-342900"/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Proposed Methodology</a:t>
            </a:r>
          </a:p>
          <a:p>
            <a:pPr marL="571500" indent="-342900"/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Implementation</a:t>
            </a:r>
          </a:p>
          <a:p>
            <a:pPr marL="571500" indent="-342900"/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Experimental Results</a:t>
            </a:r>
          </a:p>
          <a:p>
            <a:pPr marL="571500" indent="-342900"/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Conclusion</a:t>
            </a:r>
          </a:p>
          <a:p>
            <a:pPr marL="571500" indent="-342900"/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Future Work</a:t>
            </a:r>
          </a:p>
        </p:txBody>
      </p:sp>
      <p:sp>
        <p:nvSpPr>
          <p:cNvPr id="122" name="Google Shape;122;p15">
            <a:extLst>
              <a:ext uri="{FF2B5EF4-FFF2-40B4-BE49-F238E27FC236}">
                <a16:creationId xmlns:a16="http://schemas.microsoft.com/office/drawing/2014/main" id="{BD9519BE-78A2-AB76-9729-07837F0195C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66659" y="274638"/>
            <a:ext cx="7644043" cy="1308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400"/>
              <a:buFont typeface="Arial"/>
              <a:buNone/>
            </a:pPr>
            <a:r>
              <a:rPr lang="en-US" dirty="0"/>
              <a:t>Outline</a:t>
            </a:r>
            <a:endParaRPr dirty="0"/>
          </a:p>
        </p:txBody>
      </p:sp>
      <p:sp>
        <p:nvSpPr>
          <p:cNvPr id="123" name="Google Shape;123;p15">
            <a:extLst>
              <a:ext uri="{FF2B5EF4-FFF2-40B4-BE49-F238E27FC236}">
                <a16:creationId xmlns:a16="http://schemas.microsoft.com/office/drawing/2014/main" id="{4B32CA99-2E36-BFD2-761B-8C305A29E7D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395285" y="6565952"/>
            <a:ext cx="433359" cy="29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 altLang="zh-TW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876907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8B0B58CF-F5D0-AF78-4258-AA54DC11F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5">
            <a:extLst>
              <a:ext uri="{FF2B5EF4-FFF2-40B4-BE49-F238E27FC236}">
                <a16:creationId xmlns:a16="http://schemas.microsoft.com/office/drawing/2014/main" id="{C7C5B49B-E1AC-89A9-EF4B-413DCB06E6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95300" y="1600206"/>
            <a:ext cx="9125218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571500" indent="-342900"/>
            <a:r>
              <a:rPr lang="en-US" altLang="zh-TW" dirty="0"/>
              <a:t>Classical </a:t>
            </a:r>
            <a:r>
              <a:rPr lang="en-US" altLang="zh-TW" dirty="0" err="1"/>
              <a:t>Floorplanning</a:t>
            </a:r>
            <a:endParaRPr lang="en-US" altLang="zh-TW" dirty="0"/>
          </a:p>
          <a:p>
            <a:pPr marL="1028700" lvl="1" indent="-342900"/>
            <a:r>
              <a:rPr lang="en-US" altLang="zh-TW" sz="2000" b="0" dirty="0"/>
              <a:t>Constructive placement methods</a:t>
            </a:r>
          </a:p>
          <a:p>
            <a:pPr marL="1028700" lvl="1" indent="-342900"/>
            <a:r>
              <a:rPr lang="en-US" altLang="zh-TW" sz="2000" b="0" dirty="0"/>
              <a:t>B*-tree and sequence-pair representations</a:t>
            </a:r>
          </a:p>
          <a:p>
            <a:pPr marL="1028700" lvl="1" indent="-342900"/>
            <a:r>
              <a:rPr lang="en-US" altLang="zh-TW" sz="2000" b="0" dirty="0"/>
              <a:t>Simulated annealing and search-based optimization</a:t>
            </a:r>
          </a:p>
          <a:p>
            <a:pPr marL="1028700" lvl="1" indent="-342900"/>
            <a:r>
              <a:rPr lang="en-US" altLang="zh-TW" sz="2000" b="0" dirty="0"/>
              <a:t>Legalization and repair after initial placement</a:t>
            </a:r>
          </a:p>
          <a:p>
            <a:pPr marL="571500" indent="-342900"/>
            <a:r>
              <a:rPr lang="en-US" altLang="zh-TW" dirty="0"/>
              <a:t>Learning-based EDA</a:t>
            </a:r>
          </a:p>
          <a:p>
            <a:pPr marL="1028700" lvl="1" indent="-342900"/>
            <a:r>
              <a:rPr lang="en-US" altLang="zh-TW" sz="2000" dirty="0"/>
              <a:t>GNNs</a:t>
            </a:r>
            <a:r>
              <a:rPr lang="en-US" altLang="zh-TW" sz="2000" b="0" dirty="0"/>
              <a:t> for netlist and block-relationship modeling</a:t>
            </a:r>
          </a:p>
          <a:p>
            <a:pPr marL="1028700" lvl="1" indent="-342900"/>
            <a:r>
              <a:rPr lang="en-US" altLang="zh-TW" sz="2000" b="0" dirty="0"/>
              <a:t>Learned placement priors for better initial solutions</a:t>
            </a:r>
          </a:p>
          <a:p>
            <a:pPr marL="1028700" lvl="1" indent="-342900"/>
            <a:r>
              <a:rPr lang="en-US" altLang="zh-TW" sz="2000" b="0" dirty="0"/>
              <a:t>Data-driven ranking or guidance for optimization</a:t>
            </a:r>
          </a:p>
          <a:p>
            <a:pPr marL="571500" indent="-342900"/>
            <a:r>
              <a:rPr lang="en-US" altLang="zh-TW" dirty="0"/>
              <a:t>Our </a:t>
            </a:r>
            <a:r>
              <a:rPr lang="en-US" altLang="zh-CN" dirty="0"/>
              <a:t>Work</a:t>
            </a:r>
            <a:endParaRPr lang="en-US" altLang="zh-TW" dirty="0"/>
          </a:p>
          <a:p>
            <a:pPr marL="1028700" lvl="1" indent="-342900"/>
            <a:r>
              <a:rPr lang="en-US" altLang="zh-TW" sz="2000" dirty="0"/>
              <a:t>We combine learned priors with a deterministic, constraint-aware solver</a:t>
            </a:r>
          </a:p>
          <a:p>
            <a:pPr marL="1028700" lvl="1" indent="-342900"/>
            <a:r>
              <a:rPr lang="en-US" altLang="zh-TW" sz="2000" dirty="0"/>
              <a:t>The model predicts guidance; the solver produces legal placements</a:t>
            </a:r>
          </a:p>
        </p:txBody>
      </p:sp>
      <p:sp>
        <p:nvSpPr>
          <p:cNvPr id="122" name="Google Shape;122;p15">
            <a:extLst>
              <a:ext uri="{FF2B5EF4-FFF2-40B4-BE49-F238E27FC236}">
                <a16:creationId xmlns:a16="http://schemas.microsoft.com/office/drawing/2014/main" id="{9FA9ACD2-B064-751B-850B-70575AEEB9D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66659" y="274638"/>
            <a:ext cx="7644043" cy="1308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altLang="zh-TW" dirty="0"/>
              <a:t>Related </a:t>
            </a:r>
            <a:r>
              <a:rPr lang="en-US" altLang="zh-CN" dirty="0"/>
              <a:t>Work</a:t>
            </a:r>
            <a:endParaRPr sz="2000" b="0" dirty="0"/>
          </a:p>
        </p:txBody>
      </p:sp>
      <p:sp>
        <p:nvSpPr>
          <p:cNvPr id="123" name="Google Shape;123;p15">
            <a:extLst>
              <a:ext uri="{FF2B5EF4-FFF2-40B4-BE49-F238E27FC236}">
                <a16:creationId xmlns:a16="http://schemas.microsoft.com/office/drawing/2014/main" id="{5C3767EB-C999-7DE9-B578-674C764BD2D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395285" y="6565952"/>
            <a:ext cx="433359" cy="29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 altLang="zh-TW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71149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CEAEC37B-4AE0-2607-878A-179628561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5">
            <a:extLst>
              <a:ext uri="{FF2B5EF4-FFF2-40B4-BE49-F238E27FC236}">
                <a16:creationId xmlns:a16="http://schemas.microsoft.com/office/drawing/2014/main" id="{2B132EE1-15AD-4AE9-63D4-4DEB1B29F5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95300" y="1600206"/>
            <a:ext cx="89154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71500" indent="-342900"/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Problem Statement</a:t>
            </a:r>
          </a:p>
          <a:p>
            <a:pPr marL="571500" indent="-342900"/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Related Work</a:t>
            </a:r>
          </a:p>
          <a:p>
            <a:pPr marL="571500" indent="-342900"/>
            <a:r>
              <a:rPr lang="en-US" altLang="zh-TW" dirty="0">
                <a:solidFill>
                  <a:schemeClr val="tx1"/>
                </a:solidFill>
              </a:rPr>
              <a:t>Proposed Methodology</a:t>
            </a:r>
          </a:p>
          <a:p>
            <a:pPr marL="1028700" lvl="1" indent="-342900"/>
            <a:r>
              <a:rPr lang="en-US" altLang="zh-TW" sz="2000" dirty="0"/>
              <a:t>Core Idea</a:t>
            </a:r>
          </a:p>
          <a:p>
            <a:pPr marL="1028700" lvl="1" indent="-342900"/>
            <a:r>
              <a:rPr lang="en-US" altLang="zh-TW" sz="2000" dirty="0"/>
              <a:t>Architecture Evolution</a:t>
            </a:r>
          </a:p>
          <a:p>
            <a:pPr marL="1028700" lvl="1" indent="-342900"/>
            <a:r>
              <a:rPr lang="en-US" altLang="zh-TW" sz="2000" dirty="0"/>
              <a:t>Latest Architecture</a:t>
            </a:r>
            <a:endParaRPr lang="en-US" altLang="zh-TW" dirty="0">
              <a:solidFill>
                <a:schemeClr val="tx1"/>
              </a:solidFill>
            </a:endParaRPr>
          </a:p>
          <a:p>
            <a:pPr marL="571500" indent="-342900"/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Implementation</a:t>
            </a:r>
          </a:p>
          <a:p>
            <a:pPr marL="571500" indent="-342900"/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Experimental Results</a:t>
            </a:r>
          </a:p>
          <a:p>
            <a:pPr marL="571500" indent="-342900"/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Conclusion</a:t>
            </a:r>
          </a:p>
          <a:p>
            <a:pPr marL="571500" indent="-342900"/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Future Work</a:t>
            </a:r>
          </a:p>
        </p:txBody>
      </p:sp>
      <p:sp>
        <p:nvSpPr>
          <p:cNvPr id="122" name="Google Shape;122;p15">
            <a:extLst>
              <a:ext uri="{FF2B5EF4-FFF2-40B4-BE49-F238E27FC236}">
                <a16:creationId xmlns:a16="http://schemas.microsoft.com/office/drawing/2014/main" id="{EBB16751-89BC-C5C4-E03D-7050D1F831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66659" y="274638"/>
            <a:ext cx="7644043" cy="1308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400"/>
              <a:buFont typeface="Arial"/>
              <a:buNone/>
            </a:pPr>
            <a:r>
              <a:rPr lang="en-US" dirty="0"/>
              <a:t>Outline</a:t>
            </a:r>
            <a:endParaRPr dirty="0"/>
          </a:p>
        </p:txBody>
      </p:sp>
      <p:sp>
        <p:nvSpPr>
          <p:cNvPr id="123" name="Google Shape;123;p15">
            <a:extLst>
              <a:ext uri="{FF2B5EF4-FFF2-40B4-BE49-F238E27FC236}">
                <a16:creationId xmlns:a16="http://schemas.microsoft.com/office/drawing/2014/main" id="{8776204D-99F0-A800-90AB-13BBFF49931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395285" y="6565952"/>
            <a:ext cx="433359" cy="29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 altLang="zh-TW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761006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0853FE7A-2A12-6A03-18A7-AABDDDBE8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5">
            <a:extLst>
              <a:ext uri="{FF2B5EF4-FFF2-40B4-BE49-F238E27FC236}">
                <a16:creationId xmlns:a16="http://schemas.microsoft.com/office/drawing/2014/main" id="{52462BFE-FA6D-C5F9-6B6D-C435045565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95300" y="1600206"/>
            <a:ext cx="9333344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71500" indent="-342900"/>
            <a:r>
              <a:rPr lang="en-US" altLang="zh-TW" dirty="0"/>
              <a:t>Convert each </a:t>
            </a:r>
            <a:r>
              <a:rPr lang="en-US" altLang="zh-TW" dirty="0" err="1"/>
              <a:t>FloorSet</a:t>
            </a:r>
            <a:r>
              <a:rPr lang="en-US" altLang="zh-TW" dirty="0"/>
              <a:t> instance into a graph-guided placement problem</a:t>
            </a:r>
          </a:p>
          <a:p>
            <a:pPr marL="1028700" lvl="1" indent="-342900"/>
            <a:r>
              <a:rPr lang="en-US" altLang="zh-TW" sz="2000" dirty="0"/>
              <a:t>Heterogeneous graph</a:t>
            </a:r>
            <a:r>
              <a:rPr lang="en-US" altLang="zh-TW" sz="2000" b="0" dirty="0"/>
              <a:t> modeling keeps netlist, pin, and constraint semantics visible to the encoder</a:t>
            </a:r>
          </a:p>
          <a:p>
            <a:pPr marL="571500" indent="-342900"/>
            <a:r>
              <a:rPr lang="en-US" altLang="zh-TW" dirty="0"/>
              <a:t>Use a neural </a:t>
            </a:r>
            <a:r>
              <a:rPr lang="en-US" altLang="zh-TW" b="1" dirty="0"/>
              <a:t>encoder</a:t>
            </a:r>
            <a:r>
              <a:rPr lang="en-US" altLang="zh-TW" dirty="0"/>
              <a:t> to predict reusable guidance signals</a:t>
            </a:r>
          </a:p>
          <a:p>
            <a:pPr marL="1028700" lvl="1" indent="-342900"/>
            <a:r>
              <a:rPr lang="en-US" altLang="zh-TW" sz="2000" b="0" dirty="0"/>
              <a:t>Learning improves layout quality by predicting useful geometric priors</a:t>
            </a:r>
          </a:p>
          <a:p>
            <a:pPr marL="571500" indent="-342900"/>
            <a:r>
              <a:rPr lang="en-US" altLang="zh-TW" b="1" dirty="0"/>
              <a:t>Decode</a:t>
            </a:r>
            <a:r>
              <a:rPr lang="en-US" altLang="zh-TW" dirty="0"/>
              <a:t> guidance into multiple candidate placements</a:t>
            </a:r>
          </a:p>
          <a:p>
            <a:pPr marL="571500" indent="-342900"/>
            <a:r>
              <a:rPr lang="en-US" altLang="zh-TW" dirty="0"/>
              <a:t>Repair candidates using </a:t>
            </a:r>
            <a:r>
              <a:rPr lang="en-US" altLang="zh-TW" b="1" dirty="0"/>
              <a:t>constraint-aware</a:t>
            </a:r>
            <a:r>
              <a:rPr lang="en-US" altLang="zh-TW" dirty="0"/>
              <a:t> geometry rules</a:t>
            </a:r>
          </a:p>
          <a:p>
            <a:pPr marL="1028700" lvl="1" indent="-342900"/>
            <a:r>
              <a:rPr lang="en-US" altLang="zh-TW" sz="2000" b="0" dirty="0"/>
              <a:t>Repair protects feasibility under hard and soft constraints</a:t>
            </a:r>
          </a:p>
          <a:p>
            <a:pPr marL="571500" indent="-342900"/>
            <a:r>
              <a:rPr lang="en-US" altLang="zh-TW" dirty="0"/>
              <a:t>Select the best candidate using </a:t>
            </a:r>
            <a:r>
              <a:rPr lang="en-US" altLang="zh-TW" b="1" dirty="0"/>
              <a:t>proxy ranking</a:t>
            </a:r>
          </a:p>
          <a:p>
            <a:pPr marL="1028700" lvl="1" indent="-342900"/>
            <a:r>
              <a:rPr lang="en-US" altLang="zh-TW" sz="2000" b="0" dirty="0"/>
              <a:t>Candidate ranking separates model prediction from final scoring decisions</a:t>
            </a:r>
          </a:p>
        </p:txBody>
      </p:sp>
      <p:sp>
        <p:nvSpPr>
          <p:cNvPr id="122" name="Google Shape;122;p15">
            <a:extLst>
              <a:ext uri="{FF2B5EF4-FFF2-40B4-BE49-F238E27FC236}">
                <a16:creationId xmlns:a16="http://schemas.microsoft.com/office/drawing/2014/main" id="{80CE21CA-8425-89D1-9121-5C9BC317DB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66659" y="274638"/>
            <a:ext cx="7644043" cy="1308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altLang="zh-TW" dirty="0"/>
              <a:t>Proposed Methodology</a:t>
            </a:r>
            <a:br>
              <a:rPr lang="en-US" altLang="zh-TW" dirty="0"/>
            </a:br>
            <a:r>
              <a:rPr lang="en-US" altLang="zh-TW" sz="2000" b="0" dirty="0"/>
              <a:t>Core Idea</a:t>
            </a:r>
            <a:endParaRPr sz="2000" b="0" dirty="0"/>
          </a:p>
        </p:txBody>
      </p:sp>
      <p:sp>
        <p:nvSpPr>
          <p:cNvPr id="123" name="Google Shape;123;p15">
            <a:extLst>
              <a:ext uri="{FF2B5EF4-FFF2-40B4-BE49-F238E27FC236}">
                <a16:creationId xmlns:a16="http://schemas.microsoft.com/office/drawing/2014/main" id="{17429032-E71B-D59C-9D09-7C08480E571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395285" y="6565952"/>
            <a:ext cx="433359" cy="29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 altLang="zh-TW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753498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8BC6E4C4-E278-FC57-3EFD-7DEA98746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5">
            <a:extLst>
              <a:ext uri="{FF2B5EF4-FFF2-40B4-BE49-F238E27FC236}">
                <a16:creationId xmlns:a16="http://schemas.microsoft.com/office/drawing/2014/main" id="{A1B3BFCC-0F33-1A0E-A27C-48994E9A42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95300" y="1600206"/>
            <a:ext cx="9125218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indent="0">
              <a:buNone/>
            </a:pPr>
            <a:endParaRPr sz="2000" b="0" dirty="0"/>
          </a:p>
        </p:txBody>
      </p:sp>
      <p:sp>
        <p:nvSpPr>
          <p:cNvPr id="122" name="Google Shape;122;p15">
            <a:extLst>
              <a:ext uri="{FF2B5EF4-FFF2-40B4-BE49-F238E27FC236}">
                <a16:creationId xmlns:a16="http://schemas.microsoft.com/office/drawing/2014/main" id="{B2FD7343-B291-77BB-57F3-51FC3E5D84F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66659" y="274638"/>
            <a:ext cx="7644043" cy="1308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altLang="zh-TW" dirty="0"/>
              <a:t>Proposed Methodology</a:t>
            </a:r>
            <a:br>
              <a:rPr lang="en-US" altLang="zh-TW" dirty="0"/>
            </a:br>
            <a:r>
              <a:rPr lang="en-US" altLang="zh-TW" sz="2000" b="0" dirty="0"/>
              <a:t>Architecture Evolution</a:t>
            </a:r>
            <a:endParaRPr sz="2000" b="0" dirty="0"/>
          </a:p>
        </p:txBody>
      </p:sp>
      <p:sp>
        <p:nvSpPr>
          <p:cNvPr id="123" name="Google Shape;123;p15">
            <a:extLst>
              <a:ext uri="{FF2B5EF4-FFF2-40B4-BE49-F238E27FC236}">
                <a16:creationId xmlns:a16="http://schemas.microsoft.com/office/drawing/2014/main" id="{BA2FDAD4-D5C9-CFFC-B8BB-F0679052453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395285" y="6565952"/>
            <a:ext cx="433359" cy="29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 altLang="zh-TW"/>
              <a:t>12</a:t>
            </a:fld>
            <a:endParaRPr/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7E9598D3-9582-3D89-31A2-02BC99A634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6601416"/>
              </p:ext>
            </p:extLst>
          </p:nvPr>
        </p:nvGraphicFramePr>
        <p:xfrm>
          <a:off x="495300" y="1600206"/>
          <a:ext cx="9125218" cy="4346348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046319">
                  <a:extLst>
                    <a:ext uri="{9D8B030D-6E8A-4147-A177-3AD203B41FA5}">
                      <a16:colId xmlns:a16="http://schemas.microsoft.com/office/drawing/2014/main" val="3600793619"/>
                    </a:ext>
                  </a:extLst>
                </a:gridCol>
                <a:gridCol w="4381540">
                  <a:extLst>
                    <a:ext uri="{9D8B030D-6E8A-4147-A177-3AD203B41FA5}">
                      <a16:colId xmlns:a16="http://schemas.microsoft.com/office/drawing/2014/main" val="2831519848"/>
                    </a:ext>
                  </a:extLst>
                </a:gridCol>
                <a:gridCol w="3697359">
                  <a:extLst>
                    <a:ext uri="{9D8B030D-6E8A-4147-A177-3AD203B41FA5}">
                      <a16:colId xmlns:a16="http://schemas.microsoft.com/office/drawing/2014/main" val="1232983937"/>
                    </a:ext>
                  </a:extLst>
                </a:gridCol>
              </a:tblGrid>
              <a:tr h="597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Stage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Main Attempt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Reason for Change</a:t>
                      </a:r>
                      <a:endParaRPr lang="zh-TW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2330137"/>
                  </a:ext>
                </a:extLst>
              </a:tr>
              <a:tr h="597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v1/v2</a:t>
                      </a:r>
                      <a:endParaRPr lang="zh-TW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Build initial GNN-guided </a:t>
                      </a:r>
                      <a:r>
                        <a:rPr lang="en-US" altLang="zh-TW" sz="1800" dirty="0" err="1"/>
                        <a:t>floorplanning</a:t>
                      </a:r>
                      <a:r>
                        <a:rPr lang="en-US" altLang="zh-TW" sz="1800" dirty="0"/>
                        <a:t> path</a:t>
                      </a:r>
                      <a:endParaRPr lang="zh-TW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Need richer representation for pins, clusters, MIB, and boundaries</a:t>
                      </a:r>
                      <a:endParaRPr lang="zh-TW" alt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0590104"/>
                  </a:ext>
                </a:extLst>
              </a:tr>
              <a:tr h="597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v3</a:t>
                      </a:r>
                      <a:endParaRPr lang="zh-TW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Add relative-order decoding, pairwise heads, checkpoint experiments</a:t>
                      </a:r>
                      <a:endParaRPr lang="zh-TW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Keep neural output as guidance instead of direct placement</a:t>
                      </a:r>
                      <a:endParaRPr lang="zh-TW" alt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2640329"/>
                  </a:ext>
                </a:extLst>
              </a:tr>
              <a:tr h="597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v4</a:t>
                      </a:r>
                      <a:endParaRPr lang="zh-TW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Add richer graph attention and structural context</a:t>
                      </a:r>
                      <a:endParaRPr lang="zh-TW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Preserve the same downstream solver while improving encoder capacity</a:t>
                      </a:r>
                      <a:endParaRPr lang="zh-TW" alt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0344421"/>
                  </a:ext>
                </a:extLst>
              </a:tr>
              <a:tr h="597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v5</a:t>
                      </a:r>
                      <a:endParaRPr lang="zh-TW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Typed nodes and typed relations for blocks, pins, clusters, MIB, boundary</a:t>
                      </a:r>
                      <a:endParaRPr lang="zh-TW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Do not promote by validation loss alone</a:t>
                      </a:r>
                      <a:endParaRPr lang="zh-TW" alt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779925"/>
                  </a:ext>
                </a:extLst>
              </a:tr>
              <a:tr h="597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v10</a:t>
                      </a:r>
                      <a:endParaRPr lang="zh-TW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Add proxy ranking, narrow grouping pair bias</a:t>
                      </a:r>
                      <a:endParaRPr lang="zh-TW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-</a:t>
                      </a:r>
                      <a:endParaRPr lang="zh-TW" alt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66624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79988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2F26A30A-22A7-E519-9D81-86B773B6F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5">
            <a:extLst>
              <a:ext uri="{FF2B5EF4-FFF2-40B4-BE49-F238E27FC236}">
                <a16:creationId xmlns:a16="http://schemas.microsoft.com/office/drawing/2014/main" id="{BB066EAB-D5D7-4F4C-2406-94F2462FF5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95300" y="1600206"/>
            <a:ext cx="9125218" cy="4889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685800" indent="-457200">
              <a:buFont typeface="+mj-lt"/>
              <a:buAutoNum type="arabicPeriod"/>
            </a:pPr>
            <a:r>
              <a:rPr lang="en-US" altLang="zh-TW" sz="2600" dirty="0"/>
              <a:t>Instance Parsing</a:t>
            </a:r>
          </a:p>
          <a:p>
            <a:pPr marL="1028700" lvl="1" indent="-342900"/>
            <a:r>
              <a:rPr lang="en-US" altLang="zh-TW" sz="2000" b="0" dirty="0"/>
              <a:t>Convert evaluator tensors into an </a:t>
            </a:r>
            <a:r>
              <a:rPr lang="en-US" altLang="zh-TW" sz="2000" b="0" i="1" dirty="0"/>
              <a:t>Instance</a:t>
            </a:r>
            <a:endParaRPr lang="en-US" altLang="zh-TW" sz="2000" b="0" dirty="0"/>
          </a:p>
          <a:p>
            <a:pPr marL="1028700" lvl="1" indent="-342900"/>
            <a:r>
              <a:rPr lang="en-US" altLang="zh-TW" sz="2000" b="0" dirty="0"/>
              <a:t>Normalize block areas, nets, pins, and constraints</a:t>
            </a:r>
          </a:p>
          <a:p>
            <a:pPr marL="685800" indent="-457200">
              <a:buFont typeface="+mj-lt"/>
              <a:buAutoNum type="arabicPeriod"/>
            </a:pPr>
            <a:r>
              <a:rPr lang="en-US" altLang="zh-TW" sz="2600" dirty="0"/>
              <a:t>Guidance Generation</a:t>
            </a:r>
          </a:p>
          <a:p>
            <a:pPr marL="1028700" lvl="1" indent="-342900"/>
            <a:r>
              <a:rPr lang="en-US" altLang="zh-TW" sz="2000" b="0" dirty="0"/>
              <a:t>Build graph input for the selected encoder  </a:t>
            </a:r>
          </a:p>
          <a:p>
            <a:pPr marL="1028700" lvl="1" indent="-342900"/>
            <a:r>
              <a:rPr lang="en-US" altLang="zh-TW" sz="2000" b="0" dirty="0"/>
              <a:t>Run the neural model and convert predictions into </a:t>
            </a:r>
            <a:r>
              <a:rPr lang="en-US" altLang="zh-TW" sz="2000" b="0" i="1" dirty="0" err="1"/>
              <a:t>AnchorGuidance</a:t>
            </a:r>
            <a:r>
              <a:rPr lang="en-US" altLang="zh-TW" sz="2000" b="0" dirty="0"/>
              <a:t> </a:t>
            </a:r>
          </a:p>
          <a:p>
            <a:pPr marL="685800" indent="-457200">
              <a:buFont typeface="+mj-lt"/>
              <a:buAutoNum type="arabicPeriod"/>
            </a:pPr>
            <a:r>
              <a:rPr lang="en-US" altLang="zh-TW" sz="2600" dirty="0"/>
              <a:t>Decoder</a:t>
            </a:r>
          </a:p>
          <a:p>
            <a:pPr marL="1028700" lvl="1" indent="-342900"/>
            <a:r>
              <a:rPr lang="en-US" altLang="zh-TW" sz="2200" b="0" dirty="0"/>
              <a:t>Use anchors, priorities, aspect hints, and pairwise-axis logits</a:t>
            </a:r>
          </a:p>
          <a:p>
            <a:pPr marL="1028700" lvl="1" indent="-342900"/>
            <a:r>
              <a:rPr lang="en-US" altLang="zh-TW" sz="2200" b="0" dirty="0"/>
              <a:t>Construct relative ordering and initial block rectangles</a:t>
            </a:r>
          </a:p>
          <a:p>
            <a:pPr marL="685800" indent="-457200">
              <a:buFont typeface="+mj-lt"/>
              <a:buAutoNum type="arabicPeriod"/>
            </a:pPr>
            <a:r>
              <a:rPr lang="en-US" altLang="zh-TW" sz="2600" dirty="0"/>
              <a:t>Repair</a:t>
            </a:r>
          </a:p>
          <a:p>
            <a:pPr marL="1028700" lvl="1" indent="-342900"/>
            <a:r>
              <a:rPr lang="en-US" altLang="zh-TW" sz="2200" b="0" dirty="0"/>
              <a:t>Fix hard legality first </a:t>
            </a:r>
          </a:p>
          <a:p>
            <a:pPr marL="1028700" lvl="1" indent="-342900"/>
            <a:r>
              <a:rPr lang="en-US" altLang="zh-TW" sz="2200" b="0" dirty="0"/>
              <a:t>Then reduce boundary, grouping, and MIB soft violations</a:t>
            </a:r>
          </a:p>
          <a:p>
            <a:pPr marL="685800" indent="-457200">
              <a:buFont typeface="+mj-lt"/>
              <a:buAutoNum type="arabicPeriod"/>
            </a:pPr>
            <a:r>
              <a:rPr lang="en-US" altLang="zh-TW" sz="2600" dirty="0"/>
              <a:t>Placement Selection</a:t>
            </a:r>
          </a:p>
          <a:p>
            <a:pPr marL="1028700" lvl="1" indent="-342900"/>
            <a:r>
              <a:rPr lang="en-US" altLang="zh-TW" sz="2200" b="0" dirty="0"/>
              <a:t>Rank candidates using hard legality, proxy cost, soft penalties, and quality metrics</a:t>
            </a:r>
          </a:p>
          <a:p>
            <a:pPr marL="1028700" lvl="1" indent="-342900"/>
            <a:r>
              <a:rPr lang="en-US" altLang="zh-TW" sz="2200" b="0" dirty="0"/>
              <a:t>Return final </a:t>
            </a:r>
            <a:r>
              <a:rPr lang="en-US" altLang="zh-TW" sz="2200" b="0" i="1" dirty="0"/>
              <a:t>(x, y, w, h) </a:t>
            </a:r>
            <a:r>
              <a:rPr lang="en-US" altLang="zh-TW" sz="2200" b="0" dirty="0"/>
              <a:t>placement list</a:t>
            </a:r>
          </a:p>
        </p:txBody>
      </p:sp>
      <p:sp>
        <p:nvSpPr>
          <p:cNvPr id="122" name="Google Shape;122;p15">
            <a:extLst>
              <a:ext uri="{FF2B5EF4-FFF2-40B4-BE49-F238E27FC236}">
                <a16:creationId xmlns:a16="http://schemas.microsoft.com/office/drawing/2014/main" id="{3D8977EB-C299-B838-DD1D-372241B2F5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66659" y="274638"/>
            <a:ext cx="7644043" cy="1308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altLang="zh-TW" dirty="0"/>
              <a:t>Proposed Methodology</a:t>
            </a:r>
            <a:br>
              <a:rPr lang="en-US" altLang="zh-TW" dirty="0"/>
            </a:br>
            <a:r>
              <a:rPr lang="en-US" altLang="zh-TW" sz="2000" b="0" dirty="0"/>
              <a:t>Latest Architecture - Inference Path</a:t>
            </a:r>
            <a:endParaRPr sz="2000" b="0" dirty="0"/>
          </a:p>
        </p:txBody>
      </p:sp>
      <p:sp>
        <p:nvSpPr>
          <p:cNvPr id="123" name="Google Shape;123;p15">
            <a:extLst>
              <a:ext uri="{FF2B5EF4-FFF2-40B4-BE49-F238E27FC236}">
                <a16:creationId xmlns:a16="http://schemas.microsoft.com/office/drawing/2014/main" id="{8104F40D-60F0-62EE-6D62-B235F5CE9D4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395285" y="6565952"/>
            <a:ext cx="433359" cy="29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 altLang="zh-TW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647998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E908970D-97A8-8822-49ED-04A60D6EA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5">
            <a:extLst>
              <a:ext uri="{FF2B5EF4-FFF2-40B4-BE49-F238E27FC236}">
                <a16:creationId xmlns:a16="http://schemas.microsoft.com/office/drawing/2014/main" id="{AB66E8D3-4DA3-AE28-6E34-18FFBF383B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95300" y="1600206"/>
            <a:ext cx="9125218" cy="4889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indent="0">
              <a:buNone/>
            </a:pPr>
            <a:endParaRPr lang="en-US" altLang="zh-TW" sz="2200" dirty="0"/>
          </a:p>
        </p:txBody>
      </p:sp>
      <p:sp>
        <p:nvSpPr>
          <p:cNvPr id="122" name="Google Shape;122;p15">
            <a:extLst>
              <a:ext uri="{FF2B5EF4-FFF2-40B4-BE49-F238E27FC236}">
                <a16:creationId xmlns:a16="http://schemas.microsoft.com/office/drawing/2014/main" id="{D9F7B2A9-22F7-2285-D1F9-3C99194161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66659" y="274638"/>
            <a:ext cx="7644043" cy="1308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altLang="zh-TW" dirty="0"/>
              <a:t>Proposed Methodology</a:t>
            </a:r>
            <a:br>
              <a:rPr lang="en-US" altLang="zh-TW" dirty="0"/>
            </a:br>
            <a:r>
              <a:rPr lang="en-US" altLang="zh-TW" sz="2000" b="0" dirty="0"/>
              <a:t>Latest Architecture - Inference Path</a:t>
            </a:r>
            <a:endParaRPr sz="2000" b="0" dirty="0"/>
          </a:p>
        </p:txBody>
      </p:sp>
      <p:sp>
        <p:nvSpPr>
          <p:cNvPr id="123" name="Google Shape;123;p15">
            <a:extLst>
              <a:ext uri="{FF2B5EF4-FFF2-40B4-BE49-F238E27FC236}">
                <a16:creationId xmlns:a16="http://schemas.microsoft.com/office/drawing/2014/main" id="{49CEE0C5-9219-6B4B-ED16-0D26C00877E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395285" y="6565952"/>
            <a:ext cx="433359" cy="29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 altLang="zh-TW"/>
              <a:t>14</a:t>
            </a:fld>
            <a:endParaRPr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6657BAC0-3463-CEF1-A950-C0E3D1AEB09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22" t="9192" r="2216" b="6513"/>
          <a:stretch>
            <a:fillRect/>
          </a:stretch>
        </p:blipFill>
        <p:spPr>
          <a:xfrm>
            <a:off x="340350" y="1582722"/>
            <a:ext cx="9225299" cy="4616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6445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856DFEA0-BBA1-6FB8-6E90-BAD460EAE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5">
            <a:extLst>
              <a:ext uri="{FF2B5EF4-FFF2-40B4-BE49-F238E27FC236}">
                <a16:creationId xmlns:a16="http://schemas.microsoft.com/office/drawing/2014/main" id="{6DB2C4E0-E032-709C-8E50-0621E3BAE8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95300" y="1600206"/>
            <a:ext cx="9125218" cy="4889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85800" indent="-457200">
              <a:buFont typeface="+mj-lt"/>
              <a:buAutoNum type="arabicPeriod"/>
            </a:pPr>
            <a:r>
              <a:rPr lang="en-US" altLang="zh-TW" dirty="0"/>
              <a:t>Load </a:t>
            </a:r>
            <a:r>
              <a:rPr lang="en-US" altLang="zh-TW" dirty="0" err="1"/>
              <a:t>FloorSet</a:t>
            </a:r>
            <a:r>
              <a:rPr lang="en-US" altLang="zh-TW" dirty="0"/>
              <a:t>-Lite sample</a:t>
            </a:r>
          </a:p>
          <a:p>
            <a:pPr marL="685800" indent="-457200">
              <a:buFont typeface="+mj-lt"/>
              <a:buAutoNum type="arabicPeriod"/>
            </a:pPr>
            <a:r>
              <a:rPr lang="en-US" altLang="zh-TW" dirty="0"/>
              <a:t>Extract instance tensors and </a:t>
            </a:r>
            <a:r>
              <a:rPr lang="en-US" altLang="zh-TW" i="1" dirty="0" err="1"/>
              <a:t>fp_sol</a:t>
            </a:r>
            <a:endParaRPr lang="en-US" altLang="zh-TW" dirty="0"/>
          </a:p>
          <a:p>
            <a:pPr marL="685800" indent="-457200">
              <a:buFont typeface="+mj-lt"/>
              <a:buAutoNum type="arabicPeriod"/>
            </a:pPr>
            <a:r>
              <a:rPr lang="en-US" altLang="zh-TW" dirty="0"/>
              <a:t>Detect clean and </a:t>
            </a:r>
            <a:r>
              <a:rPr lang="en-US" altLang="zh-TW" b="1" dirty="0"/>
              <a:t>dirty samples </a:t>
            </a:r>
            <a:r>
              <a:rPr lang="en-US" altLang="zh-TW" dirty="0"/>
              <a:t>using soft-constraint checks</a:t>
            </a:r>
          </a:p>
          <a:p>
            <a:pPr marL="685800" indent="-457200">
              <a:buFont typeface="+mj-lt"/>
              <a:buAutoNum type="arabicPeriod"/>
            </a:pPr>
            <a:r>
              <a:rPr lang="en-US" altLang="zh-TW" dirty="0"/>
              <a:t>Build training target record</a:t>
            </a:r>
          </a:p>
          <a:p>
            <a:pPr marL="685800" indent="-457200">
              <a:buFont typeface="+mj-lt"/>
              <a:buAutoNum type="arabicPeriod"/>
            </a:pPr>
            <a:r>
              <a:rPr lang="en-US" altLang="zh-TW" b="1" dirty="0"/>
              <a:t>Repair dirty labels into pseudo targets</a:t>
            </a:r>
          </a:p>
          <a:p>
            <a:pPr marL="685800" indent="-457200">
              <a:buFont typeface="+mj-lt"/>
              <a:buAutoNum type="arabicPeriod"/>
            </a:pPr>
            <a:r>
              <a:rPr lang="en-US" altLang="zh-TW" dirty="0"/>
              <a:t>Build encoder-specific graph inputs</a:t>
            </a:r>
          </a:p>
          <a:p>
            <a:pPr marL="685800" indent="-457200">
              <a:buFont typeface="+mj-lt"/>
              <a:buAutoNum type="arabicPeriod"/>
            </a:pPr>
            <a:r>
              <a:rPr lang="en-US" altLang="zh-TW" dirty="0"/>
              <a:t>Train shared prediction heads</a:t>
            </a:r>
          </a:p>
          <a:p>
            <a:pPr marL="1143000" lvl="1" indent="-457200"/>
            <a:r>
              <a:rPr lang="en-US" altLang="zh-TW" sz="2000" b="0" dirty="0"/>
              <a:t>GNN, Graph Transformer, and HGT can be compared fairly</a:t>
            </a:r>
          </a:p>
          <a:p>
            <a:pPr marL="1143000" lvl="1" indent="-457200"/>
            <a:r>
              <a:rPr lang="en-US" altLang="zh-TW" sz="2000" b="0" dirty="0"/>
              <a:t>Downstream decoder receives the same guidance format</a:t>
            </a:r>
          </a:p>
        </p:txBody>
      </p:sp>
      <p:sp>
        <p:nvSpPr>
          <p:cNvPr id="122" name="Google Shape;122;p15">
            <a:extLst>
              <a:ext uri="{FF2B5EF4-FFF2-40B4-BE49-F238E27FC236}">
                <a16:creationId xmlns:a16="http://schemas.microsoft.com/office/drawing/2014/main" id="{A3BB1474-E3B4-985D-6B6A-AA8B00D93D9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66659" y="274638"/>
            <a:ext cx="7644043" cy="1308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altLang="zh-TW" dirty="0"/>
              <a:t>Proposed Methodology</a:t>
            </a:r>
            <a:br>
              <a:rPr lang="en-US" altLang="zh-TW" dirty="0"/>
            </a:br>
            <a:r>
              <a:rPr lang="en-US" altLang="zh-TW" sz="2000" b="0" dirty="0"/>
              <a:t>Latest Architecture - Training Path</a:t>
            </a:r>
            <a:endParaRPr sz="2000" b="0" dirty="0"/>
          </a:p>
        </p:txBody>
      </p:sp>
      <p:sp>
        <p:nvSpPr>
          <p:cNvPr id="123" name="Google Shape;123;p15">
            <a:extLst>
              <a:ext uri="{FF2B5EF4-FFF2-40B4-BE49-F238E27FC236}">
                <a16:creationId xmlns:a16="http://schemas.microsoft.com/office/drawing/2014/main" id="{7E717F07-38F6-7CB0-FB83-B310E6A53B3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395285" y="6565952"/>
            <a:ext cx="433359" cy="29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 altLang="zh-TW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556368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972C10BB-D492-E9CE-6873-D73AC4163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5">
            <a:extLst>
              <a:ext uri="{FF2B5EF4-FFF2-40B4-BE49-F238E27FC236}">
                <a16:creationId xmlns:a16="http://schemas.microsoft.com/office/drawing/2014/main" id="{9D248C76-5BE3-DC96-F07D-D17E126150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95300" y="1600206"/>
            <a:ext cx="8915400" cy="452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71500" indent="-342900"/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Problem Statement</a:t>
            </a:r>
          </a:p>
          <a:p>
            <a:pPr marL="571500" indent="-342900"/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Related Work</a:t>
            </a:r>
          </a:p>
          <a:p>
            <a:pPr marL="571500" indent="-342900"/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Proposed Methodology</a:t>
            </a:r>
          </a:p>
          <a:p>
            <a:pPr marL="571500" indent="-342900"/>
            <a:r>
              <a:rPr lang="en-US" altLang="zh-TW" dirty="0"/>
              <a:t>Implementation</a:t>
            </a:r>
            <a:endParaRPr lang="en-US" altLang="zh-TW" sz="2000" dirty="0"/>
          </a:p>
          <a:p>
            <a:pPr marL="1028700" lvl="1" indent="-342900"/>
            <a:r>
              <a:rPr lang="en-US" altLang="zh-TW" sz="2000" dirty="0"/>
              <a:t>Dataset Format and Target Construction</a:t>
            </a:r>
          </a:p>
          <a:p>
            <a:pPr marL="1028700" lvl="1" indent="-342900"/>
            <a:r>
              <a:rPr lang="en-US" altLang="zh-TW" sz="2000" dirty="0"/>
              <a:t>From GNN to Graph Transformer to HGT</a:t>
            </a:r>
          </a:p>
          <a:p>
            <a:pPr marL="1028700" lvl="1" indent="-342900"/>
            <a:r>
              <a:rPr lang="en-US" altLang="zh-TW" sz="2000" dirty="0"/>
              <a:t>Constraint-Aware Decoding and Repair</a:t>
            </a:r>
          </a:p>
          <a:p>
            <a:pPr marL="571500" indent="-342900"/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Experimental Results</a:t>
            </a:r>
          </a:p>
          <a:p>
            <a:pPr marL="571500" indent="-342900"/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Conclusion</a:t>
            </a:r>
          </a:p>
          <a:p>
            <a:pPr marL="571500" indent="-342900"/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Future Work</a:t>
            </a:r>
          </a:p>
        </p:txBody>
      </p:sp>
      <p:sp>
        <p:nvSpPr>
          <p:cNvPr id="122" name="Google Shape;122;p15">
            <a:extLst>
              <a:ext uri="{FF2B5EF4-FFF2-40B4-BE49-F238E27FC236}">
                <a16:creationId xmlns:a16="http://schemas.microsoft.com/office/drawing/2014/main" id="{33F5F14A-E35C-1326-10F8-E4D9EBFF46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66659" y="274638"/>
            <a:ext cx="7644043" cy="1308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400"/>
              <a:buFont typeface="Arial"/>
              <a:buNone/>
            </a:pPr>
            <a:r>
              <a:rPr lang="en-US" dirty="0"/>
              <a:t>Outline</a:t>
            </a:r>
            <a:endParaRPr dirty="0"/>
          </a:p>
        </p:txBody>
      </p:sp>
      <p:sp>
        <p:nvSpPr>
          <p:cNvPr id="123" name="Google Shape;123;p15">
            <a:extLst>
              <a:ext uri="{FF2B5EF4-FFF2-40B4-BE49-F238E27FC236}">
                <a16:creationId xmlns:a16="http://schemas.microsoft.com/office/drawing/2014/main" id="{4CF1EB54-75EF-3EE1-C647-E2A7A5ED409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395285" y="6565952"/>
            <a:ext cx="433359" cy="29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 altLang="zh-TW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978649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1140D084-EB3B-C59D-CF28-8B9DEFE90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5">
            <a:extLst>
              <a:ext uri="{FF2B5EF4-FFF2-40B4-BE49-F238E27FC236}">
                <a16:creationId xmlns:a16="http://schemas.microsoft.com/office/drawing/2014/main" id="{E11629F0-BF95-1A06-BFAA-6F0EB48EF1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95300" y="1600206"/>
            <a:ext cx="9125218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indent="0">
              <a:buNone/>
            </a:pPr>
            <a:endParaRPr b="0" dirty="0"/>
          </a:p>
        </p:txBody>
      </p:sp>
      <p:sp>
        <p:nvSpPr>
          <p:cNvPr id="122" name="Google Shape;122;p15">
            <a:extLst>
              <a:ext uri="{FF2B5EF4-FFF2-40B4-BE49-F238E27FC236}">
                <a16:creationId xmlns:a16="http://schemas.microsoft.com/office/drawing/2014/main" id="{4653BB05-2231-FA8D-9AE3-5D54114C24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66659" y="274638"/>
            <a:ext cx="7644043" cy="1308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altLang="zh-TW" dirty="0"/>
              <a:t>Implementation</a:t>
            </a:r>
            <a:br>
              <a:rPr lang="en-US" altLang="zh-TW" dirty="0"/>
            </a:br>
            <a:r>
              <a:rPr lang="en-US" altLang="zh-TW" sz="2000" b="0" dirty="0"/>
              <a:t>Dataset Format and Target Construction</a:t>
            </a:r>
            <a:endParaRPr sz="2000" b="0" dirty="0"/>
          </a:p>
        </p:txBody>
      </p:sp>
      <p:sp>
        <p:nvSpPr>
          <p:cNvPr id="123" name="Google Shape;123;p15">
            <a:extLst>
              <a:ext uri="{FF2B5EF4-FFF2-40B4-BE49-F238E27FC236}">
                <a16:creationId xmlns:a16="http://schemas.microsoft.com/office/drawing/2014/main" id="{AD96C863-364C-244C-DFE4-D711A75CE35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395285" y="6565952"/>
            <a:ext cx="433359" cy="29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 altLang="zh-TW"/>
              <a:t>17</a:t>
            </a:fld>
            <a:endParaRPr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65EABBA5-E66F-7E2A-A000-8661413002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3230582"/>
              </p:ext>
            </p:extLst>
          </p:nvPr>
        </p:nvGraphicFramePr>
        <p:xfrm>
          <a:off x="495300" y="1600209"/>
          <a:ext cx="9125218" cy="47061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7790">
                  <a:extLst>
                    <a:ext uri="{9D8B030D-6E8A-4147-A177-3AD203B41FA5}">
                      <a16:colId xmlns:a16="http://schemas.microsoft.com/office/drawing/2014/main" val="3600793619"/>
                    </a:ext>
                  </a:extLst>
                </a:gridCol>
                <a:gridCol w="3320069">
                  <a:extLst>
                    <a:ext uri="{9D8B030D-6E8A-4147-A177-3AD203B41FA5}">
                      <a16:colId xmlns:a16="http://schemas.microsoft.com/office/drawing/2014/main" val="2831519848"/>
                    </a:ext>
                  </a:extLst>
                </a:gridCol>
                <a:gridCol w="3697359">
                  <a:extLst>
                    <a:ext uri="{9D8B030D-6E8A-4147-A177-3AD203B41FA5}">
                      <a16:colId xmlns:a16="http://schemas.microsoft.com/office/drawing/2014/main" val="1232983937"/>
                    </a:ext>
                  </a:extLst>
                </a:gridCol>
              </a:tblGrid>
              <a:tr h="32756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Field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Meaning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Current Use</a:t>
                      </a:r>
                      <a:endParaRPr lang="zh-TW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2330137"/>
                  </a:ext>
                </a:extLst>
              </a:tr>
              <a:tr h="52914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i="1" dirty="0" err="1"/>
                        <a:t>area_target</a:t>
                      </a:r>
                      <a:endParaRPr lang="zh-TW" altLang="en-US" sz="1800" b="1" i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zh-TW" sz="18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Target area for each block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Model input and hard-area reference</a:t>
                      </a:r>
                      <a:endParaRPr lang="zh-TW" alt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0590104"/>
                  </a:ext>
                </a:extLst>
              </a:tr>
              <a:tr h="529141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zh-TW" sz="1800" b="0" i="1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b2b_connectivity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zh-TW" sz="18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Block-to-block nets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Graph edges and connectivity features</a:t>
                      </a:r>
                      <a:endParaRPr lang="zh-TW" alt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2640329"/>
                  </a:ext>
                </a:extLst>
              </a:tr>
              <a:tr h="377989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zh-TW" sz="1800" b="0" i="1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p2b_connectivity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zh-TW" sz="18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Pin-to-block nets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Pin and net context</a:t>
                      </a:r>
                      <a:endParaRPr lang="zh-TW" alt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0344421"/>
                  </a:ext>
                </a:extLst>
              </a:tr>
              <a:tr h="52914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zh-TW" sz="1800" b="0" i="1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pins_pos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zh-TW" sz="18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Pin coordinates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Graph features and placement context</a:t>
                      </a:r>
                      <a:endParaRPr lang="zh-TW" alt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2341325"/>
                  </a:ext>
                </a:extLst>
              </a:tr>
              <a:tr h="52914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zh-TW" sz="1800" b="1" i="1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placement_constraints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zh-TW" sz="18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Fixed, preplaced, MIB, cluster, boundary flags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Constraint-aware features and repair rules</a:t>
                      </a:r>
                      <a:endParaRPr lang="zh-TW" alt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3835790"/>
                  </a:ext>
                </a:extLst>
              </a:tr>
              <a:tr h="30433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zh-TW" sz="1800" b="1" i="1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fp_sol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zh-TW" sz="18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Reference rectangles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Main geometry supervision</a:t>
                      </a:r>
                      <a:endParaRPr lang="zh-TW" alt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2995083"/>
                  </a:ext>
                </a:extLst>
              </a:tr>
              <a:tr h="30433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zh-TW" sz="1800" b="0" i="1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tree_sol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zh-TW" sz="18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 B*-tree-like floorplan structure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Not used in current training path</a:t>
                      </a:r>
                      <a:endParaRPr lang="zh-TW" alt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9210347"/>
                  </a:ext>
                </a:extLst>
              </a:tr>
              <a:tr h="52914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zh-TW" sz="1800" b="0" i="1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metrics_sol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zh-TW" sz="18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Area, pin, net, wirelength, and constraint metrics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Mostly metadata today; useful future auxiliary signal</a:t>
                      </a:r>
                      <a:endParaRPr lang="zh-TW" alt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60984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27559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1F619CE7-42EB-66B4-E83C-60598D065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5">
            <a:extLst>
              <a:ext uri="{FF2B5EF4-FFF2-40B4-BE49-F238E27FC236}">
                <a16:creationId xmlns:a16="http://schemas.microsoft.com/office/drawing/2014/main" id="{CE3D922F-81C7-127A-F003-EB092A9F73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95300" y="1600206"/>
            <a:ext cx="9125218" cy="4807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indent="0">
              <a:buNone/>
            </a:pPr>
            <a:endParaRPr lang="en-US" b="0" dirty="0"/>
          </a:p>
          <a:p>
            <a:pPr marL="228600" indent="0">
              <a:buNone/>
            </a:pPr>
            <a:endParaRPr lang="en-US" dirty="0"/>
          </a:p>
          <a:p>
            <a:pPr marL="228600" indent="0">
              <a:buNone/>
            </a:pPr>
            <a:endParaRPr lang="en-US" b="0" dirty="0"/>
          </a:p>
          <a:p>
            <a:pPr marL="228600" indent="0">
              <a:buNone/>
            </a:pPr>
            <a:endParaRPr lang="en-US" dirty="0"/>
          </a:p>
          <a:p>
            <a:pPr marL="228600" indent="0">
              <a:buNone/>
            </a:pPr>
            <a:endParaRPr lang="en-US" b="0" dirty="0"/>
          </a:p>
          <a:p>
            <a:pPr marL="228600" indent="0">
              <a:buNone/>
            </a:pPr>
            <a:endParaRPr lang="en-US" dirty="0"/>
          </a:p>
          <a:p>
            <a:pPr marL="571500" indent="-342900"/>
            <a:r>
              <a:rPr lang="en-US" sz="1800" dirty="0"/>
              <a:t>MPNN </a:t>
            </a:r>
            <a:r>
              <a:rPr lang="zh-TW" altLang="zh-TW" sz="1800" dirty="0"/>
              <a:t>= Message Passing Neural Network</a:t>
            </a:r>
            <a:endParaRPr lang="en-US" altLang="zh-TW" sz="1800" dirty="0"/>
          </a:p>
          <a:p>
            <a:pPr marL="571500" indent="-342900"/>
            <a:r>
              <a:rPr lang="zh-TW" altLang="zh-TW" sz="1800" dirty="0"/>
              <a:t>HGT = Heterogeneous Graph Transformer</a:t>
            </a:r>
            <a:endParaRPr lang="en-US" altLang="zh-TW" sz="1800" dirty="0"/>
          </a:p>
          <a:p>
            <a:pPr marL="571500" indent="-342900"/>
            <a:r>
              <a:rPr lang="en-US" sz="1800" dirty="0"/>
              <a:t>Training Outputs</a:t>
            </a:r>
          </a:p>
          <a:p>
            <a:pPr marL="1028700" lvl="1" indent="-342900"/>
            <a:r>
              <a:rPr lang="en-US" sz="1800" b="0" dirty="0"/>
              <a:t>Anchor Center Target</a:t>
            </a:r>
          </a:p>
          <a:p>
            <a:pPr marL="1028700" lvl="1" indent="-342900"/>
            <a:r>
              <a:rPr lang="en-US" sz="1800" b="0" dirty="0"/>
              <a:t>Priority Target</a:t>
            </a:r>
          </a:p>
          <a:p>
            <a:pPr marL="1028700" lvl="1" indent="-342900"/>
            <a:r>
              <a:rPr lang="en-US" sz="1800" b="0" dirty="0"/>
              <a:t>Log-aspect Target</a:t>
            </a:r>
          </a:p>
          <a:p>
            <a:pPr marL="1028700" lvl="1" indent="-342900"/>
            <a:r>
              <a:rPr lang="en-US" sz="1800" b="0" dirty="0"/>
              <a:t>Pairwise Relation / Axis Target</a:t>
            </a:r>
          </a:p>
        </p:txBody>
      </p:sp>
      <p:sp>
        <p:nvSpPr>
          <p:cNvPr id="122" name="Google Shape;122;p15">
            <a:extLst>
              <a:ext uri="{FF2B5EF4-FFF2-40B4-BE49-F238E27FC236}">
                <a16:creationId xmlns:a16="http://schemas.microsoft.com/office/drawing/2014/main" id="{44EBBE50-9122-560E-DD06-41BCC1795D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66659" y="274638"/>
            <a:ext cx="7644043" cy="1308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altLang="zh-TW" dirty="0"/>
              <a:t>Implementation</a:t>
            </a:r>
            <a:br>
              <a:rPr lang="en-US" altLang="zh-TW" dirty="0"/>
            </a:br>
            <a:r>
              <a:rPr lang="en-US" altLang="zh-TW" sz="2000" b="0" dirty="0"/>
              <a:t>From GNN to Graph Transformer to HGT</a:t>
            </a:r>
            <a:endParaRPr sz="2000" b="0" dirty="0"/>
          </a:p>
        </p:txBody>
      </p:sp>
      <p:sp>
        <p:nvSpPr>
          <p:cNvPr id="123" name="Google Shape;123;p15">
            <a:extLst>
              <a:ext uri="{FF2B5EF4-FFF2-40B4-BE49-F238E27FC236}">
                <a16:creationId xmlns:a16="http://schemas.microsoft.com/office/drawing/2014/main" id="{49B54C34-73F4-C5E0-0C32-EBDF582FC06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395285" y="6565952"/>
            <a:ext cx="433359" cy="29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 altLang="zh-TW"/>
              <a:t>18</a:t>
            </a:fld>
            <a:endParaRPr/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B3166C24-8C84-62FA-E990-D9C8E5169E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620794"/>
              </p:ext>
            </p:extLst>
          </p:nvPr>
        </p:nvGraphicFramePr>
        <p:xfrm>
          <a:off x="495300" y="1600206"/>
          <a:ext cx="9125218" cy="25175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6455">
                  <a:extLst>
                    <a:ext uri="{9D8B030D-6E8A-4147-A177-3AD203B41FA5}">
                      <a16:colId xmlns:a16="http://schemas.microsoft.com/office/drawing/2014/main" val="3600793619"/>
                    </a:ext>
                  </a:extLst>
                </a:gridCol>
                <a:gridCol w="3681404">
                  <a:extLst>
                    <a:ext uri="{9D8B030D-6E8A-4147-A177-3AD203B41FA5}">
                      <a16:colId xmlns:a16="http://schemas.microsoft.com/office/drawing/2014/main" val="2831519848"/>
                    </a:ext>
                  </a:extLst>
                </a:gridCol>
                <a:gridCol w="3697359">
                  <a:extLst>
                    <a:ext uri="{9D8B030D-6E8A-4147-A177-3AD203B41FA5}">
                      <a16:colId xmlns:a16="http://schemas.microsoft.com/office/drawing/2014/main" val="1232983937"/>
                    </a:ext>
                  </a:extLst>
                </a:gridCol>
              </a:tblGrid>
              <a:tr h="597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Encoder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Representation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Strength</a:t>
                      </a:r>
                      <a:endParaRPr lang="zh-TW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2330137"/>
                  </a:ext>
                </a:extLst>
              </a:tr>
              <a:tr h="597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GNN / MPNN</a:t>
                      </a:r>
                      <a:endParaRPr lang="zh-TW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Blocks as nodes, connectivity as edges</a:t>
                      </a:r>
                      <a:endParaRPr lang="zh-TW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Simple, stable, strong early baseline</a:t>
                      </a:r>
                      <a:endParaRPr lang="zh-TW" alt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0590104"/>
                  </a:ext>
                </a:extLst>
              </a:tr>
              <a:tr h="597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Graph Transformer</a:t>
                      </a:r>
                      <a:endParaRPr lang="zh-TW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Richer attention over structural graph context</a:t>
                      </a:r>
                      <a:endParaRPr lang="zh-TW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Current strong production-style encoder</a:t>
                      </a:r>
                      <a:endParaRPr lang="zh-TW" alt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2640329"/>
                  </a:ext>
                </a:extLst>
              </a:tr>
              <a:tr h="5973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HGT</a:t>
                      </a:r>
                      <a:endParaRPr lang="zh-TW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Typed nodes: block, pin, cluster, MIB, boundary</a:t>
                      </a:r>
                      <a:endParaRPr lang="zh-TW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Better match to </a:t>
                      </a:r>
                      <a:r>
                        <a:rPr lang="en-US" altLang="zh-TW" sz="1800" dirty="0" err="1"/>
                        <a:t>FloorSet</a:t>
                      </a:r>
                      <a:r>
                        <a:rPr lang="en-US" altLang="zh-TW" sz="1800" dirty="0"/>
                        <a:t> semantics</a:t>
                      </a:r>
                      <a:endParaRPr lang="zh-TW" alt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03444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73056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1DDBD597-62BB-874E-4574-F0B639344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5">
            <a:extLst>
              <a:ext uri="{FF2B5EF4-FFF2-40B4-BE49-F238E27FC236}">
                <a16:creationId xmlns:a16="http://schemas.microsoft.com/office/drawing/2014/main" id="{AE35AD37-FFA5-53F6-C5CA-360FC56956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95300" y="1600206"/>
            <a:ext cx="9125218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71500" indent="-342900"/>
            <a:r>
              <a:rPr lang="en-US" dirty="0"/>
              <a:t>Start from learned </a:t>
            </a:r>
            <a:r>
              <a:rPr lang="en-US" b="1" dirty="0"/>
              <a:t>anchors</a:t>
            </a:r>
            <a:r>
              <a:rPr lang="en-US" dirty="0"/>
              <a:t> and placement </a:t>
            </a:r>
            <a:r>
              <a:rPr lang="en-US" b="1" dirty="0"/>
              <a:t>priorities</a:t>
            </a:r>
          </a:p>
          <a:p>
            <a:pPr marL="571500" indent="-342900"/>
            <a:r>
              <a:rPr lang="en-US" dirty="0"/>
              <a:t>Use </a:t>
            </a:r>
            <a:r>
              <a:rPr lang="en-US" b="1" dirty="0"/>
              <a:t>log-aspect</a:t>
            </a:r>
            <a:r>
              <a:rPr lang="en-US" dirty="0"/>
              <a:t> predictions to guide soft-block shape</a:t>
            </a:r>
          </a:p>
          <a:p>
            <a:pPr marL="571500" indent="-342900"/>
            <a:r>
              <a:rPr lang="en-US" dirty="0"/>
              <a:t>Use pairwise-axis logits to resolve ambiguous relative order</a:t>
            </a:r>
          </a:p>
          <a:p>
            <a:pPr marL="571500" indent="-342900"/>
            <a:r>
              <a:rPr lang="en-US" dirty="0"/>
              <a:t>Generate </a:t>
            </a:r>
            <a:r>
              <a:rPr lang="en-US" b="1" dirty="0"/>
              <a:t>candidate placements </a:t>
            </a:r>
            <a:r>
              <a:rPr lang="en-US" dirty="0"/>
              <a:t>instead of committing to one neural prediction</a:t>
            </a:r>
            <a:endParaRPr b="0" dirty="0"/>
          </a:p>
        </p:txBody>
      </p:sp>
      <p:sp>
        <p:nvSpPr>
          <p:cNvPr id="122" name="Google Shape;122;p15">
            <a:extLst>
              <a:ext uri="{FF2B5EF4-FFF2-40B4-BE49-F238E27FC236}">
                <a16:creationId xmlns:a16="http://schemas.microsoft.com/office/drawing/2014/main" id="{FD6713A7-7E0E-EA84-FED1-13F5A701F6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66659" y="274638"/>
            <a:ext cx="7644043" cy="1308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altLang="zh-TW" dirty="0"/>
              <a:t>Implementation</a:t>
            </a:r>
            <a:br>
              <a:rPr lang="en-US" altLang="zh-TW" dirty="0"/>
            </a:br>
            <a:r>
              <a:rPr lang="en-US" altLang="zh-TW" sz="2000" b="0" dirty="0"/>
              <a:t>Constraint-Aware Decoding</a:t>
            </a:r>
            <a:endParaRPr sz="2000" b="0" dirty="0"/>
          </a:p>
        </p:txBody>
      </p:sp>
      <p:sp>
        <p:nvSpPr>
          <p:cNvPr id="123" name="Google Shape;123;p15">
            <a:extLst>
              <a:ext uri="{FF2B5EF4-FFF2-40B4-BE49-F238E27FC236}">
                <a16:creationId xmlns:a16="http://schemas.microsoft.com/office/drawing/2014/main" id="{E321C70A-D6DC-A3E3-2535-E3C384201ED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395285" y="6565952"/>
            <a:ext cx="433359" cy="29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 altLang="zh-TW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680793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987EB0A9-DF58-CC22-2CC0-F26CFD43A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5">
            <a:extLst>
              <a:ext uri="{FF2B5EF4-FFF2-40B4-BE49-F238E27FC236}">
                <a16:creationId xmlns:a16="http://schemas.microsoft.com/office/drawing/2014/main" id="{65A3841F-4725-6E0F-ECCA-E47D4B9F3F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95300" y="1600206"/>
            <a:ext cx="9125218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71500" indent="-342900"/>
            <a:r>
              <a:rPr lang="en-US" dirty="0"/>
              <a:t>Hard legality first:</a:t>
            </a:r>
          </a:p>
          <a:p>
            <a:pPr marL="1028700" lvl="1" indent="-342900"/>
            <a:r>
              <a:rPr lang="en-US" sz="2000" b="0" dirty="0"/>
              <a:t>area tolerance</a:t>
            </a:r>
          </a:p>
          <a:p>
            <a:pPr marL="1028700" lvl="1" indent="-342900"/>
            <a:r>
              <a:rPr lang="en-US" sz="2000" b="0" dirty="0"/>
              <a:t>fixed-shape legality</a:t>
            </a:r>
          </a:p>
          <a:p>
            <a:pPr marL="1028700" lvl="1" indent="-342900"/>
            <a:r>
              <a:rPr lang="en-US" sz="2000" b="0" dirty="0"/>
              <a:t>preplaced legality</a:t>
            </a:r>
          </a:p>
          <a:p>
            <a:pPr marL="1028700" lvl="1" indent="-342900"/>
            <a:r>
              <a:rPr lang="en-US" sz="2000" b="0" dirty="0"/>
              <a:t>overlap removal</a:t>
            </a:r>
          </a:p>
          <a:p>
            <a:pPr marL="571500" indent="-342900"/>
            <a:r>
              <a:rPr lang="en-US" dirty="0"/>
              <a:t>Soft-constraint improvement second:</a:t>
            </a:r>
          </a:p>
          <a:p>
            <a:pPr marL="1028700" lvl="1" indent="-342900"/>
            <a:r>
              <a:rPr lang="en-US" sz="2000" b="0" dirty="0"/>
              <a:t>boundary snapping</a:t>
            </a:r>
          </a:p>
          <a:p>
            <a:pPr marL="1028700" lvl="1" indent="-342900"/>
            <a:r>
              <a:rPr lang="en-US" sz="2000" b="0" dirty="0"/>
              <a:t>grouping / cluster cohesion</a:t>
            </a:r>
          </a:p>
          <a:p>
            <a:pPr marL="1028700" lvl="1" indent="-342900"/>
            <a:r>
              <a:rPr lang="en-US" sz="2000" b="0" dirty="0"/>
              <a:t>MIB shape consistency</a:t>
            </a:r>
          </a:p>
          <a:p>
            <a:pPr marL="571500" indent="-342900"/>
            <a:r>
              <a:rPr lang="en-US" dirty="0"/>
              <a:t>Candidate acceptance is controlled by </a:t>
            </a:r>
            <a:r>
              <a:rPr lang="en-US" altLang="zh-TW" dirty="0"/>
              <a:t>proxy</a:t>
            </a:r>
            <a:r>
              <a:rPr lang="en-US" dirty="0"/>
              <a:t> ranking</a:t>
            </a:r>
          </a:p>
        </p:txBody>
      </p:sp>
      <p:sp>
        <p:nvSpPr>
          <p:cNvPr id="122" name="Google Shape;122;p15">
            <a:extLst>
              <a:ext uri="{FF2B5EF4-FFF2-40B4-BE49-F238E27FC236}">
                <a16:creationId xmlns:a16="http://schemas.microsoft.com/office/drawing/2014/main" id="{8AA3A8E1-222D-0FCB-1299-6227F3F3AF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66659" y="274638"/>
            <a:ext cx="7644043" cy="1308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altLang="zh-TW" dirty="0"/>
              <a:t>Implementation</a:t>
            </a:r>
            <a:br>
              <a:rPr lang="en-US" altLang="zh-TW" dirty="0"/>
            </a:br>
            <a:r>
              <a:rPr lang="en-US" altLang="zh-TW" sz="2000" b="0" dirty="0"/>
              <a:t>Repair Strategy</a:t>
            </a:r>
            <a:endParaRPr sz="2000" b="0" dirty="0"/>
          </a:p>
        </p:txBody>
      </p:sp>
      <p:sp>
        <p:nvSpPr>
          <p:cNvPr id="123" name="Google Shape;123;p15">
            <a:extLst>
              <a:ext uri="{FF2B5EF4-FFF2-40B4-BE49-F238E27FC236}">
                <a16:creationId xmlns:a16="http://schemas.microsoft.com/office/drawing/2014/main" id="{F1012103-EDEC-A494-F33B-3085589CBF6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395285" y="6565952"/>
            <a:ext cx="433359" cy="29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 altLang="zh-TW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030942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DABC3535-ED34-1F53-15D2-A7882D466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5">
            <a:extLst>
              <a:ext uri="{FF2B5EF4-FFF2-40B4-BE49-F238E27FC236}">
                <a16:creationId xmlns:a16="http://schemas.microsoft.com/office/drawing/2014/main" id="{DEB30CE9-354B-72D9-5E65-2C28D0AB0E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95300" y="1600206"/>
            <a:ext cx="8915400" cy="4542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71500" indent="-342900"/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Problem Statement</a:t>
            </a:r>
          </a:p>
          <a:p>
            <a:pPr marL="571500" indent="-342900"/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Related Work</a:t>
            </a:r>
          </a:p>
          <a:p>
            <a:pPr marL="571500" indent="-342900"/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Proposed Methodology</a:t>
            </a:r>
          </a:p>
          <a:p>
            <a:pPr marL="571500" indent="-342900"/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Implementation</a:t>
            </a:r>
            <a:endParaRPr lang="en-US" altLang="zh-TW" sz="2000" dirty="0">
              <a:solidFill>
                <a:schemeClr val="bg1">
                  <a:lumMod val="65000"/>
                </a:schemeClr>
              </a:solidFill>
            </a:endParaRPr>
          </a:p>
          <a:p>
            <a:pPr marL="571500" indent="-342900"/>
            <a:r>
              <a:rPr lang="en-US" altLang="zh-TW" dirty="0">
                <a:solidFill>
                  <a:schemeClr val="tx1"/>
                </a:solidFill>
              </a:rPr>
              <a:t>Experimental Results</a:t>
            </a:r>
          </a:p>
          <a:p>
            <a:pPr marL="1028700" lvl="1" indent="-342900"/>
            <a:r>
              <a:rPr lang="en-US" altLang="zh-TW" sz="2000" dirty="0"/>
              <a:t>Architecture Performance Comparison</a:t>
            </a:r>
          </a:p>
          <a:p>
            <a:pPr marL="1028700" lvl="1" indent="-342900"/>
            <a:r>
              <a:rPr lang="zh-TW" altLang="zh-TW" sz="2000" dirty="0"/>
              <a:t>Floorplan Visualization</a:t>
            </a:r>
            <a:endParaRPr lang="en-US" altLang="zh-TW" sz="2000" dirty="0">
              <a:solidFill>
                <a:schemeClr val="tx1"/>
              </a:solidFill>
            </a:endParaRPr>
          </a:p>
          <a:p>
            <a:pPr marL="571500" indent="-342900"/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Conclusion</a:t>
            </a:r>
          </a:p>
          <a:p>
            <a:pPr marL="571500" indent="-342900"/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Future Work</a:t>
            </a:r>
          </a:p>
        </p:txBody>
      </p:sp>
      <p:sp>
        <p:nvSpPr>
          <p:cNvPr id="122" name="Google Shape;122;p15">
            <a:extLst>
              <a:ext uri="{FF2B5EF4-FFF2-40B4-BE49-F238E27FC236}">
                <a16:creationId xmlns:a16="http://schemas.microsoft.com/office/drawing/2014/main" id="{59E9BEB5-5A61-C758-7E53-018EE7610B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66659" y="274638"/>
            <a:ext cx="7644043" cy="1308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400"/>
              <a:buFont typeface="Arial"/>
              <a:buNone/>
            </a:pPr>
            <a:r>
              <a:rPr lang="en-US" dirty="0"/>
              <a:t>Outline</a:t>
            </a:r>
            <a:endParaRPr dirty="0"/>
          </a:p>
        </p:txBody>
      </p:sp>
      <p:sp>
        <p:nvSpPr>
          <p:cNvPr id="123" name="Google Shape;123;p15">
            <a:extLst>
              <a:ext uri="{FF2B5EF4-FFF2-40B4-BE49-F238E27FC236}">
                <a16:creationId xmlns:a16="http://schemas.microsoft.com/office/drawing/2014/main" id="{DBA0C568-2ECF-FE94-1243-2DB3A69EDBA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395285" y="6565952"/>
            <a:ext cx="433359" cy="29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 altLang="zh-TW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070722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7B16870A-BA65-DC26-311C-E03CC6E0A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5">
            <a:extLst>
              <a:ext uri="{FF2B5EF4-FFF2-40B4-BE49-F238E27FC236}">
                <a16:creationId xmlns:a16="http://schemas.microsoft.com/office/drawing/2014/main" id="{B443DA80-5F70-AE1E-96C7-E4AC500417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95300" y="1600206"/>
            <a:ext cx="9125218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indent="0">
              <a:buNone/>
            </a:pPr>
            <a:endParaRPr b="0" dirty="0"/>
          </a:p>
        </p:txBody>
      </p:sp>
      <p:sp>
        <p:nvSpPr>
          <p:cNvPr id="122" name="Google Shape;122;p15">
            <a:extLst>
              <a:ext uri="{FF2B5EF4-FFF2-40B4-BE49-F238E27FC236}">
                <a16:creationId xmlns:a16="http://schemas.microsoft.com/office/drawing/2014/main" id="{686214EE-11E1-FEC7-5CF9-C0B48DD94FF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66659" y="274638"/>
            <a:ext cx="7644043" cy="1308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altLang="zh-TW" dirty="0">
                <a:solidFill>
                  <a:schemeClr val="tx1"/>
                </a:solidFill>
              </a:rPr>
              <a:t>Experimental Results</a:t>
            </a:r>
            <a:br>
              <a:rPr lang="en-US" altLang="zh-TW" dirty="0"/>
            </a:br>
            <a:r>
              <a:rPr lang="en-US" altLang="zh-TW" sz="2000" b="0" dirty="0"/>
              <a:t>Architecture Performance Comparison</a:t>
            </a:r>
            <a:endParaRPr sz="2000" b="0" dirty="0"/>
          </a:p>
        </p:txBody>
      </p:sp>
      <p:sp>
        <p:nvSpPr>
          <p:cNvPr id="123" name="Google Shape;123;p15">
            <a:extLst>
              <a:ext uri="{FF2B5EF4-FFF2-40B4-BE49-F238E27FC236}">
                <a16:creationId xmlns:a16="http://schemas.microsoft.com/office/drawing/2014/main" id="{14A7A202-D232-2CB5-C747-8414ED38E9A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395285" y="6565952"/>
            <a:ext cx="433359" cy="29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 altLang="zh-TW"/>
              <a:t>22</a:t>
            </a:fld>
            <a:endParaRPr/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AEF3CD6B-8EFE-36FE-D5C2-728289DB66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5436681"/>
              </p:ext>
            </p:extLst>
          </p:nvPr>
        </p:nvGraphicFramePr>
        <p:xfrm>
          <a:off x="495300" y="1600207"/>
          <a:ext cx="9125218" cy="4567733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657965">
                  <a:extLst>
                    <a:ext uri="{9D8B030D-6E8A-4147-A177-3AD203B41FA5}">
                      <a16:colId xmlns:a16="http://schemas.microsoft.com/office/drawing/2014/main" val="3600793619"/>
                    </a:ext>
                  </a:extLst>
                </a:gridCol>
                <a:gridCol w="3473245">
                  <a:extLst>
                    <a:ext uri="{9D8B030D-6E8A-4147-A177-3AD203B41FA5}">
                      <a16:colId xmlns:a16="http://schemas.microsoft.com/office/drawing/2014/main" val="2831519848"/>
                    </a:ext>
                  </a:extLst>
                </a:gridCol>
                <a:gridCol w="3994008">
                  <a:extLst>
                    <a:ext uri="{9D8B030D-6E8A-4147-A177-3AD203B41FA5}">
                      <a16:colId xmlns:a16="http://schemas.microsoft.com/office/drawing/2014/main" val="1232983937"/>
                    </a:ext>
                  </a:extLst>
                </a:gridCol>
              </a:tblGrid>
              <a:tr h="56470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Version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Key Result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What We Learned</a:t>
                      </a:r>
                      <a:endParaRPr lang="zh-TW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2330137"/>
                  </a:ext>
                </a:extLst>
              </a:tr>
              <a:tr h="69743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GNN Promotion</a:t>
                      </a:r>
                      <a:endParaRPr lang="zh-TW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total about 2.33 to 2.65, 100/100 feasible</a:t>
                      </a:r>
                      <a:endParaRPr lang="zh-TW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Learned anchor guidance clearly improved deterministic placement</a:t>
                      </a:r>
                      <a:endParaRPr lang="zh-TW" alt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2640329"/>
                  </a:ext>
                </a:extLst>
              </a:tr>
              <a:tr h="99633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No-checkpoint Guidance</a:t>
                      </a:r>
                      <a:endParaRPr lang="zh-TW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total 6.2174, no-runtime 4.6289</a:t>
                      </a:r>
                      <a:endParaRPr lang="zh-TW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Deterministic repair can preserve legality, but </a:t>
                      </a:r>
                      <a:r>
                        <a:rPr lang="en-US" altLang="zh-TW" sz="1800" b="1" dirty="0"/>
                        <a:t>initial solution quality </a:t>
                      </a:r>
                      <a:r>
                        <a:rPr lang="en-US" altLang="zh-TW" sz="1800" dirty="0"/>
                        <a:t>strongly limits final score</a:t>
                      </a:r>
                      <a:endParaRPr lang="zh-TW" alt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0344421"/>
                  </a:ext>
                </a:extLst>
              </a:tr>
              <a:tr h="69743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Configured Anchor-GNN</a:t>
                      </a:r>
                      <a:endParaRPr lang="zh-TW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total 3.2697, </a:t>
                      </a:r>
                      <a:r>
                        <a:rPr lang="en-US" altLang="zh-TW" sz="1800" b="1" dirty="0"/>
                        <a:t>no-runtime 2.0326</a:t>
                      </a:r>
                      <a:endParaRPr lang="zh-TW" altLang="en-US" sz="1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Guidance path was robust, but </a:t>
                      </a:r>
                      <a:r>
                        <a:rPr lang="en-US" altLang="zh-TW" sz="1800" b="1" dirty="0"/>
                        <a:t>block-level representation</a:t>
                      </a:r>
                      <a:r>
                        <a:rPr lang="en-US" altLang="zh-TW" sz="1800" dirty="0"/>
                        <a:t> still limited constraint reasoning</a:t>
                      </a:r>
                      <a:endParaRPr lang="zh-TW" alt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2282718"/>
                  </a:ext>
                </a:extLst>
              </a:tr>
              <a:tr h="69743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Graph Transformer</a:t>
                      </a:r>
                      <a:endParaRPr lang="zh-TW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/>
                        <a:t>total 2.1107</a:t>
                      </a:r>
                      <a:endParaRPr lang="zh-TW" altLang="en-US" sz="1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Richer structural context became the strongest current checkpoint</a:t>
                      </a:r>
                      <a:endParaRPr lang="zh-TW" alt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7450230"/>
                  </a:ext>
                </a:extLst>
              </a:tr>
              <a:tr h="69743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HGT</a:t>
                      </a:r>
                      <a:endParaRPr lang="zh-TW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total 2.2144</a:t>
                      </a:r>
                      <a:endParaRPr lang="zh-TW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Typed heterogeneous modeling is promising but not yet superior</a:t>
                      </a:r>
                      <a:endParaRPr lang="zh-TW" alt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28336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68515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D11BA212-8A81-42F4-EC7B-E76EF6D68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5">
            <a:extLst>
              <a:ext uri="{FF2B5EF4-FFF2-40B4-BE49-F238E27FC236}">
                <a16:creationId xmlns:a16="http://schemas.microsoft.com/office/drawing/2014/main" id="{A35C5D6C-93CB-26D3-A52A-2864CE3B54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95300" y="1600206"/>
            <a:ext cx="9125218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indent="0">
              <a:buNone/>
            </a:pPr>
            <a:endParaRPr b="0" dirty="0"/>
          </a:p>
        </p:txBody>
      </p:sp>
      <p:sp>
        <p:nvSpPr>
          <p:cNvPr id="122" name="Google Shape;122;p15">
            <a:extLst>
              <a:ext uri="{FF2B5EF4-FFF2-40B4-BE49-F238E27FC236}">
                <a16:creationId xmlns:a16="http://schemas.microsoft.com/office/drawing/2014/main" id="{E07A99FA-BE0E-D0E4-E7EE-A891773BE39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66659" y="274638"/>
            <a:ext cx="7644043" cy="1308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altLang="zh-TW" dirty="0">
                <a:solidFill>
                  <a:schemeClr val="tx1"/>
                </a:solidFill>
              </a:rPr>
              <a:t>Experimental Results</a:t>
            </a:r>
            <a:br>
              <a:rPr lang="en-US" altLang="zh-TW" b="0" dirty="0"/>
            </a:br>
            <a:r>
              <a:rPr lang="zh-TW" altLang="zh-TW" sz="2000" b="0" dirty="0"/>
              <a:t>Floorplan Visualization</a:t>
            </a:r>
            <a:endParaRPr sz="2000" b="0" dirty="0"/>
          </a:p>
        </p:txBody>
      </p:sp>
      <p:sp>
        <p:nvSpPr>
          <p:cNvPr id="123" name="Google Shape;123;p15">
            <a:extLst>
              <a:ext uri="{FF2B5EF4-FFF2-40B4-BE49-F238E27FC236}">
                <a16:creationId xmlns:a16="http://schemas.microsoft.com/office/drawing/2014/main" id="{4AAE5E0D-7682-5D26-8020-A0545C3C5E9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395285" y="6565952"/>
            <a:ext cx="433359" cy="29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 altLang="zh-TW"/>
              <a:t>23</a:t>
            </a:fld>
            <a:endParaRPr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91F922E-8E79-AC33-F5B1-60EB99E1E6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5174"/>
          <a:stretch>
            <a:fillRect/>
          </a:stretch>
        </p:blipFill>
        <p:spPr>
          <a:xfrm>
            <a:off x="349002" y="1600206"/>
            <a:ext cx="9207996" cy="3839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5988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2008D2E7-1249-AFEB-F201-60F667A5F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5">
            <a:extLst>
              <a:ext uri="{FF2B5EF4-FFF2-40B4-BE49-F238E27FC236}">
                <a16:creationId xmlns:a16="http://schemas.microsoft.com/office/drawing/2014/main" id="{9E33276C-3721-2FBE-8E8B-5AE72AFFC9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95300" y="1600206"/>
            <a:ext cx="9125218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indent="0">
              <a:buNone/>
            </a:pPr>
            <a:endParaRPr b="0" dirty="0"/>
          </a:p>
        </p:txBody>
      </p:sp>
      <p:sp>
        <p:nvSpPr>
          <p:cNvPr id="122" name="Google Shape;122;p15">
            <a:extLst>
              <a:ext uri="{FF2B5EF4-FFF2-40B4-BE49-F238E27FC236}">
                <a16:creationId xmlns:a16="http://schemas.microsoft.com/office/drawing/2014/main" id="{06EC7022-4942-01A4-3C18-C78682FCE9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66659" y="274638"/>
            <a:ext cx="7644043" cy="1308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altLang="zh-TW" dirty="0">
                <a:solidFill>
                  <a:schemeClr val="tx1"/>
                </a:solidFill>
              </a:rPr>
              <a:t>Experimental Results</a:t>
            </a:r>
            <a:br>
              <a:rPr lang="en-US" altLang="zh-TW" b="0" dirty="0"/>
            </a:br>
            <a:r>
              <a:rPr lang="zh-TW" altLang="zh-TW" sz="2000" b="0" dirty="0"/>
              <a:t>Floorplan Visualization</a:t>
            </a:r>
            <a:endParaRPr sz="2000" b="0" dirty="0"/>
          </a:p>
        </p:txBody>
      </p:sp>
      <p:sp>
        <p:nvSpPr>
          <p:cNvPr id="123" name="Google Shape;123;p15">
            <a:extLst>
              <a:ext uri="{FF2B5EF4-FFF2-40B4-BE49-F238E27FC236}">
                <a16:creationId xmlns:a16="http://schemas.microsoft.com/office/drawing/2014/main" id="{F3061BF9-51BF-91D1-B548-DD94065B985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395285" y="6565952"/>
            <a:ext cx="433359" cy="29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 altLang="zh-TW"/>
              <a:t>24</a:t>
            </a:fld>
            <a:endParaRPr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6964B748-49D5-2490-C2D5-EBCB04E92DC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9090"/>
          <a:stretch>
            <a:fillRect/>
          </a:stretch>
        </p:blipFill>
        <p:spPr>
          <a:xfrm>
            <a:off x="241459" y="1600206"/>
            <a:ext cx="9423081" cy="4210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1719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3F9C0C9F-8BE2-6250-5629-47268046E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5">
            <a:extLst>
              <a:ext uri="{FF2B5EF4-FFF2-40B4-BE49-F238E27FC236}">
                <a16:creationId xmlns:a16="http://schemas.microsoft.com/office/drawing/2014/main" id="{61B12B56-5323-8798-5AD4-82028E380A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95300" y="1600206"/>
            <a:ext cx="9125218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indent="0">
              <a:buNone/>
            </a:pPr>
            <a:endParaRPr b="0" dirty="0"/>
          </a:p>
        </p:txBody>
      </p:sp>
      <p:sp>
        <p:nvSpPr>
          <p:cNvPr id="122" name="Google Shape;122;p15">
            <a:extLst>
              <a:ext uri="{FF2B5EF4-FFF2-40B4-BE49-F238E27FC236}">
                <a16:creationId xmlns:a16="http://schemas.microsoft.com/office/drawing/2014/main" id="{EDE7D17E-31D9-7710-B70C-CED7A1232E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66659" y="274638"/>
            <a:ext cx="7644043" cy="1308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altLang="zh-TW" dirty="0">
                <a:solidFill>
                  <a:schemeClr val="tx1"/>
                </a:solidFill>
              </a:rPr>
              <a:t>Experimental Results</a:t>
            </a:r>
            <a:br>
              <a:rPr lang="en-US" altLang="zh-TW" b="0" dirty="0"/>
            </a:br>
            <a:r>
              <a:rPr lang="zh-TW" altLang="zh-TW" sz="2000" b="0" dirty="0"/>
              <a:t>Floorplan Visualization</a:t>
            </a:r>
            <a:endParaRPr sz="2000" b="0" dirty="0"/>
          </a:p>
        </p:txBody>
      </p:sp>
      <p:sp>
        <p:nvSpPr>
          <p:cNvPr id="123" name="Google Shape;123;p15">
            <a:extLst>
              <a:ext uri="{FF2B5EF4-FFF2-40B4-BE49-F238E27FC236}">
                <a16:creationId xmlns:a16="http://schemas.microsoft.com/office/drawing/2014/main" id="{3D39D0CA-3383-BFDB-DEBB-F9A88D23538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395285" y="6565952"/>
            <a:ext cx="433359" cy="29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 altLang="zh-TW"/>
              <a:t>25</a:t>
            </a:fld>
            <a:endParaRPr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4626FAE3-A5CB-ADB5-CF02-70313342F2E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921" r="12253" b="2660"/>
          <a:stretch>
            <a:fillRect/>
          </a:stretch>
        </p:blipFill>
        <p:spPr>
          <a:xfrm>
            <a:off x="1853204" y="1582722"/>
            <a:ext cx="6199591" cy="4788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1583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14FB92C5-D033-5A6F-3C32-2F2CFBABA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5">
            <a:extLst>
              <a:ext uri="{FF2B5EF4-FFF2-40B4-BE49-F238E27FC236}">
                <a16:creationId xmlns:a16="http://schemas.microsoft.com/office/drawing/2014/main" id="{D8AB6F97-4234-D667-1051-C1007721EC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95300" y="1600206"/>
            <a:ext cx="9125218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indent="0">
              <a:buNone/>
            </a:pPr>
            <a:endParaRPr b="0" dirty="0"/>
          </a:p>
        </p:txBody>
      </p:sp>
      <p:sp>
        <p:nvSpPr>
          <p:cNvPr id="122" name="Google Shape;122;p15">
            <a:extLst>
              <a:ext uri="{FF2B5EF4-FFF2-40B4-BE49-F238E27FC236}">
                <a16:creationId xmlns:a16="http://schemas.microsoft.com/office/drawing/2014/main" id="{26619501-3DAB-B8BA-9BD7-382463ED57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66659" y="274638"/>
            <a:ext cx="7644043" cy="1308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altLang="zh-TW" dirty="0">
                <a:solidFill>
                  <a:schemeClr val="tx1"/>
                </a:solidFill>
              </a:rPr>
              <a:t>Experimental Results</a:t>
            </a:r>
            <a:br>
              <a:rPr lang="en-US" altLang="zh-TW" b="0" dirty="0"/>
            </a:br>
            <a:r>
              <a:rPr lang="zh-TW" altLang="zh-TW" sz="2000" b="0" dirty="0"/>
              <a:t>Floorplan Visualization</a:t>
            </a:r>
            <a:endParaRPr sz="2000" b="0" dirty="0"/>
          </a:p>
        </p:txBody>
      </p:sp>
      <p:sp>
        <p:nvSpPr>
          <p:cNvPr id="123" name="Google Shape;123;p15">
            <a:extLst>
              <a:ext uri="{FF2B5EF4-FFF2-40B4-BE49-F238E27FC236}">
                <a16:creationId xmlns:a16="http://schemas.microsoft.com/office/drawing/2014/main" id="{7239343B-F51F-3774-5590-9438A902819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395285" y="6565952"/>
            <a:ext cx="433359" cy="29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 altLang="zh-TW"/>
              <a:t>26</a:t>
            </a:fld>
            <a:endParaRPr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1D67D0E-08DF-5618-15E2-AA7B111213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326" r="13094" b="3027"/>
          <a:stretch>
            <a:fillRect/>
          </a:stretch>
        </p:blipFill>
        <p:spPr>
          <a:xfrm>
            <a:off x="1935180" y="1582722"/>
            <a:ext cx="6035640" cy="47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7464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4B363DD1-C8A1-2DCE-7E48-3DD9E7E4A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5">
            <a:extLst>
              <a:ext uri="{FF2B5EF4-FFF2-40B4-BE49-F238E27FC236}">
                <a16:creationId xmlns:a16="http://schemas.microsoft.com/office/drawing/2014/main" id="{EB1B7A7C-285E-EB47-3658-6050B44375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95300" y="1600206"/>
            <a:ext cx="9125218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indent="0">
              <a:buNone/>
            </a:pPr>
            <a:endParaRPr b="0" dirty="0"/>
          </a:p>
        </p:txBody>
      </p:sp>
      <p:sp>
        <p:nvSpPr>
          <p:cNvPr id="122" name="Google Shape;122;p15">
            <a:extLst>
              <a:ext uri="{FF2B5EF4-FFF2-40B4-BE49-F238E27FC236}">
                <a16:creationId xmlns:a16="http://schemas.microsoft.com/office/drawing/2014/main" id="{8299C9C8-C524-CD37-0AF0-8FC732E068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66659" y="274638"/>
            <a:ext cx="7644043" cy="1308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altLang="zh-TW" dirty="0">
                <a:solidFill>
                  <a:schemeClr val="tx1"/>
                </a:solidFill>
              </a:rPr>
              <a:t>Experimental Results</a:t>
            </a:r>
            <a:br>
              <a:rPr lang="en-US" altLang="zh-TW" b="0" dirty="0"/>
            </a:br>
            <a:r>
              <a:rPr lang="zh-TW" altLang="zh-TW" sz="2000" b="0" dirty="0"/>
              <a:t>Floorplan Visualization</a:t>
            </a:r>
            <a:endParaRPr sz="2000" b="0" dirty="0"/>
          </a:p>
        </p:txBody>
      </p:sp>
      <p:sp>
        <p:nvSpPr>
          <p:cNvPr id="123" name="Google Shape;123;p15">
            <a:extLst>
              <a:ext uri="{FF2B5EF4-FFF2-40B4-BE49-F238E27FC236}">
                <a16:creationId xmlns:a16="http://schemas.microsoft.com/office/drawing/2014/main" id="{E3F48800-1671-217A-AE6D-45A07F0AE5C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395285" y="6565952"/>
            <a:ext cx="433359" cy="29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 altLang="zh-TW"/>
              <a:t>27</a:t>
            </a:fld>
            <a:endParaRPr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67BA9675-B7B6-8D61-ECDC-CE3272DA9CB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578" r="13702" b="3027"/>
          <a:stretch>
            <a:fillRect/>
          </a:stretch>
        </p:blipFill>
        <p:spPr>
          <a:xfrm>
            <a:off x="1970945" y="1582722"/>
            <a:ext cx="5964109" cy="47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828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217D94B1-5D41-1A59-9D61-10EB61D97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5">
            <a:extLst>
              <a:ext uri="{FF2B5EF4-FFF2-40B4-BE49-F238E27FC236}">
                <a16:creationId xmlns:a16="http://schemas.microsoft.com/office/drawing/2014/main" id="{B7BC8EC7-05E4-B034-408A-93F4D8CABB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95300" y="1600206"/>
            <a:ext cx="8915400" cy="452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71500" indent="-342900"/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Problem Statement</a:t>
            </a:r>
          </a:p>
          <a:p>
            <a:pPr marL="571500" indent="-342900"/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Related Work</a:t>
            </a:r>
          </a:p>
          <a:p>
            <a:pPr marL="571500" indent="-342900"/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Proposed Methodology</a:t>
            </a:r>
          </a:p>
          <a:p>
            <a:pPr marL="571500" indent="-342900"/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Implementation</a:t>
            </a:r>
            <a:endParaRPr lang="en-US" altLang="zh-TW" sz="2000" dirty="0">
              <a:solidFill>
                <a:schemeClr val="bg1">
                  <a:lumMod val="65000"/>
                </a:schemeClr>
              </a:solidFill>
            </a:endParaRPr>
          </a:p>
          <a:p>
            <a:pPr marL="571500" indent="-342900"/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Experimental Results</a:t>
            </a:r>
          </a:p>
          <a:p>
            <a:pPr marL="571500" indent="-342900"/>
            <a:r>
              <a:rPr lang="en-US" altLang="zh-CN" dirty="0">
                <a:solidFill>
                  <a:schemeClr val="tx1"/>
                </a:solidFill>
              </a:rPr>
              <a:t>Conclusion</a:t>
            </a:r>
          </a:p>
          <a:p>
            <a:pPr marL="571500" indent="-342900"/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Future Work</a:t>
            </a:r>
          </a:p>
        </p:txBody>
      </p:sp>
      <p:sp>
        <p:nvSpPr>
          <p:cNvPr id="122" name="Google Shape;122;p15">
            <a:extLst>
              <a:ext uri="{FF2B5EF4-FFF2-40B4-BE49-F238E27FC236}">
                <a16:creationId xmlns:a16="http://schemas.microsoft.com/office/drawing/2014/main" id="{BE135752-4DB4-270A-4575-0535806719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66659" y="274638"/>
            <a:ext cx="7644043" cy="1308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400"/>
              <a:buFont typeface="Arial"/>
              <a:buNone/>
            </a:pPr>
            <a:r>
              <a:rPr lang="en-US" dirty="0"/>
              <a:t>Outline</a:t>
            </a:r>
            <a:endParaRPr dirty="0"/>
          </a:p>
        </p:txBody>
      </p:sp>
      <p:sp>
        <p:nvSpPr>
          <p:cNvPr id="123" name="Google Shape;123;p15">
            <a:extLst>
              <a:ext uri="{FF2B5EF4-FFF2-40B4-BE49-F238E27FC236}">
                <a16:creationId xmlns:a16="http://schemas.microsoft.com/office/drawing/2014/main" id="{CEAD5A44-9196-A5E4-9FA3-C41B30DC11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395285" y="6565952"/>
            <a:ext cx="433359" cy="29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 altLang="zh-TW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219248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381713C2-9F5B-AAD3-B821-2161C0A92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5">
            <a:extLst>
              <a:ext uri="{FF2B5EF4-FFF2-40B4-BE49-F238E27FC236}">
                <a16:creationId xmlns:a16="http://schemas.microsoft.com/office/drawing/2014/main" id="{7F85C0CB-D7FB-8D09-7180-99DB307D7F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95300" y="1600206"/>
            <a:ext cx="9125218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71500" indent="-342900"/>
            <a:r>
              <a:rPr lang="en-US" dirty="0"/>
              <a:t>The final system is a hybrid </a:t>
            </a:r>
            <a:r>
              <a:rPr lang="en-US" dirty="0" err="1"/>
              <a:t>floorplanning</a:t>
            </a:r>
            <a:r>
              <a:rPr lang="en-US" dirty="0"/>
              <a:t> solver:</a:t>
            </a:r>
          </a:p>
          <a:p>
            <a:pPr marL="1028700" lvl="1" indent="-342900"/>
            <a:r>
              <a:rPr lang="en-US" sz="2000" b="0" dirty="0"/>
              <a:t>neural guidance for geometry priors</a:t>
            </a:r>
          </a:p>
          <a:p>
            <a:pPr marL="1028700" lvl="1" indent="-342900"/>
            <a:r>
              <a:rPr lang="en-US" sz="2000" b="0" dirty="0"/>
              <a:t>deterministic decoding for stable placement construction</a:t>
            </a:r>
          </a:p>
          <a:p>
            <a:pPr marL="1028700" lvl="1" indent="-342900"/>
            <a:r>
              <a:rPr lang="en-US" sz="2000" b="0" dirty="0"/>
              <a:t>repair for hard and soft constraints</a:t>
            </a:r>
          </a:p>
          <a:p>
            <a:pPr marL="1028700" lvl="1" indent="-342900"/>
            <a:r>
              <a:rPr lang="en-US" sz="2000" b="0" dirty="0"/>
              <a:t>score-aware candidate selection</a:t>
            </a:r>
          </a:p>
          <a:p>
            <a:pPr marL="571500" indent="-342900"/>
            <a:r>
              <a:rPr lang="en-US" dirty="0"/>
              <a:t>The architecture evolved from GNN to Graph Transformer and HGT-compatible design</a:t>
            </a:r>
          </a:p>
          <a:p>
            <a:pPr marL="571500" indent="-342900"/>
            <a:r>
              <a:rPr lang="en-US" dirty="0"/>
              <a:t>The most important engineering lesson is to keep the solver contract stable while improving the encoder and control layer</a:t>
            </a:r>
            <a:endParaRPr b="0" dirty="0"/>
          </a:p>
        </p:txBody>
      </p:sp>
      <p:sp>
        <p:nvSpPr>
          <p:cNvPr id="122" name="Google Shape;122;p15">
            <a:extLst>
              <a:ext uri="{FF2B5EF4-FFF2-40B4-BE49-F238E27FC236}">
                <a16:creationId xmlns:a16="http://schemas.microsoft.com/office/drawing/2014/main" id="{1F881C27-8EDD-013C-61C3-9E362A938B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66659" y="274638"/>
            <a:ext cx="7644043" cy="1308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altLang="zh-TW" dirty="0"/>
              <a:t>Conclusion</a:t>
            </a:r>
            <a:endParaRPr lang="en-US" sz="2000" b="0" dirty="0"/>
          </a:p>
        </p:txBody>
      </p:sp>
      <p:sp>
        <p:nvSpPr>
          <p:cNvPr id="123" name="Google Shape;123;p15">
            <a:extLst>
              <a:ext uri="{FF2B5EF4-FFF2-40B4-BE49-F238E27FC236}">
                <a16:creationId xmlns:a16="http://schemas.microsoft.com/office/drawing/2014/main" id="{90416B9F-30FC-915F-9FD9-4E17495795A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395285" y="6565952"/>
            <a:ext cx="433359" cy="29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 altLang="zh-TW"/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514954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FD054B1F-3AD8-4BBA-C986-1072864D2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5">
            <a:extLst>
              <a:ext uri="{FF2B5EF4-FFF2-40B4-BE49-F238E27FC236}">
                <a16:creationId xmlns:a16="http://schemas.microsoft.com/office/drawing/2014/main" id="{C4BE7A70-8797-5F1E-497D-8E65ECD7B6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95300" y="1600205"/>
            <a:ext cx="8915400" cy="4490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71500" indent="-342900"/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Problem Statement</a:t>
            </a:r>
          </a:p>
          <a:p>
            <a:pPr marL="571500" indent="-342900"/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Related Work</a:t>
            </a:r>
          </a:p>
          <a:p>
            <a:pPr marL="571500" indent="-342900"/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Proposed Methodology</a:t>
            </a:r>
          </a:p>
          <a:p>
            <a:pPr marL="571500" indent="-342900"/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Implementation</a:t>
            </a:r>
            <a:endParaRPr lang="en-US" altLang="zh-TW" sz="2000" dirty="0">
              <a:solidFill>
                <a:schemeClr val="bg1">
                  <a:lumMod val="65000"/>
                </a:schemeClr>
              </a:solidFill>
            </a:endParaRPr>
          </a:p>
          <a:p>
            <a:pPr marL="571500" indent="-342900"/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Experimental Results</a:t>
            </a:r>
          </a:p>
          <a:p>
            <a:pPr marL="571500" indent="-342900"/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Conclusion</a:t>
            </a:r>
          </a:p>
          <a:p>
            <a:pPr marL="571500" indent="-342900"/>
            <a:r>
              <a:rPr lang="en-US" altLang="zh-TW" dirty="0">
                <a:solidFill>
                  <a:schemeClr val="tx1"/>
                </a:solidFill>
              </a:rPr>
              <a:t>Future Work</a:t>
            </a:r>
          </a:p>
        </p:txBody>
      </p:sp>
      <p:sp>
        <p:nvSpPr>
          <p:cNvPr id="122" name="Google Shape;122;p15">
            <a:extLst>
              <a:ext uri="{FF2B5EF4-FFF2-40B4-BE49-F238E27FC236}">
                <a16:creationId xmlns:a16="http://schemas.microsoft.com/office/drawing/2014/main" id="{C48E2150-F2B4-E63C-D710-948ECA98A3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66659" y="274638"/>
            <a:ext cx="7644043" cy="1308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400"/>
              <a:buFont typeface="Arial"/>
              <a:buNone/>
            </a:pPr>
            <a:r>
              <a:rPr lang="en-US" dirty="0"/>
              <a:t>Outline</a:t>
            </a:r>
            <a:endParaRPr dirty="0"/>
          </a:p>
        </p:txBody>
      </p:sp>
      <p:sp>
        <p:nvSpPr>
          <p:cNvPr id="123" name="Google Shape;123;p15">
            <a:extLst>
              <a:ext uri="{FF2B5EF4-FFF2-40B4-BE49-F238E27FC236}">
                <a16:creationId xmlns:a16="http://schemas.microsoft.com/office/drawing/2014/main" id="{C198344A-1973-ED3D-D365-04827E86809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395285" y="6565952"/>
            <a:ext cx="433359" cy="29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 altLang="zh-TW"/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830348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DB799015-2747-9A35-0D76-7D9FEC85C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5">
            <a:extLst>
              <a:ext uri="{FF2B5EF4-FFF2-40B4-BE49-F238E27FC236}">
                <a16:creationId xmlns:a16="http://schemas.microsoft.com/office/drawing/2014/main" id="{608B6341-F281-C41C-CA14-A788ED5AE7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95300" y="1600206"/>
            <a:ext cx="9125218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71500" indent="-342900"/>
            <a:r>
              <a:rPr lang="en-US" altLang="zh-TW" dirty="0"/>
              <a:t>HGT continuation</a:t>
            </a:r>
            <a:endParaRPr lang="en-US" dirty="0"/>
          </a:p>
          <a:p>
            <a:pPr marL="571500" indent="-342900"/>
            <a:r>
              <a:rPr lang="en-US" dirty="0"/>
              <a:t>Decoder replacement or upgrade</a:t>
            </a:r>
          </a:p>
          <a:p>
            <a:pPr marL="1028700" lvl="1" indent="-342900"/>
            <a:r>
              <a:rPr lang="en-US" sz="2000" b="0" dirty="0"/>
              <a:t>Replace the current relative-order decoder with a stronger learned or search-based decoder</a:t>
            </a:r>
          </a:p>
          <a:p>
            <a:pPr marL="1028700" lvl="1" indent="-342900"/>
            <a:r>
              <a:rPr lang="zh-TW" altLang="zh-TW" sz="2000" b="0" dirty="0"/>
              <a:t>Diffusion decoder</a:t>
            </a:r>
            <a:endParaRPr lang="en-US" altLang="zh-TW" sz="2000" b="0" dirty="0"/>
          </a:p>
          <a:p>
            <a:pPr marL="1028700" lvl="1" indent="-342900"/>
            <a:r>
              <a:rPr lang="zh-TW" altLang="zh-TW" sz="2000" b="0" dirty="0"/>
              <a:t>Analytical decoder</a:t>
            </a:r>
            <a:endParaRPr lang="en-US" sz="2000" b="0" dirty="0"/>
          </a:p>
          <a:p>
            <a:pPr marL="571500" indent="-342900"/>
            <a:r>
              <a:rPr lang="en-US" dirty="0"/>
              <a:t>Use currently underused dataset fields</a:t>
            </a:r>
          </a:p>
          <a:p>
            <a:pPr marL="1028700" lvl="1" indent="-342900"/>
            <a:r>
              <a:rPr lang="en-US" sz="2000" i="1" dirty="0" err="1"/>
              <a:t>tree_sol</a:t>
            </a:r>
            <a:r>
              <a:rPr lang="en-US" sz="2000" dirty="0"/>
              <a:t>: </a:t>
            </a:r>
            <a:r>
              <a:rPr lang="en-US" sz="2000" b="0" dirty="0"/>
              <a:t>Train a tree-aware decoder</a:t>
            </a:r>
          </a:p>
          <a:p>
            <a:pPr marL="1028700" lvl="1" indent="-342900"/>
            <a:r>
              <a:rPr lang="en-US" sz="2000" i="1" dirty="0" err="1"/>
              <a:t>metrics_sol</a:t>
            </a:r>
            <a:r>
              <a:rPr lang="en-US" sz="2000" dirty="0"/>
              <a:t>: </a:t>
            </a:r>
            <a:r>
              <a:rPr lang="en-US" sz="2000" b="0" dirty="0"/>
              <a:t>Train auxiliary prediction heads for wirelength, area, and difficulty</a:t>
            </a:r>
          </a:p>
        </p:txBody>
      </p:sp>
      <p:sp>
        <p:nvSpPr>
          <p:cNvPr id="122" name="Google Shape;122;p15">
            <a:extLst>
              <a:ext uri="{FF2B5EF4-FFF2-40B4-BE49-F238E27FC236}">
                <a16:creationId xmlns:a16="http://schemas.microsoft.com/office/drawing/2014/main" id="{B918DB09-E832-5FD8-C21F-E75DE6D60B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66659" y="274638"/>
            <a:ext cx="7644043" cy="1308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altLang="zh-TW" dirty="0"/>
              <a:t>Future Work</a:t>
            </a:r>
            <a:endParaRPr sz="2000" b="0" dirty="0"/>
          </a:p>
        </p:txBody>
      </p:sp>
      <p:sp>
        <p:nvSpPr>
          <p:cNvPr id="123" name="Google Shape;123;p15">
            <a:extLst>
              <a:ext uri="{FF2B5EF4-FFF2-40B4-BE49-F238E27FC236}">
                <a16:creationId xmlns:a16="http://schemas.microsoft.com/office/drawing/2014/main" id="{902848BA-9A8A-C5B5-8D89-08392EF99C9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395285" y="6565952"/>
            <a:ext cx="433359" cy="29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 altLang="zh-TW"/>
              <a:t>31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99455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9C80876C-B88F-1537-A429-978F1665D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5">
            <a:extLst>
              <a:ext uri="{FF2B5EF4-FFF2-40B4-BE49-F238E27FC236}">
                <a16:creationId xmlns:a16="http://schemas.microsoft.com/office/drawing/2014/main" id="{92B63829-517D-9690-0813-8D2BFFBBD8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95300" y="1600206"/>
            <a:ext cx="89154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21513" lvl="0" indent="-192913" algn="ctr">
              <a:buNone/>
            </a:pPr>
            <a:endParaRPr lang="en-US" altLang="zh-TW" sz="3400" dirty="0"/>
          </a:p>
          <a:p>
            <a:pPr marL="421513" lvl="0" indent="-192913" algn="ctr">
              <a:buNone/>
            </a:pPr>
            <a:endParaRPr lang="en-US" altLang="zh-TW" sz="3400" dirty="0"/>
          </a:p>
          <a:p>
            <a:pPr marL="421513" lvl="0" indent="-192913" algn="ctr">
              <a:buNone/>
            </a:pPr>
            <a:r>
              <a:rPr lang="en-US" altLang="zh-TW" sz="3400" dirty="0"/>
              <a:t>Thanks for listening.</a:t>
            </a:r>
            <a:endParaRPr sz="3400" dirty="0"/>
          </a:p>
        </p:txBody>
      </p:sp>
      <p:sp>
        <p:nvSpPr>
          <p:cNvPr id="123" name="Google Shape;123;p15">
            <a:extLst>
              <a:ext uri="{FF2B5EF4-FFF2-40B4-BE49-F238E27FC236}">
                <a16:creationId xmlns:a16="http://schemas.microsoft.com/office/drawing/2014/main" id="{F219EDA6-E35E-5627-4FBA-4A12854CAEF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395285" y="6565952"/>
            <a:ext cx="433359" cy="29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 altLang="zh-TW"/>
              <a:t>32</a:t>
            </a:fld>
            <a:endParaRPr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BF727CD7-6EDB-C5A8-D256-643CC2FD1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58705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3510</TotalTime>
  <Words>2112</Words>
  <Application>Microsoft Office PowerPoint</Application>
  <PresentationFormat>A4 紙張 (210x297 公釐)</PresentationFormat>
  <Paragraphs>360</Paragraphs>
  <Slides>32</Slides>
  <Notes>32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32</vt:i4>
      </vt:variant>
    </vt:vector>
  </HeadingPairs>
  <TitlesOfParts>
    <vt:vector size="39" baseType="lpstr">
      <vt:lpstr>Noto Sans Symbols</vt:lpstr>
      <vt:lpstr>Times New Roman</vt:lpstr>
      <vt:lpstr>Arial</vt:lpstr>
      <vt:lpstr>Calibri</vt:lpstr>
      <vt:lpstr>DFKai-SB</vt:lpstr>
      <vt:lpstr>Overlock</vt:lpstr>
      <vt:lpstr>Office 佈景主題</vt:lpstr>
      <vt:lpstr>The FloorSet Challenge Data-Driven-SoC-Floorplanning</vt:lpstr>
      <vt:lpstr>Outline</vt:lpstr>
      <vt:lpstr>Outline</vt:lpstr>
      <vt:lpstr>Problem Statement Inputs and Outputs</vt:lpstr>
      <vt:lpstr>Problem Statement Hard and Soft Constraints</vt:lpstr>
      <vt:lpstr>Problem Statement Evaluation Metrics</vt:lpstr>
      <vt:lpstr>Problem Statement Evaluator Update from v9 to v10</vt:lpstr>
      <vt:lpstr>Outline</vt:lpstr>
      <vt:lpstr>Related Work</vt:lpstr>
      <vt:lpstr>Outline</vt:lpstr>
      <vt:lpstr>Proposed Methodology Core Idea</vt:lpstr>
      <vt:lpstr>Proposed Methodology Architecture Evolution</vt:lpstr>
      <vt:lpstr>Proposed Methodology Latest Architecture - Inference Path</vt:lpstr>
      <vt:lpstr>Proposed Methodology Latest Architecture - Inference Path</vt:lpstr>
      <vt:lpstr>Proposed Methodology Latest Architecture - Training Path</vt:lpstr>
      <vt:lpstr>Outline</vt:lpstr>
      <vt:lpstr>Implementation Dataset Format and Target Construction</vt:lpstr>
      <vt:lpstr>Implementation From GNN to Graph Transformer to HGT</vt:lpstr>
      <vt:lpstr>Implementation Constraint-Aware Decoding</vt:lpstr>
      <vt:lpstr>Implementation Repair Strategy</vt:lpstr>
      <vt:lpstr>Outline</vt:lpstr>
      <vt:lpstr>Experimental Results Architecture Performance Comparison</vt:lpstr>
      <vt:lpstr>Experimental Results Floorplan Visualization</vt:lpstr>
      <vt:lpstr>Experimental Results Floorplan Visualization</vt:lpstr>
      <vt:lpstr>Experimental Results Floorplan Visualization</vt:lpstr>
      <vt:lpstr>Experimental Results Floorplan Visualization</vt:lpstr>
      <vt:lpstr>Experimental Results Floorplan Visualization</vt:lpstr>
      <vt:lpstr>Outline</vt:lpstr>
      <vt:lpstr>Conclusion</vt:lpstr>
      <vt:lpstr>Outline</vt:lpstr>
      <vt:lpstr>Future Work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程安 蔡</cp:lastModifiedBy>
  <cp:revision>38</cp:revision>
  <dcterms:modified xsi:type="dcterms:W3CDTF">2026-06-17T10:43:25Z</dcterms:modified>
</cp:coreProperties>
</file>